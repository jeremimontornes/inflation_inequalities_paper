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48" r:id="rId4"/>
  </p:sldMasterIdLst>
  <p:notesMasterIdLst>
    <p:notesMasterId r:id="rId43"/>
  </p:notesMasterIdLst>
  <p:handoutMasterIdLst>
    <p:handoutMasterId r:id="rId44"/>
  </p:handoutMasterIdLst>
  <p:sldIdLst>
    <p:sldId id="966" r:id="rId5"/>
    <p:sldId id="1243" r:id="rId6"/>
    <p:sldId id="1256" r:id="rId7"/>
    <p:sldId id="1254" r:id="rId8"/>
    <p:sldId id="1083" r:id="rId9"/>
    <p:sldId id="1261" r:id="rId10"/>
    <p:sldId id="1010" r:id="rId11"/>
    <p:sldId id="1028" r:id="rId12"/>
    <p:sldId id="1086" r:id="rId13"/>
    <p:sldId id="1197" r:id="rId14"/>
    <p:sldId id="1263" r:id="rId15"/>
    <p:sldId id="1260" r:id="rId16"/>
    <p:sldId id="1268" r:id="rId17"/>
    <p:sldId id="1228" r:id="rId18"/>
    <p:sldId id="1234" r:id="rId19"/>
    <p:sldId id="1233" r:id="rId20"/>
    <p:sldId id="1218" r:id="rId21"/>
    <p:sldId id="1219" r:id="rId22"/>
    <p:sldId id="1192" r:id="rId23"/>
    <p:sldId id="1253" r:id="rId24"/>
    <p:sldId id="1217" r:id="rId25"/>
    <p:sldId id="1183" r:id="rId26"/>
    <p:sldId id="1265" r:id="rId27"/>
    <p:sldId id="1266" r:id="rId28"/>
    <p:sldId id="1103" r:id="rId29"/>
    <p:sldId id="1238" r:id="rId30"/>
    <p:sldId id="1222" r:id="rId31"/>
    <p:sldId id="1018" r:id="rId32"/>
    <p:sldId id="1129" r:id="rId33"/>
    <p:sldId id="1169" r:id="rId34"/>
    <p:sldId id="1138" r:id="rId35"/>
    <p:sldId id="1267" r:id="rId36"/>
    <p:sldId id="1027" r:id="rId37"/>
    <p:sldId id="1053" r:id="rId38"/>
    <p:sldId id="1259" r:id="rId39"/>
    <p:sldId id="1113" r:id="rId40"/>
    <p:sldId id="1258" r:id="rId41"/>
    <p:sldId id="1262" r:id="rId42"/>
  </p:sldIdLst>
  <p:sldSz cx="9144000" cy="6858000" type="screen4x3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" name="HAINCOURT Sophie (UA 1374)" initials="HS(1" lastIdx="15" clrIdx="6">
    <p:extLst>
      <p:ext uri="{19B8F6BF-5375-455C-9EA6-DF929625EA0E}">
        <p15:presenceInfo xmlns:p15="http://schemas.microsoft.com/office/powerpoint/2012/main" userId="S-1-5-21-932784933-1916278750-2019186543-215873" providerId="AD"/>
      </p:ext>
    </p:extLst>
  </p:cmAuthor>
  <p:cmAuthor id="1" name="CABRILLAC Bruno (UA 2600)" initials="CB(2" lastIdx="127" clrIdx="0">
    <p:extLst>
      <p:ext uri="{19B8F6BF-5375-455C-9EA6-DF929625EA0E}">
        <p15:presenceInfo xmlns:p15="http://schemas.microsoft.com/office/powerpoint/2012/main" userId="S-1-5-21-932784933-1916278750-2019186543-80601" providerId="AD"/>
      </p:ext>
    </p:extLst>
  </p:cmAuthor>
  <p:cmAuthor id="15" name="GHIRINGHELLI Valérie (UA 1430)" initials="GV(1" lastIdx="2" clrIdx="7">
    <p:extLst>
      <p:ext uri="{19B8F6BF-5375-455C-9EA6-DF929625EA0E}">
        <p15:presenceInfo xmlns:p15="http://schemas.microsoft.com/office/powerpoint/2012/main" userId="S-1-5-21-932784933-1916278750-2019186543-138938" providerId="AD"/>
      </p:ext>
    </p:extLst>
  </p:cmAuthor>
  <p:cmAuthor id="2" name="BDF" initials="BDF" lastIdx="5" clrIdx="8">
    <p:extLst>
      <p:ext uri="{19B8F6BF-5375-455C-9EA6-DF929625EA0E}">
        <p15:presenceInfo xmlns:p15="http://schemas.microsoft.com/office/powerpoint/2012/main" userId="BDF" providerId="None"/>
      </p:ext>
    </p:extLst>
  </p:cmAuthor>
  <p:cmAuthor id="16" name="BERSON Clémence (UA 2403)" initials="BC(2" lastIdx="5" clrIdx="9">
    <p:extLst>
      <p:ext uri="{19B8F6BF-5375-455C-9EA6-DF929625EA0E}">
        <p15:presenceInfo xmlns:p15="http://schemas.microsoft.com/office/powerpoint/2012/main" userId="S-1-5-21-932784933-1916278750-2019186543-322529" providerId="AD"/>
      </p:ext>
    </p:extLst>
  </p:cmAuthor>
  <p:cmAuthor id="3" name="HUBERT Olivier (UA 1371)" initials="HO(1" lastIdx="2" clrIdx="2">
    <p:extLst>
      <p:ext uri="{19B8F6BF-5375-455C-9EA6-DF929625EA0E}">
        <p15:presenceInfo xmlns:p15="http://schemas.microsoft.com/office/powerpoint/2012/main" userId="HUBERT Olivier (UA 1371)" providerId="None"/>
      </p:ext>
    </p:extLst>
  </p:cmAuthor>
  <p:cmAuthor id="17" name="WEBER Soizic (UA 1421)" initials="WS(1" lastIdx="14" clrIdx="10">
    <p:extLst>
      <p:ext uri="{19B8F6BF-5375-455C-9EA6-DF929625EA0E}">
        <p15:presenceInfo xmlns:p15="http://schemas.microsoft.com/office/powerpoint/2012/main" userId="S-1-5-21-932784933-1916278750-2019186543-396975" providerId="AD"/>
      </p:ext>
    </p:extLst>
  </p:cmAuthor>
  <p:cmAuthor id="4" name="MARSILLI Clément (UA 1488)" initials="MC(1" lastIdx="2" clrIdx="3">
    <p:extLst>
      <p:ext uri="{19B8F6BF-5375-455C-9EA6-DF929625EA0E}">
        <p15:presenceInfo xmlns:p15="http://schemas.microsoft.com/office/powerpoint/2012/main" userId="S-1-5-21-932784933-1916278750-2019186543-211451" providerId="AD"/>
      </p:ext>
    </p:extLst>
  </p:cmAuthor>
  <p:cmAuthor id="18" name="GAUTIER Erwan (DGSEI DECAMS)" initials="EG" lastIdx="4" clrIdx="11">
    <p:extLst>
      <p:ext uri="{19B8F6BF-5375-455C-9EA6-DF929625EA0E}">
        <p15:presenceInfo xmlns:p15="http://schemas.microsoft.com/office/powerpoint/2012/main" userId="S::Erwan.GAUTIER@banque-france.fr::c5b795e7-feff-4828-a8d6-667c8dfeaf39" providerId="AD"/>
      </p:ext>
    </p:extLst>
  </p:cmAuthor>
  <p:cmAuthor id="5" name="BERTHOU Antoine (UA 2403)" initials="BA(2" lastIdx="10" clrIdx="4">
    <p:extLst>
      <p:ext uri="{19B8F6BF-5375-455C-9EA6-DF929625EA0E}">
        <p15:presenceInfo xmlns:p15="http://schemas.microsoft.com/office/powerpoint/2012/main" userId="S-1-5-21-932784933-1916278750-2019186543-263711" providerId="AD"/>
      </p:ext>
    </p:extLst>
  </p:cmAuthor>
  <p:cmAuthor id="19" name="MONTORNES Jérémi (DGSEI DECAMS)" initials="JM" lastIdx="1" clrIdx="12">
    <p:extLst>
      <p:ext uri="{19B8F6BF-5375-455C-9EA6-DF929625EA0E}">
        <p15:presenceInfo xmlns:p15="http://schemas.microsoft.com/office/powerpoint/2012/main" userId="S::Jeremi.Montornes@banque-france.fr::e15ec685-0933-44ff-a5b0-ca50b94465ec" providerId="AD"/>
      </p:ext>
    </p:extLst>
  </p:cmAuthor>
  <p:cmAuthor id="6" name="LEVY-RUEFF Guy (DGSEI DCPM)" initials="LG(D" lastIdx="4" clrIdx="5">
    <p:extLst>
      <p:ext uri="{19B8F6BF-5375-455C-9EA6-DF929625EA0E}">
        <p15:presenceInfo xmlns:p15="http://schemas.microsoft.com/office/powerpoint/2012/main" userId="LEVY-RUEFF Guy (DGSEI DCPM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257D"/>
    <a:srgbClr val="205AA7"/>
    <a:srgbClr val="0044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4D45A-936A-44B5-971C-D2759134358E}" v="15" dt="2025-11-25T09:33:23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2" autoAdjust="0"/>
    <p:restoredTop sz="95332" autoAdjust="0"/>
  </p:normalViewPr>
  <p:slideViewPr>
    <p:cSldViewPr snapToGrid="0">
      <p:cViewPr varScale="1">
        <p:scale>
          <a:sx n="78" d="100"/>
          <a:sy n="78" d="100"/>
        </p:scale>
        <p:origin x="1814" y="72"/>
      </p:cViewPr>
      <p:guideLst>
        <p:guide orient="horz" pos="73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ORNES Jérémi (DGSEI DECAMS)" userId="e15ec685-0933-44ff-a5b0-ca50b94465ec" providerId="ADAL" clId="{7724D45A-936A-44B5-971C-D2759134358E}"/>
    <pc:docChg chg="undo custSel addSld delSld modSld sldOrd">
      <pc:chgData name="MONTORNES Jérémi (DGSEI DECAMS)" userId="e15ec685-0933-44ff-a5b0-ca50b94465ec" providerId="ADAL" clId="{7724D45A-936A-44B5-971C-D2759134358E}" dt="2025-11-25T11:22:23.264" v="215" actId="27636"/>
      <pc:docMkLst>
        <pc:docMk/>
      </pc:docMkLst>
      <pc:sldChg chg="modSp mod">
        <pc:chgData name="MONTORNES Jérémi (DGSEI DECAMS)" userId="e15ec685-0933-44ff-a5b0-ca50b94465ec" providerId="ADAL" clId="{7724D45A-936A-44B5-971C-D2759134358E}" dt="2025-11-24T17:24:45.675" v="97" actId="20577"/>
        <pc:sldMkLst>
          <pc:docMk/>
          <pc:sldMk cId="3807863162" sldId="1010"/>
        </pc:sldMkLst>
        <pc:spChg chg="mod">
          <ac:chgData name="MONTORNES Jérémi (DGSEI DECAMS)" userId="e15ec685-0933-44ff-a5b0-ca50b94465ec" providerId="ADAL" clId="{7724D45A-936A-44B5-971C-D2759134358E}" dt="2025-11-24T17:24:45.675" v="97" actId="20577"/>
          <ac:spMkLst>
            <pc:docMk/>
            <pc:sldMk cId="3807863162" sldId="1010"/>
            <ac:spMk id="5" creationId="{00000000-0000-0000-0000-000000000000}"/>
          </ac:spMkLst>
        </pc:spChg>
      </pc:sldChg>
      <pc:sldChg chg="modSp mod">
        <pc:chgData name="MONTORNES Jérémi (DGSEI DECAMS)" userId="e15ec685-0933-44ff-a5b0-ca50b94465ec" providerId="ADAL" clId="{7724D45A-936A-44B5-971C-D2759134358E}" dt="2025-11-24T15:51:55.713" v="52" actId="20577"/>
        <pc:sldMkLst>
          <pc:docMk/>
          <pc:sldMk cId="2752856035" sldId="1028"/>
        </pc:sldMkLst>
        <pc:spChg chg="mod">
          <ac:chgData name="MONTORNES Jérémi (DGSEI DECAMS)" userId="e15ec685-0933-44ff-a5b0-ca50b94465ec" providerId="ADAL" clId="{7724D45A-936A-44B5-971C-D2759134358E}" dt="2025-11-24T15:51:55.713" v="52" actId="20577"/>
          <ac:spMkLst>
            <pc:docMk/>
            <pc:sldMk cId="2752856035" sldId="1028"/>
            <ac:spMk id="5" creationId="{00000000-0000-0000-0000-000000000000}"/>
          </ac:spMkLst>
        </pc:spChg>
      </pc:sldChg>
      <pc:sldChg chg="modSp mod">
        <pc:chgData name="MONTORNES Jérémi (DGSEI DECAMS)" userId="e15ec685-0933-44ff-a5b0-ca50b94465ec" providerId="ADAL" clId="{7724D45A-936A-44B5-971C-D2759134358E}" dt="2025-11-24T18:01:45.802" v="165" actId="20577"/>
        <pc:sldMkLst>
          <pc:docMk/>
          <pc:sldMk cId="2963767446" sldId="1129"/>
        </pc:sldMkLst>
        <pc:spChg chg="mod">
          <ac:chgData name="MONTORNES Jérémi (DGSEI DECAMS)" userId="e15ec685-0933-44ff-a5b0-ca50b94465ec" providerId="ADAL" clId="{7724D45A-936A-44B5-971C-D2759134358E}" dt="2025-11-24T18:01:45.802" v="165" actId="20577"/>
          <ac:spMkLst>
            <pc:docMk/>
            <pc:sldMk cId="2963767446" sldId="1129"/>
            <ac:spMk id="5" creationId="{00000000-0000-0000-0000-000000000000}"/>
          </ac:spMkLst>
        </pc:spChg>
      </pc:sldChg>
      <pc:sldChg chg="ord">
        <pc:chgData name="MONTORNES Jérémi (DGSEI DECAMS)" userId="e15ec685-0933-44ff-a5b0-ca50b94465ec" providerId="ADAL" clId="{7724D45A-936A-44B5-971C-D2759134358E}" dt="2025-11-24T13:35:54.062" v="11"/>
        <pc:sldMkLst>
          <pc:docMk/>
          <pc:sldMk cId="2693821933" sldId="1138"/>
        </pc:sldMkLst>
      </pc:sldChg>
      <pc:sldChg chg="modSp mod">
        <pc:chgData name="MONTORNES Jérémi (DGSEI DECAMS)" userId="e15ec685-0933-44ff-a5b0-ca50b94465ec" providerId="ADAL" clId="{7724D45A-936A-44B5-971C-D2759134358E}" dt="2025-11-25T11:22:23.264" v="215" actId="27636"/>
        <pc:sldMkLst>
          <pc:docMk/>
          <pc:sldMk cId="44562414" sldId="1169"/>
        </pc:sldMkLst>
        <pc:spChg chg="mod">
          <ac:chgData name="MONTORNES Jérémi (DGSEI DECAMS)" userId="e15ec685-0933-44ff-a5b0-ca50b94465ec" providerId="ADAL" clId="{7724D45A-936A-44B5-971C-D2759134358E}" dt="2025-11-25T11:22:23.264" v="215" actId="27636"/>
          <ac:spMkLst>
            <pc:docMk/>
            <pc:sldMk cId="44562414" sldId="1169"/>
            <ac:spMk id="5" creationId="{00000000-0000-0000-0000-000000000000}"/>
          </ac:spMkLst>
        </pc:spChg>
      </pc:sldChg>
      <pc:sldChg chg="ord">
        <pc:chgData name="MONTORNES Jérémi (DGSEI DECAMS)" userId="e15ec685-0933-44ff-a5b0-ca50b94465ec" providerId="ADAL" clId="{7724D45A-936A-44B5-971C-D2759134358E}" dt="2025-11-24T13:36:16.010" v="13"/>
        <pc:sldMkLst>
          <pc:docMk/>
          <pc:sldMk cId="3195276692" sldId="1183"/>
        </pc:sldMkLst>
      </pc:sldChg>
      <pc:sldChg chg="del">
        <pc:chgData name="MONTORNES Jérémi (DGSEI DECAMS)" userId="e15ec685-0933-44ff-a5b0-ca50b94465ec" providerId="ADAL" clId="{7724D45A-936A-44B5-971C-D2759134358E}" dt="2025-11-24T17:46:37.435" v="101" actId="2696"/>
        <pc:sldMkLst>
          <pc:docMk/>
          <pc:sldMk cId="1104713612" sldId="1192"/>
        </pc:sldMkLst>
      </pc:sldChg>
      <pc:sldChg chg="add">
        <pc:chgData name="MONTORNES Jérémi (DGSEI DECAMS)" userId="e15ec685-0933-44ff-a5b0-ca50b94465ec" providerId="ADAL" clId="{7724D45A-936A-44B5-971C-D2759134358E}" dt="2025-11-24T17:46:40.356" v="102"/>
        <pc:sldMkLst>
          <pc:docMk/>
          <pc:sldMk cId="1563572187" sldId="1192"/>
        </pc:sldMkLst>
      </pc:sldChg>
      <pc:sldChg chg="delSp modSp mod">
        <pc:chgData name="MONTORNES Jérémi (DGSEI DECAMS)" userId="e15ec685-0933-44ff-a5b0-ca50b94465ec" providerId="ADAL" clId="{7724D45A-936A-44B5-971C-D2759134358E}" dt="2025-11-24T17:44:38.812" v="100"/>
        <pc:sldMkLst>
          <pc:docMk/>
          <pc:sldMk cId="4012222485" sldId="1217"/>
        </pc:sldMkLst>
        <pc:spChg chg="del mod">
          <ac:chgData name="MONTORNES Jérémi (DGSEI DECAMS)" userId="e15ec685-0933-44ff-a5b0-ca50b94465ec" providerId="ADAL" clId="{7724D45A-936A-44B5-971C-D2759134358E}" dt="2025-11-24T17:44:38.812" v="100"/>
          <ac:spMkLst>
            <pc:docMk/>
            <pc:sldMk cId="4012222485" sldId="1217"/>
            <ac:spMk id="15" creationId="{00000000-0000-0000-0000-000000000000}"/>
          </ac:spMkLst>
        </pc:spChg>
      </pc:sldChg>
      <pc:sldChg chg="modSp mod">
        <pc:chgData name="MONTORNES Jérémi (DGSEI DECAMS)" userId="e15ec685-0933-44ff-a5b0-ca50b94465ec" providerId="ADAL" clId="{7724D45A-936A-44B5-971C-D2759134358E}" dt="2025-11-25T11:18:34.271" v="213" actId="20577"/>
        <pc:sldMkLst>
          <pc:docMk/>
          <pc:sldMk cId="771170705" sldId="1222"/>
        </pc:sldMkLst>
        <pc:spChg chg="mod">
          <ac:chgData name="MONTORNES Jérémi (DGSEI DECAMS)" userId="e15ec685-0933-44ff-a5b0-ca50b94465ec" providerId="ADAL" clId="{7724D45A-936A-44B5-971C-D2759134358E}" dt="2025-11-25T11:18:34.271" v="213" actId="20577"/>
          <ac:spMkLst>
            <pc:docMk/>
            <pc:sldMk cId="771170705" sldId="1222"/>
            <ac:spMk id="5" creationId="{00000000-0000-0000-0000-000000000000}"/>
          </ac:spMkLst>
        </pc:spChg>
      </pc:sldChg>
      <pc:sldChg chg="modSp mod">
        <pc:chgData name="MONTORNES Jérémi (DGSEI DECAMS)" userId="e15ec685-0933-44ff-a5b0-ca50b94465ec" providerId="ADAL" clId="{7724D45A-936A-44B5-971C-D2759134358E}" dt="2025-11-24T17:52:30.346" v="160" actId="1076"/>
        <pc:sldMkLst>
          <pc:docMk/>
          <pc:sldMk cId="3171305835" sldId="1238"/>
        </pc:sldMkLst>
        <pc:spChg chg="mod">
          <ac:chgData name="MONTORNES Jérémi (DGSEI DECAMS)" userId="e15ec685-0933-44ff-a5b0-ca50b94465ec" providerId="ADAL" clId="{7724D45A-936A-44B5-971C-D2759134358E}" dt="2025-11-24T17:52:30.346" v="160" actId="1076"/>
          <ac:spMkLst>
            <pc:docMk/>
            <pc:sldMk cId="3171305835" sldId="1238"/>
            <ac:spMk id="6" creationId="{00000000-0000-0000-0000-000000000000}"/>
          </ac:spMkLst>
        </pc:spChg>
      </pc:sldChg>
      <pc:sldChg chg="ord">
        <pc:chgData name="MONTORNES Jérémi (DGSEI DECAMS)" userId="e15ec685-0933-44ff-a5b0-ca50b94465ec" providerId="ADAL" clId="{7724D45A-936A-44B5-971C-D2759134358E}" dt="2025-11-24T17:47:01.686" v="106"/>
        <pc:sldMkLst>
          <pc:docMk/>
          <pc:sldMk cId="140384291" sldId="1253"/>
        </pc:sldMkLst>
      </pc:sldChg>
      <pc:sldChg chg="modSp mod">
        <pc:chgData name="MONTORNES Jérémi (DGSEI DECAMS)" userId="e15ec685-0933-44ff-a5b0-ca50b94465ec" providerId="ADAL" clId="{7724D45A-936A-44B5-971C-D2759134358E}" dt="2025-11-24T16:45:55.273" v="85" actId="6549"/>
        <pc:sldMkLst>
          <pc:docMk/>
          <pc:sldMk cId="254761483" sldId="1254"/>
        </pc:sldMkLst>
        <pc:spChg chg="mod">
          <ac:chgData name="MONTORNES Jérémi (DGSEI DECAMS)" userId="e15ec685-0933-44ff-a5b0-ca50b94465ec" providerId="ADAL" clId="{7724D45A-936A-44B5-971C-D2759134358E}" dt="2025-11-24T16:45:55.273" v="85" actId="6549"/>
          <ac:spMkLst>
            <pc:docMk/>
            <pc:sldMk cId="254761483" sldId="1254"/>
            <ac:spMk id="7" creationId="{00000000-0000-0000-0000-000000000000}"/>
          </ac:spMkLst>
        </pc:spChg>
      </pc:sldChg>
      <pc:sldChg chg="modSp mod">
        <pc:chgData name="MONTORNES Jérémi (DGSEI DECAMS)" userId="e15ec685-0933-44ff-a5b0-ca50b94465ec" providerId="ADAL" clId="{7724D45A-936A-44B5-971C-D2759134358E}" dt="2025-11-24T16:45:44.644" v="84" actId="20577"/>
        <pc:sldMkLst>
          <pc:docMk/>
          <pc:sldMk cId="3523245043" sldId="1256"/>
        </pc:sldMkLst>
        <pc:spChg chg="mod">
          <ac:chgData name="MONTORNES Jérémi (DGSEI DECAMS)" userId="e15ec685-0933-44ff-a5b0-ca50b94465ec" providerId="ADAL" clId="{7724D45A-936A-44B5-971C-D2759134358E}" dt="2025-11-24T16:45:44.644" v="84" actId="20577"/>
          <ac:spMkLst>
            <pc:docMk/>
            <pc:sldMk cId="3523245043" sldId="1256"/>
            <ac:spMk id="8" creationId="{00000000-0000-0000-0000-000000000000}"/>
          </ac:spMkLst>
        </pc:spChg>
      </pc:sldChg>
      <pc:sldChg chg="add">
        <pc:chgData name="MONTORNES Jérémi (DGSEI DECAMS)" userId="e15ec685-0933-44ff-a5b0-ca50b94465ec" providerId="ADAL" clId="{7724D45A-936A-44B5-971C-D2759134358E}" dt="2025-11-24T13:50:52.535" v="17"/>
        <pc:sldMkLst>
          <pc:docMk/>
          <pc:sldMk cId="386214054" sldId="1258"/>
        </pc:sldMkLst>
      </pc:sldChg>
      <pc:sldChg chg="del">
        <pc:chgData name="MONTORNES Jérémi (DGSEI DECAMS)" userId="e15ec685-0933-44ff-a5b0-ca50b94465ec" providerId="ADAL" clId="{7724D45A-936A-44B5-971C-D2759134358E}" dt="2025-11-24T13:50:48.873" v="16" actId="2696"/>
        <pc:sldMkLst>
          <pc:docMk/>
          <pc:sldMk cId="3904157957" sldId="1258"/>
        </pc:sldMkLst>
      </pc:sldChg>
      <pc:sldChg chg="addSp delSp modSp mod">
        <pc:chgData name="MONTORNES Jérémi (DGSEI DECAMS)" userId="e15ec685-0933-44ff-a5b0-ca50b94465ec" providerId="ADAL" clId="{7724D45A-936A-44B5-971C-D2759134358E}" dt="2025-11-24T17:06:01.502" v="92" actId="1076"/>
        <pc:sldMkLst>
          <pc:docMk/>
          <pc:sldMk cId="1667631790" sldId="1259"/>
        </pc:sldMkLst>
        <pc:spChg chg="del mod">
          <ac:chgData name="MONTORNES Jérémi (DGSEI DECAMS)" userId="e15ec685-0933-44ff-a5b0-ca50b94465ec" providerId="ADAL" clId="{7724D45A-936A-44B5-971C-D2759134358E}" dt="2025-11-24T17:05:27.901" v="88" actId="478"/>
          <ac:spMkLst>
            <pc:docMk/>
            <pc:sldMk cId="1667631790" sldId="1259"/>
            <ac:spMk id="5" creationId="{00000000-0000-0000-0000-000000000000}"/>
          </ac:spMkLst>
        </pc:spChg>
        <pc:spChg chg="add mod">
          <ac:chgData name="MONTORNES Jérémi (DGSEI DECAMS)" userId="e15ec685-0933-44ff-a5b0-ca50b94465ec" providerId="ADAL" clId="{7724D45A-936A-44B5-971C-D2759134358E}" dt="2025-11-24T17:06:01.502" v="92" actId="1076"/>
          <ac:spMkLst>
            <pc:docMk/>
            <pc:sldMk cId="1667631790" sldId="1259"/>
            <ac:spMk id="7" creationId="{C88DAEE2-11F2-AA07-EC6A-866A46407479}"/>
          </ac:spMkLst>
        </pc:spChg>
        <pc:picChg chg="del">
          <ac:chgData name="MONTORNES Jérémi (DGSEI DECAMS)" userId="e15ec685-0933-44ff-a5b0-ca50b94465ec" providerId="ADAL" clId="{7724D45A-936A-44B5-971C-D2759134358E}" dt="2025-11-24T17:05:23.116" v="86" actId="478"/>
          <ac:picMkLst>
            <pc:docMk/>
            <pc:sldMk cId="1667631790" sldId="1259"/>
            <ac:picMk id="8" creationId="{00000000-0000-0000-0000-000000000000}"/>
          </ac:picMkLst>
        </pc:picChg>
        <pc:picChg chg="add mod">
          <ac:chgData name="MONTORNES Jérémi (DGSEI DECAMS)" userId="e15ec685-0933-44ff-a5b0-ca50b94465ec" providerId="ADAL" clId="{7724D45A-936A-44B5-971C-D2759134358E}" dt="2025-11-24T17:05:42.690" v="90" actId="1076"/>
          <ac:picMkLst>
            <pc:docMk/>
            <pc:sldMk cId="1667631790" sldId="1259"/>
            <ac:picMk id="1026" creationId="{7944E82C-0A30-F92C-50CD-0E639D48F36B}"/>
          </ac:picMkLst>
        </pc:picChg>
      </pc:sldChg>
      <pc:sldChg chg="modSp mod">
        <pc:chgData name="MONTORNES Jérémi (DGSEI DECAMS)" userId="e15ec685-0933-44ff-a5b0-ca50b94465ec" providerId="ADAL" clId="{7724D45A-936A-44B5-971C-D2759134358E}" dt="2025-11-25T09:33:30.401" v="170" actId="27636"/>
        <pc:sldMkLst>
          <pc:docMk/>
          <pc:sldMk cId="1066389858" sldId="1260"/>
        </pc:sldMkLst>
        <pc:spChg chg="mod">
          <ac:chgData name="MONTORNES Jérémi (DGSEI DECAMS)" userId="e15ec685-0933-44ff-a5b0-ca50b94465ec" providerId="ADAL" clId="{7724D45A-936A-44B5-971C-D2759134358E}" dt="2025-11-25T09:33:30.401" v="170" actId="27636"/>
          <ac:spMkLst>
            <pc:docMk/>
            <pc:sldMk cId="1066389858" sldId="1260"/>
            <ac:spMk id="5" creationId="{911D70AA-6A11-70EB-DA25-4F54CC83AEB2}"/>
          </ac:spMkLst>
        </pc:spChg>
      </pc:sldChg>
      <pc:sldChg chg="addSp delSp modSp mod ord">
        <pc:chgData name="MONTORNES Jérémi (DGSEI DECAMS)" userId="e15ec685-0933-44ff-a5b0-ca50b94465ec" providerId="ADAL" clId="{7724D45A-936A-44B5-971C-D2759134358E}" dt="2025-11-24T17:48:32.615" v="159" actId="20577"/>
        <pc:sldMkLst>
          <pc:docMk/>
          <pc:sldMk cId="1157893462" sldId="1265"/>
        </pc:sldMkLst>
        <pc:spChg chg="mod">
          <ac:chgData name="MONTORNES Jérémi (DGSEI DECAMS)" userId="e15ec685-0933-44ff-a5b0-ca50b94465ec" providerId="ADAL" clId="{7724D45A-936A-44B5-971C-D2759134358E}" dt="2025-11-24T17:48:06.741" v="130" actId="21"/>
          <ac:spMkLst>
            <pc:docMk/>
            <pc:sldMk cId="1157893462" sldId="1265"/>
            <ac:spMk id="2" creationId="{66A7EBC1-87AA-8033-5F1A-8FEC4C90557C}"/>
          </ac:spMkLst>
        </pc:spChg>
        <pc:spChg chg="add del mod">
          <ac:chgData name="MONTORNES Jérémi (DGSEI DECAMS)" userId="e15ec685-0933-44ff-a5b0-ca50b94465ec" providerId="ADAL" clId="{7724D45A-936A-44B5-971C-D2759134358E}" dt="2025-11-24T17:48:32.615" v="159" actId="20577"/>
          <ac:spMkLst>
            <pc:docMk/>
            <pc:sldMk cId="1157893462" sldId="1265"/>
            <ac:spMk id="5" creationId="{E945ED8F-09B9-4F26-2DE2-E55D6A55203D}"/>
          </ac:spMkLst>
        </pc:spChg>
      </pc:sldChg>
      <pc:sldChg chg="add del">
        <pc:chgData name="MONTORNES Jérémi (DGSEI DECAMS)" userId="e15ec685-0933-44ff-a5b0-ca50b94465ec" providerId="ADAL" clId="{7724D45A-936A-44B5-971C-D2759134358E}" dt="2025-11-24T17:47:55.835" v="109"/>
        <pc:sldMkLst>
          <pc:docMk/>
          <pc:sldMk cId="2563566273" sldId="1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306FB5-A2B2-49C6-9AD1-55B6917CD944}" type="doc">
      <dgm:prSet loTypeId="urn:microsoft.com/office/officeart/2005/8/layout/cycle2" loCatId="cycle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9DF4BBD3-25B6-419A-AB91-DE3ACD9C4242}">
      <dgm:prSet phldrT="[Texte]" phldr="1" custT="1"/>
      <dgm:spPr>
        <a:solidFill>
          <a:schemeClr val="accent2"/>
        </a:solidFill>
      </dgm:spPr>
      <dgm:t>
        <a:bodyPr/>
        <a:lstStyle/>
        <a:p>
          <a:endParaRPr lang="fr-FR" sz="2000" dirty="0"/>
        </a:p>
      </dgm:t>
    </dgm:pt>
    <dgm:pt modelId="{98CC9FE9-8325-4543-9BDF-A0D40F4BE211}" type="parTrans" cxnId="{7D1C661D-5452-4A24-A461-D1FDD661C07C}">
      <dgm:prSet/>
      <dgm:spPr/>
      <dgm:t>
        <a:bodyPr/>
        <a:lstStyle/>
        <a:p>
          <a:endParaRPr lang="fr-FR"/>
        </a:p>
      </dgm:t>
    </dgm:pt>
    <dgm:pt modelId="{51E61400-E8A1-4078-B0D1-05769AFE3FC2}" type="sibTrans" cxnId="{7D1C661D-5452-4A24-A461-D1FDD661C07C}">
      <dgm:prSet/>
      <dgm:spPr/>
      <dgm:t>
        <a:bodyPr/>
        <a:lstStyle/>
        <a:p>
          <a:endParaRPr lang="fr-FR"/>
        </a:p>
      </dgm:t>
    </dgm:pt>
    <dgm:pt modelId="{A16B7A32-C1AD-495A-A377-0B9A0A7FEC9F}">
      <dgm:prSet phldrT="[Texte]" phldr="1" custT="1"/>
      <dgm:spPr>
        <a:solidFill>
          <a:schemeClr val="accent3"/>
        </a:solidFill>
      </dgm:spPr>
      <dgm:t>
        <a:bodyPr/>
        <a:lstStyle/>
        <a:p>
          <a:endParaRPr lang="fr-FR" sz="2000" dirty="0"/>
        </a:p>
      </dgm:t>
    </dgm:pt>
    <dgm:pt modelId="{054EB8F3-687D-47C1-A8CA-AA8906B81A64}" type="parTrans" cxnId="{D39E6565-AB8E-4150-9AD1-F0C376D118EA}">
      <dgm:prSet/>
      <dgm:spPr/>
      <dgm:t>
        <a:bodyPr/>
        <a:lstStyle/>
        <a:p>
          <a:endParaRPr lang="fr-FR"/>
        </a:p>
      </dgm:t>
    </dgm:pt>
    <dgm:pt modelId="{D093C8A5-C38E-46B0-A43A-6E4799DBF5B8}" type="sibTrans" cxnId="{D39E6565-AB8E-4150-9AD1-F0C376D118EA}">
      <dgm:prSet/>
      <dgm:spPr/>
      <dgm:t>
        <a:bodyPr/>
        <a:lstStyle/>
        <a:p>
          <a:endParaRPr lang="fr-FR"/>
        </a:p>
      </dgm:t>
    </dgm:pt>
    <dgm:pt modelId="{2580DAD5-E4B5-4293-AB07-A4C506041096}">
      <dgm:prSet phldrT="[Texte]" phldr="1" custT="1"/>
      <dgm:spPr>
        <a:solidFill>
          <a:schemeClr val="accent5"/>
        </a:solidFill>
      </dgm:spPr>
      <dgm:t>
        <a:bodyPr/>
        <a:lstStyle/>
        <a:p>
          <a:endParaRPr lang="fr-FR" sz="2000" dirty="0"/>
        </a:p>
      </dgm:t>
    </dgm:pt>
    <dgm:pt modelId="{3872E00E-B2E4-4A20-9A82-F208316DB251}" type="parTrans" cxnId="{75528107-9022-476D-AE40-85E56DB393F3}">
      <dgm:prSet/>
      <dgm:spPr/>
      <dgm:t>
        <a:bodyPr/>
        <a:lstStyle/>
        <a:p>
          <a:endParaRPr lang="fr-FR"/>
        </a:p>
      </dgm:t>
    </dgm:pt>
    <dgm:pt modelId="{8828E4FD-4B51-4892-8A21-08016202413A}" type="sibTrans" cxnId="{75528107-9022-476D-AE40-85E56DB393F3}">
      <dgm:prSet/>
      <dgm:spPr/>
      <dgm:t>
        <a:bodyPr/>
        <a:lstStyle/>
        <a:p>
          <a:endParaRPr lang="fr-FR"/>
        </a:p>
      </dgm:t>
    </dgm:pt>
    <dgm:pt modelId="{8DF2A84E-9439-4676-B13B-880F92495483}">
      <dgm:prSet phldrT="[Texte]" phldr="1" custT="1"/>
      <dgm:spPr/>
      <dgm:t>
        <a:bodyPr/>
        <a:lstStyle/>
        <a:p>
          <a:endParaRPr lang="fr-FR" sz="2000" dirty="0"/>
        </a:p>
      </dgm:t>
    </dgm:pt>
    <dgm:pt modelId="{7051D416-35AC-401B-833F-A4F8C8DD6EA9}" type="parTrans" cxnId="{49A60ED3-5978-4CAC-A39A-F10C23E6AFF3}">
      <dgm:prSet/>
      <dgm:spPr/>
      <dgm:t>
        <a:bodyPr/>
        <a:lstStyle/>
        <a:p>
          <a:endParaRPr lang="fr-FR"/>
        </a:p>
      </dgm:t>
    </dgm:pt>
    <dgm:pt modelId="{C8218148-B48A-4CD5-B315-EB4E2CA794B6}" type="sibTrans" cxnId="{49A60ED3-5978-4CAC-A39A-F10C23E6AFF3}">
      <dgm:prSet/>
      <dgm:spPr/>
      <dgm:t>
        <a:bodyPr/>
        <a:lstStyle/>
        <a:p>
          <a:endParaRPr lang="fr-FR"/>
        </a:p>
      </dgm:t>
    </dgm:pt>
    <dgm:pt modelId="{435C8848-87CA-47E9-A5F7-99C1EC16E483}">
      <dgm:prSet phldrT="[Texte]" phldr="1" custT="1"/>
      <dgm:spPr>
        <a:solidFill>
          <a:srgbClr val="00B0F0"/>
        </a:solidFill>
      </dgm:spPr>
      <dgm:t>
        <a:bodyPr/>
        <a:lstStyle/>
        <a:p>
          <a:endParaRPr lang="fr-FR" sz="2000" dirty="0"/>
        </a:p>
      </dgm:t>
    </dgm:pt>
    <dgm:pt modelId="{A4708D6C-7804-40ED-AC27-D9D8D2A4430F}" type="parTrans" cxnId="{D75495CB-BD7C-4D1C-A798-9A39418CE5D5}">
      <dgm:prSet/>
      <dgm:spPr/>
      <dgm:t>
        <a:bodyPr/>
        <a:lstStyle/>
        <a:p>
          <a:endParaRPr lang="fr-FR"/>
        </a:p>
      </dgm:t>
    </dgm:pt>
    <dgm:pt modelId="{897A74CA-12E4-4886-9909-D0C39E0E9701}" type="sibTrans" cxnId="{D75495CB-BD7C-4D1C-A798-9A39418CE5D5}">
      <dgm:prSet/>
      <dgm:spPr>
        <a:solidFill>
          <a:srgbClr val="00B0F0"/>
        </a:solidFill>
      </dgm:spPr>
      <dgm:t>
        <a:bodyPr/>
        <a:lstStyle/>
        <a:p>
          <a:endParaRPr lang="fr-FR"/>
        </a:p>
      </dgm:t>
    </dgm:pt>
    <dgm:pt modelId="{2549E5CF-6BE3-4B25-97C4-0F3526604FDD}" type="pres">
      <dgm:prSet presAssocID="{87306FB5-A2B2-49C6-9AD1-55B6917CD944}" presName="cycle" presStyleCnt="0">
        <dgm:presLayoutVars>
          <dgm:dir/>
          <dgm:resizeHandles val="exact"/>
        </dgm:presLayoutVars>
      </dgm:prSet>
      <dgm:spPr/>
    </dgm:pt>
    <dgm:pt modelId="{12C7F52A-8E56-4217-BBC6-06CF6074755F}" type="pres">
      <dgm:prSet presAssocID="{9DF4BBD3-25B6-419A-AB91-DE3ACD9C4242}" presName="node" presStyleLbl="node1" presStyleIdx="0" presStyleCnt="5">
        <dgm:presLayoutVars>
          <dgm:bulletEnabled val="1"/>
        </dgm:presLayoutVars>
      </dgm:prSet>
      <dgm:spPr/>
    </dgm:pt>
    <dgm:pt modelId="{FB2D05D1-EBAC-45C1-9BC3-97903D6597E1}" type="pres">
      <dgm:prSet presAssocID="{51E61400-E8A1-4078-B0D1-05769AFE3FC2}" presName="sibTrans" presStyleLbl="sibTrans2D1" presStyleIdx="0" presStyleCnt="5"/>
      <dgm:spPr/>
    </dgm:pt>
    <dgm:pt modelId="{845E2A29-6F89-486D-8E56-8819FCE66F58}" type="pres">
      <dgm:prSet presAssocID="{51E61400-E8A1-4078-B0D1-05769AFE3FC2}" presName="connectorText" presStyleLbl="sibTrans2D1" presStyleIdx="0" presStyleCnt="5"/>
      <dgm:spPr/>
    </dgm:pt>
    <dgm:pt modelId="{DDDB76BB-D706-4697-96A1-8345580A3E0E}" type="pres">
      <dgm:prSet presAssocID="{A16B7A32-C1AD-495A-A377-0B9A0A7FEC9F}" presName="node" presStyleLbl="node1" presStyleIdx="1" presStyleCnt="5">
        <dgm:presLayoutVars>
          <dgm:bulletEnabled val="1"/>
        </dgm:presLayoutVars>
      </dgm:prSet>
      <dgm:spPr/>
    </dgm:pt>
    <dgm:pt modelId="{1023D39A-31F1-4A83-8AD8-96C1812B5FDF}" type="pres">
      <dgm:prSet presAssocID="{D093C8A5-C38E-46B0-A43A-6E4799DBF5B8}" presName="sibTrans" presStyleLbl="sibTrans2D1" presStyleIdx="1" presStyleCnt="5"/>
      <dgm:spPr/>
    </dgm:pt>
    <dgm:pt modelId="{6A16FD32-ED4C-4555-95E6-E17D53BD0E60}" type="pres">
      <dgm:prSet presAssocID="{D093C8A5-C38E-46B0-A43A-6E4799DBF5B8}" presName="connectorText" presStyleLbl="sibTrans2D1" presStyleIdx="1" presStyleCnt="5"/>
      <dgm:spPr/>
    </dgm:pt>
    <dgm:pt modelId="{6F524604-84AD-4D96-A7EE-EFC46B76EE8D}" type="pres">
      <dgm:prSet presAssocID="{2580DAD5-E4B5-4293-AB07-A4C506041096}" presName="node" presStyleLbl="node1" presStyleIdx="2" presStyleCnt="5">
        <dgm:presLayoutVars>
          <dgm:bulletEnabled val="1"/>
        </dgm:presLayoutVars>
      </dgm:prSet>
      <dgm:spPr/>
    </dgm:pt>
    <dgm:pt modelId="{EBD0885B-17D0-430C-A851-26B86F60960F}" type="pres">
      <dgm:prSet presAssocID="{8828E4FD-4B51-4892-8A21-08016202413A}" presName="sibTrans" presStyleLbl="sibTrans2D1" presStyleIdx="2" presStyleCnt="5"/>
      <dgm:spPr/>
    </dgm:pt>
    <dgm:pt modelId="{92DCAC41-0ABC-4ED1-88F9-CEBAA95A0C0F}" type="pres">
      <dgm:prSet presAssocID="{8828E4FD-4B51-4892-8A21-08016202413A}" presName="connectorText" presStyleLbl="sibTrans2D1" presStyleIdx="2" presStyleCnt="5"/>
      <dgm:spPr/>
    </dgm:pt>
    <dgm:pt modelId="{7460B5D4-3A36-4CF5-86DB-C1955EA6D52B}" type="pres">
      <dgm:prSet presAssocID="{8DF2A84E-9439-4676-B13B-880F92495483}" presName="node" presStyleLbl="node1" presStyleIdx="3" presStyleCnt="5">
        <dgm:presLayoutVars>
          <dgm:bulletEnabled val="1"/>
        </dgm:presLayoutVars>
      </dgm:prSet>
      <dgm:spPr/>
    </dgm:pt>
    <dgm:pt modelId="{16D4F65C-FD7E-454B-A435-01046A163639}" type="pres">
      <dgm:prSet presAssocID="{C8218148-B48A-4CD5-B315-EB4E2CA794B6}" presName="sibTrans" presStyleLbl="sibTrans2D1" presStyleIdx="3" presStyleCnt="5"/>
      <dgm:spPr/>
    </dgm:pt>
    <dgm:pt modelId="{E2292487-6927-48A3-9F9D-64DDE27F4EDD}" type="pres">
      <dgm:prSet presAssocID="{C8218148-B48A-4CD5-B315-EB4E2CA794B6}" presName="connectorText" presStyleLbl="sibTrans2D1" presStyleIdx="3" presStyleCnt="5"/>
      <dgm:spPr/>
    </dgm:pt>
    <dgm:pt modelId="{382240D4-C898-4910-84A6-839B8A331502}" type="pres">
      <dgm:prSet presAssocID="{435C8848-87CA-47E9-A5F7-99C1EC16E483}" presName="node" presStyleLbl="node1" presStyleIdx="4" presStyleCnt="5">
        <dgm:presLayoutVars>
          <dgm:bulletEnabled val="1"/>
        </dgm:presLayoutVars>
      </dgm:prSet>
      <dgm:spPr/>
    </dgm:pt>
    <dgm:pt modelId="{468A1386-0908-4400-80C2-60E7E204102D}" type="pres">
      <dgm:prSet presAssocID="{897A74CA-12E4-4886-9909-D0C39E0E9701}" presName="sibTrans" presStyleLbl="sibTrans2D1" presStyleIdx="4" presStyleCnt="5"/>
      <dgm:spPr/>
    </dgm:pt>
    <dgm:pt modelId="{3A775353-482E-4CE9-B20D-AA3100346260}" type="pres">
      <dgm:prSet presAssocID="{897A74CA-12E4-4886-9909-D0C39E0E9701}" presName="connectorText" presStyleLbl="sibTrans2D1" presStyleIdx="4" presStyleCnt="5"/>
      <dgm:spPr/>
    </dgm:pt>
  </dgm:ptLst>
  <dgm:cxnLst>
    <dgm:cxn modelId="{75528107-9022-476D-AE40-85E56DB393F3}" srcId="{87306FB5-A2B2-49C6-9AD1-55B6917CD944}" destId="{2580DAD5-E4B5-4293-AB07-A4C506041096}" srcOrd="2" destOrd="0" parTransId="{3872E00E-B2E4-4A20-9A82-F208316DB251}" sibTransId="{8828E4FD-4B51-4892-8A21-08016202413A}"/>
    <dgm:cxn modelId="{7D1C661D-5452-4A24-A461-D1FDD661C07C}" srcId="{87306FB5-A2B2-49C6-9AD1-55B6917CD944}" destId="{9DF4BBD3-25B6-419A-AB91-DE3ACD9C4242}" srcOrd="0" destOrd="0" parTransId="{98CC9FE9-8325-4543-9BDF-A0D40F4BE211}" sibTransId="{51E61400-E8A1-4078-B0D1-05769AFE3FC2}"/>
    <dgm:cxn modelId="{F09F3D24-1948-4AC1-A18C-EFF985ECD62E}" type="presOf" srcId="{9DF4BBD3-25B6-419A-AB91-DE3ACD9C4242}" destId="{12C7F52A-8E56-4217-BBC6-06CF6074755F}" srcOrd="0" destOrd="0" presId="urn:microsoft.com/office/officeart/2005/8/layout/cycle2"/>
    <dgm:cxn modelId="{F248C62D-08D6-4448-AAF4-6B4C1A9C5AC9}" type="presOf" srcId="{D093C8A5-C38E-46B0-A43A-6E4799DBF5B8}" destId="{6A16FD32-ED4C-4555-95E6-E17D53BD0E60}" srcOrd="1" destOrd="0" presId="urn:microsoft.com/office/officeart/2005/8/layout/cycle2"/>
    <dgm:cxn modelId="{254BB73C-EB7B-4BC1-BB35-CDF9F81E1876}" type="presOf" srcId="{D093C8A5-C38E-46B0-A43A-6E4799DBF5B8}" destId="{1023D39A-31F1-4A83-8AD8-96C1812B5FDF}" srcOrd="0" destOrd="0" presId="urn:microsoft.com/office/officeart/2005/8/layout/cycle2"/>
    <dgm:cxn modelId="{1518605F-1242-42B5-9396-E69156EC186B}" type="presOf" srcId="{C8218148-B48A-4CD5-B315-EB4E2CA794B6}" destId="{E2292487-6927-48A3-9F9D-64DDE27F4EDD}" srcOrd="1" destOrd="0" presId="urn:microsoft.com/office/officeart/2005/8/layout/cycle2"/>
    <dgm:cxn modelId="{A97F1F63-6270-4C4C-B3C6-81CAD8B0236C}" type="presOf" srcId="{897A74CA-12E4-4886-9909-D0C39E0E9701}" destId="{468A1386-0908-4400-80C2-60E7E204102D}" srcOrd="0" destOrd="0" presId="urn:microsoft.com/office/officeart/2005/8/layout/cycle2"/>
    <dgm:cxn modelId="{D39E6565-AB8E-4150-9AD1-F0C376D118EA}" srcId="{87306FB5-A2B2-49C6-9AD1-55B6917CD944}" destId="{A16B7A32-C1AD-495A-A377-0B9A0A7FEC9F}" srcOrd="1" destOrd="0" parTransId="{054EB8F3-687D-47C1-A8CA-AA8906B81A64}" sibTransId="{D093C8A5-C38E-46B0-A43A-6E4799DBF5B8}"/>
    <dgm:cxn modelId="{60F5F165-1165-4592-8A79-674BBE2B70E5}" type="presOf" srcId="{87306FB5-A2B2-49C6-9AD1-55B6917CD944}" destId="{2549E5CF-6BE3-4B25-97C4-0F3526604FDD}" srcOrd="0" destOrd="0" presId="urn:microsoft.com/office/officeart/2005/8/layout/cycle2"/>
    <dgm:cxn modelId="{E0EE0D67-7606-4AC5-A047-F9AC9B3D8910}" type="presOf" srcId="{897A74CA-12E4-4886-9909-D0C39E0E9701}" destId="{3A775353-482E-4CE9-B20D-AA3100346260}" srcOrd="1" destOrd="0" presId="urn:microsoft.com/office/officeart/2005/8/layout/cycle2"/>
    <dgm:cxn modelId="{C4D7B048-BB71-4921-B939-DCA1F97BFDE0}" type="presOf" srcId="{A16B7A32-C1AD-495A-A377-0B9A0A7FEC9F}" destId="{DDDB76BB-D706-4697-96A1-8345580A3E0E}" srcOrd="0" destOrd="0" presId="urn:microsoft.com/office/officeart/2005/8/layout/cycle2"/>
    <dgm:cxn modelId="{890F7F6A-DD89-49A1-B4B7-C70F6D786396}" type="presOf" srcId="{C8218148-B48A-4CD5-B315-EB4E2CA794B6}" destId="{16D4F65C-FD7E-454B-A435-01046A163639}" srcOrd="0" destOrd="0" presId="urn:microsoft.com/office/officeart/2005/8/layout/cycle2"/>
    <dgm:cxn modelId="{BC18C66A-A949-4BFE-820B-0EB9A79E441D}" type="presOf" srcId="{2580DAD5-E4B5-4293-AB07-A4C506041096}" destId="{6F524604-84AD-4D96-A7EE-EFC46B76EE8D}" srcOrd="0" destOrd="0" presId="urn:microsoft.com/office/officeart/2005/8/layout/cycle2"/>
    <dgm:cxn modelId="{09BB5B8E-44F9-4371-B997-1035CB4889D0}" type="presOf" srcId="{51E61400-E8A1-4078-B0D1-05769AFE3FC2}" destId="{FB2D05D1-EBAC-45C1-9BC3-97903D6597E1}" srcOrd="0" destOrd="0" presId="urn:microsoft.com/office/officeart/2005/8/layout/cycle2"/>
    <dgm:cxn modelId="{F51860A6-8982-48AF-96C9-409F1A2BBE1D}" type="presOf" srcId="{51E61400-E8A1-4078-B0D1-05769AFE3FC2}" destId="{845E2A29-6F89-486D-8E56-8819FCE66F58}" srcOrd="1" destOrd="0" presId="urn:microsoft.com/office/officeart/2005/8/layout/cycle2"/>
    <dgm:cxn modelId="{6109A5B7-98DF-4CC6-9DE4-7AED1121F5E3}" type="presOf" srcId="{8DF2A84E-9439-4676-B13B-880F92495483}" destId="{7460B5D4-3A36-4CF5-86DB-C1955EA6D52B}" srcOrd="0" destOrd="0" presId="urn:microsoft.com/office/officeart/2005/8/layout/cycle2"/>
    <dgm:cxn modelId="{D75495CB-BD7C-4D1C-A798-9A39418CE5D5}" srcId="{87306FB5-A2B2-49C6-9AD1-55B6917CD944}" destId="{435C8848-87CA-47E9-A5F7-99C1EC16E483}" srcOrd="4" destOrd="0" parTransId="{A4708D6C-7804-40ED-AC27-D9D8D2A4430F}" sibTransId="{897A74CA-12E4-4886-9909-D0C39E0E9701}"/>
    <dgm:cxn modelId="{49A60ED3-5978-4CAC-A39A-F10C23E6AFF3}" srcId="{87306FB5-A2B2-49C6-9AD1-55B6917CD944}" destId="{8DF2A84E-9439-4676-B13B-880F92495483}" srcOrd="3" destOrd="0" parTransId="{7051D416-35AC-401B-833F-A4F8C8DD6EA9}" sibTransId="{C8218148-B48A-4CD5-B315-EB4E2CA794B6}"/>
    <dgm:cxn modelId="{82AA26D8-D355-4DF9-B9D7-60DF4FCC3725}" type="presOf" srcId="{8828E4FD-4B51-4892-8A21-08016202413A}" destId="{92DCAC41-0ABC-4ED1-88F9-CEBAA95A0C0F}" srcOrd="1" destOrd="0" presId="urn:microsoft.com/office/officeart/2005/8/layout/cycle2"/>
    <dgm:cxn modelId="{16C77CDD-D800-4138-88E0-89EC026BCB48}" type="presOf" srcId="{435C8848-87CA-47E9-A5F7-99C1EC16E483}" destId="{382240D4-C898-4910-84A6-839B8A331502}" srcOrd="0" destOrd="0" presId="urn:microsoft.com/office/officeart/2005/8/layout/cycle2"/>
    <dgm:cxn modelId="{F603A5E7-6B12-4C2E-B642-7E0D841F5EE0}" type="presOf" srcId="{8828E4FD-4B51-4892-8A21-08016202413A}" destId="{EBD0885B-17D0-430C-A851-26B86F60960F}" srcOrd="0" destOrd="0" presId="urn:microsoft.com/office/officeart/2005/8/layout/cycle2"/>
    <dgm:cxn modelId="{8BC63270-C73D-4A33-AFA5-BE8D3EB1EA0E}" type="presParOf" srcId="{2549E5CF-6BE3-4B25-97C4-0F3526604FDD}" destId="{12C7F52A-8E56-4217-BBC6-06CF6074755F}" srcOrd="0" destOrd="0" presId="urn:microsoft.com/office/officeart/2005/8/layout/cycle2"/>
    <dgm:cxn modelId="{BF2D279C-461A-451C-9A32-658A66DD2C50}" type="presParOf" srcId="{2549E5CF-6BE3-4B25-97C4-0F3526604FDD}" destId="{FB2D05D1-EBAC-45C1-9BC3-97903D6597E1}" srcOrd="1" destOrd="0" presId="urn:microsoft.com/office/officeart/2005/8/layout/cycle2"/>
    <dgm:cxn modelId="{3CE18539-5CC8-4257-8E78-19AD97263672}" type="presParOf" srcId="{FB2D05D1-EBAC-45C1-9BC3-97903D6597E1}" destId="{845E2A29-6F89-486D-8E56-8819FCE66F58}" srcOrd="0" destOrd="0" presId="urn:microsoft.com/office/officeart/2005/8/layout/cycle2"/>
    <dgm:cxn modelId="{D0B63C1B-39D1-4D7A-B891-1CA359F4C91E}" type="presParOf" srcId="{2549E5CF-6BE3-4B25-97C4-0F3526604FDD}" destId="{DDDB76BB-D706-4697-96A1-8345580A3E0E}" srcOrd="2" destOrd="0" presId="urn:microsoft.com/office/officeart/2005/8/layout/cycle2"/>
    <dgm:cxn modelId="{17BCC936-E22A-45D3-AC30-1EFFCCAEA7F8}" type="presParOf" srcId="{2549E5CF-6BE3-4B25-97C4-0F3526604FDD}" destId="{1023D39A-31F1-4A83-8AD8-96C1812B5FDF}" srcOrd="3" destOrd="0" presId="urn:microsoft.com/office/officeart/2005/8/layout/cycle2"/>
    <dgm:cxn modelId="{34221E88-4227-463A-98C2-586B2BC9CB3D}" type="presParOf" srcId="{1023D39A-31F1-4A83-8AD8-96C1812B5FDF}" destId="{6A16FD32-ED4C-4555-95E6-E17D53BD0E60}" srcOrd="0" destOrd="0" presId="urn:microsoft.com/office/officeart/2005/8/layout/cycle2"/>
    <dgm:cxn modelId="{C18D64E6-3E41-44D2-85B1-E52BBEC2D7C4}" type="presParOf" srcId="{2549E5CF-6BE3-4B25-97C4-0F3526604FDD}" destId="{6F524604-84AD-4D96-A7EE-EFC46B76EE8D}" srcOrd="4" destOrd="0" presId="urn:microsoft.com/office/officeart/2005/8/layout/cycle2"/>
    <dgm:cxn modelId="{6B88546D-6A28-4EEE-BB7E-7FD5BA48422E}" type="presParOf" srcId="{2549E5CF-6BE3-4B25-97C4-0F3526604FDD}" destId="{EBD0885B-17D0-430C-A851-26B86F60960F}" srcOrd="5" destOrd="0" presId="urn:microsoft.com/office/officeart/2005/8/layout/cycle2"/>
    <dgm:cxn modelId="{86F83175-5EE2-4752-9E67-384F69C63F86}" type="presParOf" srcId="{EBD0885B-17D0-430C-A851-26B86F60960F}" destId="{92DCAC41-0ABC-4ED1-88F9-CEBAA95A0C0F}" srcOrd="0" destOrd="0" presId="urn:microsoft.com/office/officeart/2005/8/layout/cycle2"/>
    <dgm:cxn modelId="{772ACCC5-13E4-4D65-9B65-83CC4E32401A}" type="presParOf" srcId="{2549E5CF-6BE3-4B25-97C4-0F3526604FDD}" destId="{7460B5D4-3A36-4CF5-86DB-C1955EA6D52B}" srcOrd="6" destOrd="0" presId="urn:microsoft.com/office/officeart/2005/8/layout/cycle2"/>
    <dgm:cxn modelId="{17DBCD57-9E67-4A4C-A82B-BF530013E358}" type="presParOf" srcId="{2549E5CF-6BE3-4B25-97C4-0F3526604FDD}" destId="{16D4F65C-FD7E-454B-A435-01046A163639}" srcOrd="7" destOrd="0" presId="urn:microsoft.com/office/officeart/2005/8/layout/cycle2"/>
    <dgm:cxn modelId="{90CC98A4-C981-49CF-A7E3-649E896D6F02}" type="presParOf" srcId="{16D4F65C-FD7E-454B-A435-01046A163639}" destId="{E2292487-6927-48A3-9F9D-64DDE27F4EDD}" srcOrd="0" destOrd="0" presId="urn:microsoft.com/office/officeart/2005/8/layout/cycle2"/>
    <dgm:cxn modelId="{1528C34C-882D-4600-B27D-7000CA8C2852}" type="presParOf" srcId="{2549E5CF-6BE3-4B25-97C4-0F3526604FDD}" destId="{382240D4-C898-4910-84A6-839B8A331502}" srcOrd="8" destOrd="0" presId="urn:microsoft.com/office/officeart/2005/8/layout/cycle2"/>
    <dgm:cxn modelId="{1E80D24A-4E06-43D1-B571-4C1E6F653484}" type="presParOf" srcId="{2549E5CF-6BE3-4B25-97C4-0F3526604FDD}" destId="{468A1386-0908-4400-80C2-60E7E204102D}" srcOrd="9" destOrd="0" presId="urn:microsoft.com/office/officeart/2005/8/layout/cycle2"/>
    <dgm:cxn modelId="{9DD7D189-7463-4A50-8A2C-A97413661D45}" type="presParOf" srcId="{468A1386-0908-4400-80C2-60E7E204102D}" destId="{3A775353-482E-4CE9-B20D-AA310034626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86B0B6-4D2D-4551-89F1-679904DA318E}" type="doc">
      <dgm:prSet loTypeId="urn:microsoft.com/office/officeart/2005/8/layout/hierarchy4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8D44FE76-5569-4D7B-8734-7E05067F3916}">
      <dgm:prSet phldrT="[Texte]"/>
      <dgm:spPr/>
      <dgm:t>
        <a:bodyPr/>
        <a:lstStyle/>
        <a:p>
          <a:r>
            <a:rPr lang="fr-FR" b="1" dirty="0" err="1">
              <a:solidFill>
                <a:schemeClr val="accent4"/>
              </a:solidFill>
            </a:rPr>
            <a:t>Assets</a:t>
          </a:r>
          <a:r>
            <a:rPr lang="fr-FR" b="1" dirty="0">
              <a:latin typeface="+mj-lt"/>
            </a:rPr>
            <a:t>                                       </a:t>
          </a:r>
          <a:r>
            <a:rPr lang="fr-FR" b="1" dirty="0" err="1">
              <a:solidFill>
                <a:schemeClr val="accent4"/>
              </a:solidFill>
            </a:rPr>
            <a:t>Liabilities</a:t>
          </a:r>
          <a:endParaRPr lang="en-GB" b="1" noProof="0" dirty="0">
            <a:solidFill>
              <a:schemeClr val="accent4"/>
            </a:solidFill>
          </a:endParaRPr>
        </a:p>
      </dgm:t>
    </dgm:pt>
    <dgm:pt modelId="{BD15A5F6-F0AC-4F0C-A767-7CF88CD441F8}" type="parTrans" cxnId="{C1343512-D081-40DF-A40B-3858684EF070}">
      <dgm:prSet/>
      <dgm:spPr/>
      <dgm:t>
        <a:bodyPr/>
        <a:lstStyle/>
        <a:p>
          <a:endParaRPr lang="fr-FR"/>
        </a:p>
      </dgm:t>
    </dgm:pt>
    <dgm:pt modelId="{FD88CFF6-C844-4E3C-8A52-BA95C02F3B69}" type="sibTrans" cxnId="{C1343512-D081-40DF-A40B-3858684EF070}">
      <dgm:prSet/>
      <dgm:spPr/>
      <dgm:t>
        <a:bodyPr/>
        <a:lstStyle/>
        <a:p>
          <a:endParaRPr lang="fr-FR"/>
        </a:p>
      </dgm:t>
    </dgm:pt>
    <dgm:pt modelId="{1C2EEAD2-3757-40E3-8ECD-F9F9CBAC4BDC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b="1" dirty="0">
              <a:effectLst/>
              <a:latin typeface="+mj-lt"/>
            </a:rPr>
            <a:t>Cash / </a:t>
          </a:r>
          <a:r>
            <a:rPr lang="fr-FR" b="1" dirty="0" err="1">
              <a:effectLst/>
              <a:latin typeface="+mj-lt"/>
            </a:rPr>
            <a:t>Deposits</a:t>
          </a:r>
          <a:endParaRPr lang="en-GB" b="1" noProof="0" dirty="0">
            <a:latin typeface="+mj-lt"/>
          </a:endParaRPr>
        </a:p>
      </dgm:t>
    </dgm:pt>
    <dgm:pt modelId="{638F0CC5-6F95-45F7-BC8F-06D13206F645}" type="parTrans" cxnId="{60F64D03-45E0-41DB-A39D-6D996B042559}">
      <dgm:prSet/>
      <dgm:spPr/>
      <dgm:t>
        <a:bodyPr/>
        <a:lstStyle/>
        <a:p>
          <a:endParaRPr lang="fr-FR"/>
        </a:p>
      </dgm:t>
    </dgm:pt>
    <dgm:pt modelId="{98518475-42B3-4A63-83C5-7DF2067FB55F}" type="sibTrans" cxnId="{60F64D03-45E0-41DB-A39D-6D996B042559}">
      <dgm:prSet/>
      <dgm:spPr/>
      <dgm:t>
        <a:bodyPr/>
        <a:lstStyle/>
        <a:p>
          <a:endParaRPr lang="fr-FR"/>
        </a:p>
      </dgm:t>
    </dgm:pt>
    <dgm:pt modelId="{EFE9A0A0-0AF8-496E-9786-8140E1DCC48D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b="1" dirty="0" err="1">
              <a:effectLst/>
              <a:latin typeface="+mj-lt"/>
            </a:rPr>
            <a:t>Mortgage</a:t>
          </a:r>
          <a:r>
            <a:rPr lang="fr-FR" b="0" dirty="0">
              <a:effectLst/>
              <a:latin typeface="Google Sans"/>
            </a:rPr>
            <a:t> </a:t>
          </a:r>
          <a:endParaRPr lang="en-GB" noProof="0" dirty="0"/>
        </a:p>
      </dgm:t>
    </dgm:pt>
    <dgm:pt modelId="{A40FE1A2-AF57-4EF8-A40B-A7A0941CAF38}" type="parTrans" cxnId="{BDFB27D2-19A0-4C5E-AFF1-6B8E48E5A661}">
      <dgm:prSet/>
      <dgm:spPr/>
      <dgm:t>
        <a:bodyPr/>
        <a:lstStyle/>
        <a:p>
          <a:endParaRPr lang="fr-FR"/>
        </a:p>
      </dgm:t>
    </dgm:pt>
    <dgm:pt modelId="{0E8431B8-D82A-4802-89F9-646B9804E08E}" type="sibTrans" cxnId="{BDFB27D2-19A0-4C5E-AFF1-6B8E48E5A661}">
      <dgm:prSet/>
      <dgm:spPr/>
      <dgm:t>
        <a:bodyPr/>
        <a:lstStyle/>
        <a:p>
          <a:endParaRPr lang="fr-FR"/>
        </a:p>
      </dgm:t>
    </dgm:pt>
    <dgm:pt modelId="{1CB89EA3-6637-4853-8527-CBAB9DED94AA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b="1" dirty="0">
              <a:effectLst/>
              <a:latin typeface="+mj-lt"/>
            </a:rPr>
            <a:t>Car </a:t>
          </a:r>
          <a:r>
            <a:rPr lang="fr-FR" b="1" dirty="0" err="1">
              <a:effectLst/>
              <a:latin typeface="+mj-lt"/>
            </a:rPr>
            <a:t>loan</a:t>
          </a:r>
          <a:endParaRPr lang="en-GB" b="1" noProof="0" dirty="0">
            <a:latin typeface="+mj-lt"/>
          </a:endParaRPr>
        </a:p>
      </dgm:t>
    </dgm:pt>
    <dgm:pt modelId="{FC295D61-B924-42DA-B0B3-C39A9508EF96}" type="parTrans" cxnId="{F19B16D2-EFCD-4F9E-A0DC-56166A931E52}">
      <dgm:prSet/>
      <dgm:spPr/>
      <dgm:t>
        <a:bodyPr/>
        <a:lstStyle/>
        <a:p>
          <a:endParaRPr lang="fr-FR"/>
        </a:p>
      </dgm:t>
    </dgm:pt>
    <dgm:pt modelId="{F430AAE9-27E3-4983-B68B-CA06137EAFBA}" type="sibTrans" cxnId="{F19B16D2-EFCD-4F9E-A0DC-56166A931E52}">
      <dgm:prSet/>
      <dgm:spPr/>
      <dgm:t>
        <a:bodyPr/>
        <a:lstStyle/>
        <a:p>
          <a:endParaRPr lang="fr-FR"/>
        </a:p>
      </dgm:t>
    </dgm:pt>
    <dgm:pt modelId="{027085FB-EA01-4299-9C11-DC370ECBC725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b="1" noProof="0" dirty="0"/>
            <a:t>Housing wealth </a:t>
          </a:r>
          <a:endParaRPr lang="en-GB" b="1" noProof="0" dirty="0">
            <a:latin typeface="+mj-lt"/>
          </a:endParaRPr>
        </a:p>
      </dgm:t>
    </dgm:pt>
    <dgm:pt modelId="{DF17FE4B-7DEC-490B-A4EB-3A67D96A23B1}" type="parTrans" cxnId="{8CD86AC4-A28B-4B14-AA3F-2275532FA090}">
      <dgm:prSet/>
      <dgm:spPr/>
      <dgm:t>
        <a:bodyPr/>
        <a:lstStyle/>
        <a:p>
          <a:endParaRPr lang="fr-FR"/>
        </a:p>
      </dgm:t>
    </dgm:pt>
    <dgm:pt modelId="{5FE75909-66A5-46F5-90AB-164B147E669D}" type="sibTrans" cxnId="{8CD86AC4-A28B-4B14-AA3F-2275532FA090}">
      <dgm:prSet/>
      <dgm:spPr/>
      <dgm:t>
        <a:bodyPr/>
        <a:lstStyle/>
        <a:p>
          <a:endParaRPr lang="fr-FR"/>
        </a:p>
      </dgm:t>
    </dgm:pt>
    <dgm:pt modelId="{2D493142-7DBE-4144-9CB0-486ECDF77791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b="1" dirty="0" err="1">
              <a:effectLst/>
              <a:latin typeface="+mj-lt"/>
            </a:rPr>
            <a:t>Other</a:t>
          </a:r>
          <a:r>
            <a:rPr lang="fr-FR" b="1" dirty="0">
              <a:effectLst/>
              <a:latin typeface="+mj-lt"/>
            </a:rPr>
            <a:t> </a:t>
          </a:r>
          <a:r>
            <a:rPr lang="fr-FR" b="1" dirty="0" err="1">
              <a:effectLst/>
              <a:latin typeface="+mj-lt"/>
            </a:rPr>
            <a:t>liabilities</a:t>
          </a:r>
          <a:endParaRPr lang="en-GB" b="1" noProof="0" dirty="0">
            <a:latin typeface="+mj-lt"/>
          </a:endParaRPr>
        </a:p>
      </dgm:t>
    </dgm:pt>
    <dgm:pt modelId="{EFA45D83-872B-4D01-901C-EA81C45D3067}" type="parTrans" cxnId="{C99DEA36-1ADE-4086-9423-92DA2F18C607}">
      <dgm:prSet/>
      <dgm:spPr/>
      <dgm:t>
        <a:bodyPr/>
        <a:lstStyle/>
        <a:p>
          <a:endParaRPr lang="fr-FR"/>
        </a:p>
      </dgm:t>
    </dgm:pt>
    <dgm:pt modelId="{0C43D009-4E76-40AE-A624-6B0D5130709F}" type="sibTrans" cxnId="{C99DEA36-1ADE-4086-9423-92DA2F18C607}">
      <dgm:prSet/>
      <dgm:spPr/>
      <dgm:t>
        <a:bodyPr/>
        <a:lstStyle/>
        <a:p>
          <a:endParaRPr lang="fr-FR"/>
        </a:p>
      </dgm:t>
    </dgm:pt>
    <dgm:pt modelId="{D5A3FAD6-A97F-42D7-9266-8C42CEAC4DA6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b="1" noProof="0" dirty="0"/>
            <a:t>Other assets</a:t>
          </a:r>
        </a:p>
      </dgm:t>
    </dgm:pt>
    <dgm:pt modelId="{525816E1-67E3-4ED7-9170-63C7F95B5246}" type="sibTrans" cxnId="{8A400E67-4631-4A5C-9D68-56582D5181DC}">
      <dgm:prSet/>
      <dgm:spPr/>
      <dgm:t>
        <a:bodyPr/>
        <a:lstStyle/>
        <a:p>
          <a:endParaRPr lang="fr-FR"/>
        </a:p>
      </dgm:t>
    </dgm:pt>
    <dgm:pt modelId="{7D81A6D5-5FA2-4E3F-8045-B930528A11E8}" type="parTrans" cxnId="{8A400E67-4631-4A5C-9D68-56582D5181DC}">
      <dgm:prSet/>
      <dgm:spPr/>
      <dgm:t>
        <a:bodyPr/>
        <a:lstStyle/>
        <a:p>
          <a:endParaRPr lang="fr-FR"/>
        </a:p>
      </dgm:t>
    </dgm:pt>
    <dgm:pt modelId="{3800F6AC-4792-4A10-9E9C-DB78CA163A6D}" type="pres">
      <dgm:prSet presAssocID="{9C86B0B6-4D2D-4551-89F1-679904DA318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BB4F4C-63EC-4DEE-B52B-DA9D13E711FF}" type="pres">
      <dgm:prSet presAssocID="{8D44FE76-5569-4D7B-8734-7E05067F3916}" presName="vertOne" presStyleCnt="0"/>
      <dgm:spPr/>
    </dgm:pt>
    <dgm:pt modelId="{52A40553-68FA-41A5-83BB-347A86993CEF}" type="pres">
      <dgm:prSet presAssocID="{8D44FE76-5569-4D7B-8734-7E05067F3916}" presName="txOne" presStyleLbl="node0" presStyleIdx="0" presStyleCnt="1" custLinFactNeighborX="0" custLinFactNeighborY="-10966">
        <dgm:presLayoutVars>
          <dgm:chPref val="3"/>
        </dgm:presLayoutVars>
      </dgm:prSet>
      <dgm:spPr/>
    </dgm:pt>
    <dgm:pt modelId="{2D03BC7E-D456-49B1-8BB9-7B2CD3EFFA07}" type="pres">
      <dgm:prSet presAssocID="{8D44FE76-5569-4D7B-8734-7E05067F3916}" presName="parTransOne" presStyleCnt="0"/>
      <dgm:spPr/>
    </dgm:pt>
    <dgm:pt modelId="{88728A28-9F5A-4317-B14D-BA3E24EEE8CB}" type="pres">
      <dgm:prSet presAssocID="{8D44FE76-5569-4D7B-8734-7E05067F3916}" presName="horzOne" presStyleCnt="0"/>
      <dgm:spPr/>
    </dgm:pt>
    <dgm:pt modelId="{933789B4-38E2-4E1C-ABEB-A54915A64004}" type="pres">
      <dgm:prSet presAssocID="{1C2EEAD2-3757-40E3-8ECD-F9F9CBAC4BDC}" presName="vertTwo" presStyleCnt="0"/>
      <dgm:spPr/>
    </dgm:pt>
    <dgm:pt modelId="{2EBF0A98-BD5E-4342-B18E-7FD9F305D5AE}" type="pres">
      <dgm:prSet presAssocID="{1C2EEAD2-3757-40E3-8ECD-F9F9CBAC4BDC}" presName="txTwo" presStyleLbl="node2" presStyleIdx="0" presStyleCnt="2" custLinFactNeighborX="-693" custLinFactNeighborY="4445">
        <dgm:presLayoutVars>
          <dgm:chPref val="3"/>
        </dgm:presLayoutVars>
      </dgm:prSet>
      <dgm:spPr/>
    </dgm:pt>
    <dgm:pt modelId="{9CDEBCCA-E9F4-461B-94F8-F78982C2F74D}" type="pres">
      <dgm:prSet presAssocID="{1C2EEAD2-3757-40E3-8ECD-F9F9CBAC4BDC}" presName="parTransTwo" presStyleCnt="0"/>
      <dgm:spPr/>
    </dgm:pt>
    <dgm:pt modelId="{0A027673-3180-447B-87B0-30D84FC3EFD8}" type="pres">
      <dgm:prSet presAssocID="{1C2EEAD2-3757-40E3-8ECD-F9F9CBAC4BDC}" presName="horzTwo" presStyleCnt="0"/>
      <dgm:spPr/>
    </dgm:pt>
    <dgm:pt modelId="{EF0E8257-F493-425A-8259-D4F7CA0DD964}" type="pres">
      <dgm:prSet presAssocID="{D5A3FAD6-A97F-42D7-9266-8C42CEAC4DA6}" presName="vertThree" presStyleCnt="0"/>
      <dgm:spPr/>
    </dgm:pt>
    <dgm:pt modelId="{2F7F23AB-B713-4E03-9025-5B3C26E5BC65}" type="pres">
      <dgm:prSet presAssocID="{D5A3FAD6-A97F-42D7-9266-8C42CEAC4DA6}" presName="txThree" presStyleLbl="node3" presStyleIdx="0" presStyleCnt="2">
        <dgm:presLayoutVars>
          <dgm:chPref val="3"/>
        </dgm:presLayoutVars>
      </dgm:prSet>
      <dgm:spPr/>
    </dgm:pt>
    <dgm:pt modelId="{AABBAFFC-FAC5-461E-A4C5-9FE46DA91CD6}" type="pres">
      <dgm:prSet presAssocID="{D5A3FAD6-A97F-42D7-9266-8C42CEAC4DA6}" presName="parTransThree" presStyleCnt="0"/>
      <dgm:spPr/>
    </dgm:pt>
    <dgm:pt modelId="{5F7E3B16-A660-4BFB-9234-F259EDBA3C41}" type="pres">
      <dgm:prSet presAssocID="{D5A3FAD6-A97F-42D7-9266-8C42CEAC4DA6}" presName="horzThree" presStyleCnt="0"/>
      <dgm:spPr/>
    </dgm:pt>
    <dgm:pt modelId="{9BF7591A-FB58-4E90-8EBD-BCD23A589266}" type="pres">
      <dgm:prSet presAssocID="{027085FB-EA01-4299-9C11-DC370ECBC725}" presName="vertFour" presStyleCnt="0">
        <dgm:presLayoutVars>
          <dgm:chPref val="3"/>
        </dgm:presLayoutVars>
      </dgm:prSet>
      <dgm:spPr/>
    </dgm:pt>
    <dgm:pt modelId="{33D6F51D-36DA-479B-AF59-6079B344B437}" type="pres">
      <dgm:prSet presAssocID="{027085FB-EA01-4299-9C11-DC370ECBC725}" presName="txFour" presStyleLbl="node4" presStyleIdx="0" presStyleCnt="2">
        <dgm:presLayoutVars>
          <dgm:chPref val="3"/>
        </dgm:presLayoutVars>
      </dgm:prSet>
      <dgm:spPr/>
    </dgm:pt>
    <dgm:pt modelId="{2E4D257D-4FAC-4ACC-8A0A-E988BCC1491F}" type="pres">
      <dgm:prSet presAssocID="{027085FB-EA01-4299-9C11-DC370ECBC725}" presName="horzFour" presStyleCnt="0"/>
      <dgm:spPr/>
    </dgm:pt>
    <dgm:pt modelId="{A8D09876-5F78-45B8-83D2-47B8E8F784EC}" type="pres">
      <dgm:prSet presAssocID="{98518475-42B3-4A63-83C5-7DF2067FB55F}" presName="sibSpaceTwo" presStyleCnt="0"/>
      <dgm:spPr/>
    </dgm:pt>
    <dgm:pt modelId="{483D17C6-55A2-497B-A7DA-A00383CAB9F8}" type="pres">
      <dgm:prSet presAssocID="{EFE9A0A0-0AF8-496E-9786-8140E1DCC48D}" presName="vertTwo" presStyleCnt="0"/>
      <dgm:spPr/>
    </dgm:pt>
    <dgm:pt modelId="{A68EF847-6A48-407B-9DB3-29073A59F3F7}" type="pres">
      <dgm:prSet presAssocID="{EFE9A0A0-0AF8-496E-9786-8140E1DCC48D}" presName="txTwo" presStyleLbl="node2" presStyleIdx="1" presStyleCnt="2">
        <dgm:presLayoutVars>
          <dgm:chPref val="3"/>
        </dgm:presLayoutVars>
      </dgm:prSet>
      <dgm:spPr/>
    </dgm:pt>
    <dgm:pt modelId="{8637BA27-1861-4168-8C84-AB09388E0513}" type="pres">
      <dgm:prSet presAssocID="{EFE9A0A0-0AF8-496E-9786-8140E1DCC48D}" presName="parTransTwo" presStyleCnt="0"/>
      <dgm:spPr/>
    </dgm:pt>
    <dgm:pt modelId="{5156DA5D-D593-4351-8F8E-E402CA79B85E}" type="pres">
      <dgm:prSet presAssocID="{EFE9A0A0-0AF8-496E-9786-8140E1DCC48D}" presName="horzTwo" presStyleCnt="0"/>
      <dgm:spPr/>
    </dgm:pt>
    <dgm:pt modelId="{B46C12EA-C395-4D2F-9399-D791C657F5CF}" type="pres">
      <dgm:prSet presAssocID="{1CB89EA3-6637-4853-8527-CBAB9DED94AA}" presName="vertThree" presStyleCnt="0"/>
      <dgm:spPr/>
    </dgm:pt>
    <dgm:pt modelId="{6B01A713-AD90-42C2-A077-612754AF589C}" type="pres">
      <dgm:prSet presAssocID="{1CB89EA3-6637-4853-8527-CBAB9DED94AA}" presName="txThree" presStyleLbl="node3" presStyleIdx="1" presStyleCnt="2">
        <dgm:presLayoutVars>
          <dgm:chPref val="3"/>
        </dgm:presLayoutVars>
      </dgm:prSet>
      <dgm:spPr/>
    </dgm:pt>
    <dgm:pt modelId="{7C5E3F6B-008E-48AB-925A-C0E88E41B57D}" type="pres">
      <dgm:prSet presAssocID="{1CB89EA3-6637-4853-8527-CBAB9DED94AA}" presName="parTransThree" presStyleCnt="0"/>
      <dgm:spPr/>
    </dgm:pt>
    <dgm:pt modelId="{7DA2E104-8C50-4A65-8D59-6945BB9E9104}" type="pres">
      <dgm:prSet presAssocID="{1CB89EA3-6637-4853-8527-CBAB9DED94AA}" presName="horzThree" presStyleCnt="0"/>
      <dgm:spPr/>
    </dgm:pt>
    <dgm:pt modelId="{57D97414-CD4B-49E5-A662-BA8F9B32703A}" type="pres">
      <dgm:prSet presAssocID="{2D493142-7DBE-4144-9CB0-486ECDF77791}" presName="vertFour" presStyleCnt="0">
        <dgm:presLayoutVars>
          <dgm:chPref val="3"/>
        </dgm:presLayoutVars>
      </dgm:prSet>
      <dgm:spPr/>
    </dgm:pt>
    <dgm:pt modelId="{47F9ABDE-F97F-49EF-B609-F0ADC1B5B66D}" type="pres">
      <dgm:prSet presAssocID="{2D493142-7DBE-4144-9CB0-486ECDF77791}" presName="txFour" presStyleLbl="node4" presStyleIdx="1" presStyleCnt="2">
        <dgm:presLayoutVars>
          <dgm:chPref val="3"/>
        </dgm:presLayoutVars>
      </dgm:prSet>
      <dgm:spPr/>
    </dgm:pt>
    <dgm:pt modelId="{AD57E677-0610-4E68-BD8A-FF9EBA626437}" type="pres">
      <dgm:prSet presAssocID="{2D493142-7DBE-4144-9CB0-486ECDF77791}" presName="horzFour" presStyleCnt="0"/>
      <dgm:spPr/>
    </dgm:pt>
  </dgm:ptLst>
  <dgm:cxnLst>
    <dgm:cxn modelId="{60F64D03-45E0-41DB-A39D-6D996B042559}" srcId="{8D44FE76-5569-4D7B-8734-7E05067F3916}" destId="{1C2EEAD2-3757-40E3-8ECD-F9F9CBAC4BDC}" srcOrd="0" destOrd="0" parTransId="{638F0CC5-6F95-45F7-BC8F-06D13206F645}" sibTransId="{98518475-42B3-4A63-83C5-7DF2067FB55F}"/>
    <dgm:cxn modelId="{C1343512-D081-40DF-A40B-3858684EF070}" srcId="{9C86B0B6-4D2D-4551-89F1-679904DA318E}" destId="{8D44FE76-5569-4D7B-8734-7E05067F3916}" srcOrd="0" destOrd="0" parTransId="{BD15A5F6-F0AC-4F0C-A767-7CF88CD441F8}" sibTransId="{FD88CFF6-C844-4E3C-8A52-BA95C02F3B69}"/>
    <dgm:cxn modelId="{9AFECC2D-8BAF-4F72-B15E-41B45BDD190E}" type="presOf" srcId="{8D44FE76-5569-4D7B-8734-7E05067F3916}" destId="{52A40553-68FA-41A5-83BB-347A86993CEF}" srcOrd="0" destOrd="0" presId="urn:microsoft.com/office/officeart/2005/8/layout/hierarchy4"/>
    <dgm:cxn modelId="{F6FCA033-E79C-474D-BA0A-A060834A1CE7}" type="presOf" srcId="{EFE9A0A0-0AF8-496E-9786-8140E1DCC48D}" destId="{A68EF847-6A48-407B-9DB3-29073A59F3F7}" srcOrd="0" destOrd="0" presId="urn:microsoft.com/office/officeart/2005/8/layout/hierarchy4"/>
    <dgm:cxn modelId="{C99DEA36-1ADE-4086-9423-92DA2F18C607}" srcId="{1CB89EA3-6637-4853-8527-CBAB9DED94AA}" destId="{2D493142-7DBE-4144-9CB0-486ECDF77791}" srcOrd="0" destOrd="0" parTransId="{EFA45D83-872B-4D01-901C-EA81C45D3067}" sibTransId="{0C43D009-4E76-40AE-A624-6B0D5130709F}"/>
    <dgm:cxn modelId="{8A400E67-4631-4A5C-9D68-56582D5181DC}" srcId="{1C2EEAD2-3757-40E3-8ECD-F9F9CBAC4BDC}" destId="{D5A3FAD6-A97F-42D7-9266-8C42CEAC4DA6}" srcOrd="0" destOrd="0" parTransId="{7D81A6D5-5FA2-4E3F-8045-B930528A11E8}" sibTransId="{525816E1-67E3-4ED7-9170-63C7F95B5246}"/>
    <dgm:cxn modelId="{E47CD46B-9DB7-49E1-BE6C-5F45565246EF}" type="presOf" srcId="{027085FB-EA01-4299-9C11-DC370ECBC725}" destId="{33D6F51D-36DA-479B-AF59-6079B344B437}" srcOrd="0" destOrd="0" presId="urn:microsoft.com/office/officeart/2005/8/layout/hierarchy4"/>
    <dgm:cxn modelId="{FE983A53-C07E-415A-B19F-DBAEB9CDB7D7}" type="presOf" srcId="{1CB89EA3-6637-4853-8527-CBAB9DED94AA}" destId="{6B01A713-AD90-42C2-A077-612754AF589C}" srcOrd="0" destOrd="0" presId="urn:microsoft.com/office/officeart/2005/8/layout/hierarchy4"/>
    <dgm:cxn modelId="{0C01E08A-1C1F-4E21-AA80-5373DB7DB4A6}" type="presOf" srcId="{D5A3FAD6-A97F-42D7-9266-8C42CEAC4DA6}" destId="{2F7F23AB-B713-4E03-9025-5B3C26E5BC65}" srcOrd="0" destOrd="0" presId="urn:microsoft.com/office/officeart/2005/8/layout/hierarchy4"/>
    <dgm:cxn modelId="{404D4299-F2B8-4F64-95CA-B64683805ECB}" type="presOf" srcId="{9C86B0B6-4D2D-4551-89F1-679904DA318E}" destId="{3800F6AC-4792-4A10-9E9C-DB78CA163A6D}" srcOrd="0" destOrd="0" presId="urn:microsoft.com/office/officeart/2005/8/layout/hierarchy4"/>
    <dgm:cxn modelId="{7A49AF9A-733E-4EB4-AD44-3ECC0E50EDEC}" type="presOf" srcId="{2D493142-7DBE-4144-9CB0-486ECDF77791}" destId="{47F9ABDE-F97F-49EF-B609-F0ADC1B5B66D}" srcOrd="0" destOrd="0" presId="urn:microsoft.com/office/officeart/2005/8/layout/hierarchy4"/>
    <dgm:cxn modelId="{E5D2F5AA-EB10-485B-A6C7-18D5767DD645}" type="presOf" srcId="{1C2EEAD2-3757-40E3-8ECD-F9F9CBAC4BDC}" destId="{2EBF0A98-BD5E-4342-B18E-7FD9F305D5AE}" srcOrd="0" destOrd="0" presId="urn:microsoft.com/office/officeart/2005/8/layout/hierarchy4"/>
    <dgm:cxn modelId="{8CD86AC4-A28B-4B14-AA3F-2275532FA090}" srcId="{D5A3FAD6-A97F-42D7-9266-8C42CEAC4DA6}" destId="{027085FB-EA01-4299-9C11-DC370ECBC725}" srcOrd="0" destOrd="0" parTransId="{DF17FE4B-7DEC-490B-A4EB-3A67D96A23B1}" sibTransId="{5FE75909-66A5-46F5-90AB-164B147E669D}"/>
    <dgm:cxn modelId="{F19B16D2-EFCD-4F9E-A0DC-56166A931E52}" srcId="{EFE9A0A0-0AF8-496E-9786-8140E1DCC48D}" destId="{1CB89EA3-6637-4853-8527-CBAB9DED94AA}" srcOrd="0" destOrd="0" parTransId="{FC295D61-B924-42DA-B0B3-C39A9508EF96}" sibTransId="{F430AAE9-27E3-4983-B68B-CA06137EAFBA}"/>
    <dgm:cxn modelId="{BDFB27D2-19A0-4C5E-AFF1-6B8E48E5A661}" srcId="{8D44FE76-5569-4D7B-8734-7E05067F3916}" destId="{EFE9A0A0-0AF8-496E-9786-8140E1DCC48D}" srcOrd="1" destOrd="0" parTransId="{A40FE1A2-AF57-4EF8-A40B-A7A0941CAF38}" sibTransId="{0E8431B8-D82A-4802-89F9-646B9804E08E}"/>
    <dgm:cxn modelId="{22A19341-5C9E-476C-B509-1E019C3C39A7}" type="presParOf" srcId="{3800F6AC-4792-4A10-9E9C-DB78CA163A6D}" destId="{B1BB4F4C-63EC-4DEE-B52B-DA9D13E711FF}" srcOrd="0" destOrd="0" presId="urn:microsoft.com/office/officeart/2005/8/layout/hierarchy4"/>
    <dgm:cxn modelId="{086E8D78-8E68-494F-9C1B-E972D67BBC9F}" type="presParOf" srcId="{B1BB4F4C-63EC-4DEE-B52B-DA9D13E711FF}" destId="{52A40553-68FA-41A5-83BB-347A86993CEF}" srcOrd="0" destOrd="0" presId="urn:microsoft.com/office/officeart/2005/8/layout/hierarchy4"/>
    <dgm:cxn modelId="{5C1DF420-44B4-4663-A27F-631B19B371AA}" type="presParOf" srcId="{B1BB4F4C-63EC-4DEE-B52B-DA9D13E711FF}" destId="{2D03BC7E-D456-49B1-8BB9-7B2CD3EFFA07}" srcOrd="1" destOrd="0" presId="urn:microsoft.com/office/officeart/2005/8/layout/hierarchy4"/>
    <dgm:cxn modelId="{3394650B-0FE5-496E-BF16-E8A437A2DCB9}" type="presParOf" srcId="{B1BB4F4C-63EC-4DEE-B52B-DA9D13E711FF}" destId="{88728A28-9F5A-4317-B14D-BA3E24EEE8CB}" srcOrd="2" destOrd="0" presId="urn:microsoft.com/office/officeart/2005/8/layout/hierarchy4"/>
    <dgm:cxn modelId="{22B22B24-06B3-4A0A-8C25-07E3178AFCB8}" type="presParOf" srcId="{88728A28-9F5A-4317-B14D-BA3E24EEE8CB}" destId="{933789B4-38E2-4E1C-ABEB-A54915A64004}" srcOrd="0" destOrd="0" presId="urn:microsoft.com/office/officeart/2005/8/layout/hierarchy4"/>
    <dgm:cxn modelId="{D9DD7A01-43C3-4E8F-92F9-3D056609A744}" type="presParOf" srcId="{933789B4-38E2-4E1C-ABEB-A54915A64004}" destId="{2EBF0A98-BD5E-4342-B18E-7FD9F305D5AE}" srcOrd="0" destOrd="0" presId="urn:microsoft.com/office/officeart/2005/8/layout/hierarchy4"/>
    <dgm:cxn modelId="{1BBED73C-4807-49D7-BCD9-B4FBE80ECE39}" type="presParOf" srcId="{933789B4-38E2-4E1C-ABEB-A54915A64004}" destId="{9CDEBCCA-E9F4-461B-94F8-F78982C2F74D}" srcOrd="1" destOrd="0" presId="urn:microsoft.com/office/officeart/2005/8/layout/hierarchy4"/>
    <dgm:cxn modelId="{42C8784E-CA7B-4AA2-927E-53A1F3637E4D}" type="presParOf" srcId="{933789B4-38E2-4E1C-ABEB-A54915A64004}" destId="{0A027673-3180-447B-87B0-30D84FC3EFD8}" srcOrd="2" destOrd="0" presId="urn:microsoft.com/office/officeart/2005/8/layout/hierarchy4"/>
    <dgm:cxn modelId="{2B1ED8BA-F7AE-4B75-9E1E-0605451CDEFA}" type="presParOf" srcId="{0A027673-3180-447B-87B0-30D84FC3EFD8}" destId="{EF0E8257-F493-425A-8259-D4F7CA0DD964}" srcOrd="0" destOrd="0" presId="urn:microsoft.com/office/officeart/2005/8/layout/hierarchy4"/>
    <dgm:cxn modelId="{07F7F05F-0F0A-418B-BBA2-ECA522223059}" type="presParOf" srcId="{EF0E8257-F493-425A-8259-D4F7CA0DD964}" destId="{2F7F23AB-B713-4E03-9025-5B3C26E5BC65}" srcOrd="0" destOrd="0" presId="urn:microsoft.com/office/officeart/2005/8/layout/hierarchy4"/>
    <dgm:cxn modelId="{9424996E-650E-480C-A825-9E6777D16A2C}" type="presParOf" srcId="{EF0E8257-F493-425A-8259-D4F7CA0DD964}" destId="{AABBAFFC-FAC5-461E-A4C5-9FE46DA91CD6}" srcOrd="1" destOrd="0" presId="urn:microsoft.com/office/officeart/2005/8/layout/hierarchy4"/>
    <dgm:cxn modelId="{C6C63198-788C-46D3-834E-1F6DD028BC83}" type="presParOf" srcId="{EF0E8257-F493-425A-8259-D4F7CA0DD964}" destId="{5F7E3B16-A660-4BFB-9234-F259EDBA3C41}" srcOrd="2" destOrd="0" presId="urn:microsoft.com/office/officeart/2005/8/layout/hierarchy4"/>
    <dgm:cxn modelId="{4F5D1137-7CA7-4748-A59D-8998B6CC87D8}" type="presParOf" srcId="{5F7E3B16-A660-4BFB-9234-F259EDBA3C41}" destId="{9BF7591A-FB58-4E90-8EBD-BCD23A589266}" srcOrd="0" destOrd="0" presId="urn:microsoft.com/office/officeart/2005/8/layout/hierarchy4"/>
    <dgm:cxn modelId="{47F95232-F22E-4343-BF14-EB891F468002}" type="presParOf" srcId="{9BF7591A-FB58-4E90-8EBD-BCD23A589266}" destId="{33D6F51D-36DA-479B-AF59-6079B344B437}" srcOrd="0" destOrd="0" presId="urn:microsoft.com/office/officeart/2005/8/layout/hierarchy4"/>
    <dgm:cxn modelId="{CCD95630-D77F-4D43-B832-5203477D67F9}" type="presParOf" srcId="{9BF7591A-FB58-4E90-8EBD-BCD23A589266}" destId="{2E4D257D-4FAC-4ACC-8A0A-E988BCC1491F}" srcOrd="1" destOrd="0" presId="urn:microsoft.com/office/officeart/2005/8/layout/hierarchy4"/>
    <dgm:cxn modelId="{7453449C-62A1-475A-93C8-F986A45D87D8}" type="presParOf" srcId="{88728A28-9F5A-4317-B14D-BA3E24EEE8CB}" destId="{A8D09876-5F78-45B8-83D2-47B8E8F784EC}" srcOrd="1" destOrd="0" presId="urn:microsoft.com/office/officeart/2005/8/layout/hierarchy4"/>
    <dgm:cxn modelId="{ACEF9EF3-6CB1-4010-943D-2DB85A12BA51}" type="presParOf" srcId="{88728A28-9F5A-4317-B14D-BA3E24EEE8CB}" destId="{483D17C6-55A2-497B-A7DA-A00383CAB9F8}" srcOrd="2" destOrd="0" presId="urn:microsoft.com/office/officeart/2005/8/layout/hierarchy4"/>
    <dgm:cxn modelId="{A514308F-E059-4DCC-B93B-3AF028BEF07A}" type="presParOf" srcId="{483D17C6-55A2-497B-A7DA-A00383CAB9F8}" destId="{A68EF847-6A48-407B-9DB3-29073A59F3F7}" srcOrd="0" destOrd="0" presId="urn:microsoft.com/office/officeart/2005/8/layout/hierarchy4"/>
    <dgm:cxn modelId="{108F65CF-126C-4902-8950-709E8F0A8D74}" type="presParOf" srcId="{483D17C6-55A2-497B-A7DA-A00383CAB9F8}" destId="{8637BA27-1861-4168-8C84-AB09388E0513}" srcOrd="1" destOrd="0" presId="urn:microsoft.com/office/officeart/2005/8/layout/hierarchy4"/>
    <dgm:cxn modelId="{5B4FEAC4-19B7-4A4B-B14D-2EF04984B29E}" type="presParOf" srcId="{483D17C6-55A2-497B-A7DA-A00383CAB9F8}" destId="{5156DA5D-D593-4351-8F8E-E402CA79B85E}" srcOrd="2" destOrd="0" presId="urn:microsoft.com/office/officeart/2005/8/layout/hierarchy4"/>
    <dgm:cxn modelId="{525AF8B4-D54C-4D4E-B806-D6C95B40C0C3}" type="presParOf" srcId="{5156DA5D-D593-4351-8F8E-E402CA79B85E}" destId="{B46C12EA-C395-4D2F-9399-D791C657F5CF}" srcOrd="0" destOrd="0" presId="urn:microsoft.com/office/officeart/2005/8/layout/hierarchy4"/>
    <dgm:cxn modelId="{5BE0966F-D393-4C7E-9C7F-6B0A6C9F6D0D}" type="presParOf" srcId="{B46C12EA-C395-4D2F-9399-D791C657F5CF}" destId="{6B01A713-AD90-42C2-A077-612754AF589C}" srcOrd="0" destOrd="0" presId="urn:microsoft.com/office/officeart/2005/8/layout/hierarchy4"/>
    <dgm:cxn modelId="{4E6EBC2A-EA0D-4EF8-9281-FF42853F10A7}" type="presParOf" srcId="{B46C12EA-C395-4D2F-9399-D791C657F5CF}" destId="{7C5E3F6B-008E-48AB-925A-C0E88E41B57D}" srcOrd="1" destOrd="0" presId="urn:microsoft.com/office/officeart/2005/8/layout/hierarchy4"/>
    <dgm:cxn modelId="{B5E56729-5B38-4365-8A2C-2286B56C7146}" type="presParOf" srcId="{B46C12EA-C395-4D2F-9399-D791C657F5CF}" destId="{7DA2E104-8C50-4A65-8D59-6945BB9E9104}" srcOrd="2" destOrd="0" presId="urn:microsoft.com/office/officeart/2005/8/layout/hierarchy4"/>
    <dgm:cxn modelId="{A096F3E5-D38D-4105-A14D-DF1FBEA54A6B}" type="presParOf" srcId="{7DA2E104-8C50-4A65-8D59-6945BB9E9104}" destId="{57D97414-CD4B-49E5-A662-BA8F9B32703A}" srcOrd="0" destOrd="0" presId="urn:microsoft.com/office/officeart/2005/8/layout/hierarchy4"/>
    <dgm:cxn modelId="{E9087D7C-CAA0-4CC7-A5C2-8AD51C835D7E}" type="presParOf" srcId="{57D97414-CD4B-49E5-A662-BA8F9B32703A}" destId="{47F9ABDE-F97F-49EF-B609-F0ADC1B5B66D}" srcOrd="0" destOrd="0" presId="urn:microsoft.com/office/officeart/2005/8/layout/hierarchy4"/>
    <dgm:cxn modelId="{669A65BA-F399-4544-AEEC-CAF66CB3169E}" type="presParOf" srcId="{57D97414-CD4B-49E5-A662-BA8F9B32703A}" destId="{AD57E677-0610-4E68-BD8A-FF9EBA62643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86B0B6-4D2D-4551-89F1-679904DA318E}" type="doc">
      <dgm:prSet loTypeId="urn:microsoft.com/office/officeart/2005/8/layout/hierarchy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8D44FE76-5569-4D7B-8734-7E05067F3916}">
      <dgm:prSet phldrT="[Texte]"/>
      <dgm:spPr/>
      <dgm:t>
        <a:bodyPr/>
        <a:lstStyle/>
        <a:p>
          <a:r>
            <a:rPr lang="fr-FR" b="1" dirty="0">
              <a:solidFill>
                <a:schemeClr val="accent4"/>
              </a:solidFill>
            </a:rPr>
            <a:t>Sources </a:t>
          </a:r>
          <a:r>
            <a:rPr lang="en-GB" b="1" noProof="0" dirty="0">
              <a:solidFill>
                <a:schemeClr val="accent4"/>
              </a:solidFill>
            </a:rPr>
            <a:t>of income                   </a:t>
          </a:r>
          <a:r>
            <a:rPr lang="fr-FR" b="1" dirty="0">
              <a:solidFill>
                <a:schemeClr val="accent4"/>
              </a:solidFill>
            </a:rPr>
            <a:t>Uses of </a:t>
          </a:r>
          <a:r>
            <a:rPr lang="fr-FR" b="1" dirty="0" err="1">
              <a:solidFill>
                <a:schemeClr val="accent4"/>
              </a:solidFill>
            </a:rPr>
            <a:t>income</a:t>
          </a:r>
          <a:r>
            <a:rPr lang="fr-FR" b="1" dirty="0">
              <a:solidFill>
                <a:schemeClr val="accent4"/>
              </a:solidFill>
            </a:rPr>
            <a:t> </a:t>
          </a:r>
          <a:endParaRPr lang="en-GB" b="1" noProof="0" dirty="0">
            <a:solidFill>
              <a:schemeClr val="accent4"/>
            </a:solidFill>
          </a:endParaRPr>
        </a:p>
      </dgm:t>
    </dgm:pt>
    <dgm:pt modelId="{BD15A5F6-F0AC-4F0C-A767-7CF88CD441F8}" type="parTrans" cxnId="{C1343512-D081-40DF-A40B-3858684EF070}">
      <dgm:prSet/>
      <dgm:spPr/>
      <dgm:t>
        <a:bodyPr/>
        <a:lstStyle/>
        <a:p>
          <a:endParaRPr lang="fr-FR"/>
        </a:p>
      </dgm:t>
    </dgm:pt>
    <dgm:pt modelId="{FD88CFF6-C844-4E3C-8A52-BA95C02F3B69}" type="sibTrans" cxnId="{C1343512-D081-40DF-A40B-3858684EF070}">
      <dgm:prSet/>
      <dgm:spPr/>
      <dgm:t>
        <a:bodyPr/>
        <a:lstStyle/>
        <a:p>
          <a:endParaRPr lang="fr-FR"/>
        </a:p>
      </dgm:t>
    </dgm:pt>
    <dgm:pt modelId="{172669B4-78DC-4691-93BF-DBE819F8B70D}">
      <dgm:prSet phldrT="[Texte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sz="2000" b="1" noProof="0" dirty="0"/>
            <a:t>Fixed income </a:t>
          </a:r>
          <a:r>
            <a:rPr lang="en-GB" sz="1700" noProof="0" dirty="0"/>
            <a:t>(sticky wages)</a:t>
          </a:r>
        </a:p>
      </dgm:t>
    </dgm:pt>
    <dgm:pt modelId="{BEA7B463-BF28-4458-BC97-B13C84B07787}" type="parTrans" cxnId="{C3F4D8B2-9013-4E4C-B21E-4C46CF6B8D00}">
      <dgm:prSet/>
      <dgm:spPr/>
      <dgm:t>
        <a:bodyPr/>
        <a:lstStyle/>
        <a:p>
          <a:endParaRPr lang="fr-FR"/>
        </a:p>
      </dgm:t>
    </dgm:pt>
    <dgm:pt modelId="{02E92A80-2FE8-459E-B79D-728EFAEBB0E3}" type="sibTrans" cxnId="{C3F4D8B2-9013-4E4C-B21E-4C46CF6B8D00}">
      <dgm:prSet/>
      <dgm:spPr/>
      <dgm:t>
        <a:bodyPr/>
        <a:lstStyle/>
        <a:p>
          <a:endParaRPr lang="fr-FR"/>
        </a:p>
      </dgm:t>
    </dgm:pt>
    <dgm:pt modelId="{2C6AF700-38B6-4CFE-B040-70A02B2A1753}">
      <dgm:prSet phldrT="[Texte]"/>
      <dgm:spPr/>
      <dgm:t>
        <a:bodyPr/>
        <a:lstStyle/>
        <a:p>
          <a:r>
            <a:rPr lang="en-GB" noProof="0" dirty="0"/>
            <a:t>Consumption</a:t>
          </a:r>
        </a:p>
      </dgm:t>
    </dgm:pt>
    <dgm:pt modelId="{0DF41C5F-CB77-402D-B7D4-EB9CB429D1EF}" type="parTrans" cxnId="{807BAC23-55C8-4389-B7E6-31257507ACF8}">
      <dgm:prSet/>
      <dgm:spPr/>
      <dgm:t>
        <a:bodyPr/>
        <a:lstStyle/>
        <a:p>
          <a:endParaRPr lang="fr-FR"/>
        </a:p>
      </dgm:t>
    </dgm:pt>
    <dgm:pt modelId="{D8F72982-A2E1-42ED-B3E7-FEFA2A11AD5A}" type="sibTrans" cxnId="{807BAC23-55C8-4389-B7E6-31257507ACF8}">
      <dgm:prSet/>
      <dgm:spPr/>
      <dgm:t>
        <a:bodyPr/>
        <a:lstStyle/>
        <a:p>
          <a:endParaRPr lang="fr-FR"/>
        </a:p>
      </dgm:t>
    </dgm:pt>
    <dgm:pt modelId="{D5A3FAD6-A97F-42D7-9266-8C42CEAC4DA6}">
      <dgm:prSet phldrT="[Texte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en-GB" sz="1700" noProof="0" dirty="0"/>
        </a:p>
        <a:p>
          <a:r>
            <a:rPr lang="en-GB" sz="1600" b="1" noProof="0" dirty="0"/>
            <a:t>Savings </a:t>
          </a:r>
          <a:r>
            <a:rPr lang="fr-FR" sz="1400" dirty="0"/>
            <a:t>If inflation &gt; </a:t>
          </a:r>
          <a:r>
            <a:rPr lang="fr-FR" sz="1400" dirty="0" err="1"/>
            <a:t>interest</a:t>
          </a:r>
          <a:r>
            <a:rPr lang="fr-FR" sz="1400" dirty="0"/>
            <a:t> rate</a:t>
          </a:r>
        </a:p>
        <a:p>
          <a:r>
            <a:rPr lang="fr-FR" sz="1400" dirty="0"/>
            <a:t>                    inflation &lt; </a:t>
          </a:r>
          <a:r>
            <a:rPr lang="fr-FR" sz="1400" dirty="0" err="1"/>
            <a:t>interest</a:t>
          </a:r>
          <a:r>
            <a:rPr lang="fr-FR" sz="1400" dirty="0"/>
            <a:t> rate </a:t>
          </a:r>
        </a:p>
        <a:p>
          <a:r>
            <a:rPr lang="fr-FR" sz="1400" dirty="0"/>
            <a:t> </a:t>
          </a:r>
          <a:endParaRPr lang="en-GB" sz="1400" noProof="0" dirty="0"/>
        </a:p>
      </dgm:t>
    </dgm:pt>
    <dgm:pt modelId="{7D81A6D5-5FA2-4E3F-8045-B930528A11E8}" type="parTrans" cxnId="{8A400E67-4631-4A5C-9D68-56582D5181DC}">
      <dgm:prSet/>
      <dgm:spPr/>
      <dgm:t>
        <a:bodyPr/>
        <a:lstStyle/>
        <a:p>
          <a:endParaRPr lang="fr-FR"/>
        </a:p>
      </dgm:t>
    </dgm:pt>
    <dgm:pt modelId="{525816E1-67E3-4ED7-9170-63C7F95B5246}" type="sibTrans" cxnId="{8A400E67-4631-4A5C-9D68-56582D5181DC}">
      <dgm:prSet/>
      <dgm:spPr/>
      <dgm:t>
        <a:bodyPr/>
        <a:lstStyle/>
        <a:p>
          <a:endParaRPr lang="fr-FR"/>
        </a:p>
      </dgm:t>
    </dgm:pt>
    <dgm:pt modelId="{1CB89EA3-6637-4853-8527-CBAB9DED94AA}">
      <dgm:prSet phldrT="[Texte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GB" sz="2000" b="1" noProof="0" dirty="0"/>
            <a:t>Flexible income </a:t>
          </a:r>
          <a:r>
            <a:rPr lang="en-GB" sz="1600" noProof="0" dirty="0"/>
            <a:t>(income hedged or indexed to inflation)</a:t>
          </a:r>
        </a:p>
      </dgm:t>
    </dgm:pt>
    <dgm:pt modelId="{FC295D61-B924-42DA-B0B3-C39A9508EF96}" type="parTrans" cxnId="{F19B16D2-EFCD-4F9E-A0DC-56166A931E52}">
      <dgm:prSet/>
      <dgm:spPr/>
      <dgm:t>
        <a:bodyPr/>
        <a:lstStyle/>
        <a:p>
          <a:endParaRPr lang="fr-FR"/>
        </a:p>
      </dgm:t>
    </dgm:pt>
    <dgm:pt modelId="{F430AAE9-27E3-4983-B68B-CA06137EAFBA}" type="sibTrans" cxnId="{F19B16D2-EFCD-4F9E-A0DC-56166A931E52}">
      <dgm:prSet/>
      <dgm:spPr/>
      <dgm:t>
        <a:bodyPr/>
        <a:lstStyle/>
        <a:p>
          <a:endParaRPr lang="fr-FR"/>
        </a:p>
      </dgm:t>
    </dgm:pt>
    <dgm:pt modelId="{3800F6AC-4792-4A10-9E9C-DB78CA163A6D}" type="pres">
      <dgm:prSet presAssocID="{9C86B0B6-4D2D-4551-89F1-679904DA318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BB4F4C-63EC-4DEE-B52B-DA9D13E711FF}" type="pres">
      <dgm:prSet presAssocID="{8D44FE76-5569-4D7B-8734-7E05067F3916}" presName="vertOne" presStyleCnt="0"/>
      <dgm:spPr/>
    </dgm:pt>
    <dgm:pt modelId="{52A40553-68FA-41A5-83BB-347A86993CEF}" type="pres">
      <dgm:prSet presAssocID="{8D44FE76-5569-4D7B-8734-7E05067F3916}" presName="txOne" presStyleLbl="node0" presStyleIdx="0" presStyleCnt="1">
        <dgm:presLayoutVars>
          <dgm:chPref val="3"/>
        </dgm:presLayoutVars>
      </dgm:prSet>
      <dgm:spPr/>
    </dgm:pt>
    <dgm:pt modelId="{2D03BC7E-D456-49B1-8BB9-7B2CD3EFFA07}" type="pres">
      <dgm:prSet presAssocID="{8D44FE76-5569-4D7B-8734-7E05067F3916}" presName="parTransOne" presStyleCnt="0"/>
      <dgm:spPr/>
    </dgm:pt>
    <dgm:pt modelId="{88728A28-9F5A-4317-B14D-BA3E24EEE8CB}" type="pres">
      <dgm:prSet presAssocID="{8D44FE76-5569-4D7B-8734-7E05067F3916}" presName="horzOne" presStyleCnt="0"/>
      <dgm:spPr/>
    </dgm:pt>
    <dgm:pt modelId="{DAC01117-AB4D-40F4-9093-39964C0B06E6}" type="pres">
      <dgm:prSet presAssocID="{2C6AF700-38B6-4CFE-B040-70A02B2A1753}" presName="vertTwo" presStyleCnt="0"/>
      <dgm:spPr/>
    </dgm:pt>
    <dgm:pt modelId="{2764C3AE-CEA4-4A16-BB98-8BE8E5B98B1C}" type="pres">
      <dgm:prSet presAssocID="{2C6AF700-38B6-4CFE-B040-70A02B2A1753}" presName="txTwo" presStyleLbl="node2" presStyleIdx="0" presStyleCnt="2" custLinFactX="8209" custLinFactNeighborX="100000" custLinFactNeighborY="-2969">
        <dgm:presLayoutVars>
          <dgm:chPref val="3"/>
        </dgm:presLayoutVars>
      </dgm:prSet>
      <dgm:spPr/>
    </dgm:pt>
    <dgm:pt modelId="{EB68A925-26FD-4F39-8676-74F2FC286AF2}" type="pres">
      <dgm:prSet presAssocID="{2C6AF700-38B6-4CFE-B040-70A02B2A1753}" presName="parTransTwo" presStyleCnt="0"/>
      <dgm:spPr/>
    </dgm:pt>
    <dgm:pt modelId="{EC760CC8-309A-4070-B776-EE30629814D4}" type="pres">
      <dgm:prSet presAssocID="{2C6AF700-38B6-4CFE-B040-70A02B2A1753}" presName="horzTwo" presStyleCnt="0"/>
      <dgm:spPr/>
    </dgm:pt>
    <dgm:pt modelId="{7919D7C8-09D3-4470-B1CB-DC0B9990E552}" type="pres">
      <dgm:prSet presAssocID="{D5A3FAD6-A97F-42D7-9266-8C42CEAC4DA6}" presName="vertThree" presStyleCnt="0"/>
      <dgm:spPr/>
    </dgm:pt>
    <dgm:pt modelId="{7FBCD897-B6EA-4796-97AC-CEA5FE6C18DF}" type="pres">
      <dgm:prSet presAssocID="{D5A3FAD6-A97F-42D7-9266-8C42CEAC4DA6}" presName="txThree" presStyleLbl="node3" presStyleIdx="0" presStyleCnt="2" custLinFactX="7865" custLinFactNeighborX="100000" custLinFactNeighborY="1431">
        <dgm:presLayoutVars>
          <dgm:chPref val="3"/>
        </dgm:presLayoutVars>
      </dgm:prSet>
      <dgm:spPr/>
    </dgm:pt>
    <dgm:pt modelId="{8DBCEBF5-F77E-4416-A752-CDEE40454AE4}" type="pres">
      <dgm:prSet presAssocID="{D5A3FAD6-A97F-42D7-9266-8C42CEAC4DA6}" presName="horzThree" presStyleCnt="0"/>
      <dgm:spPr/>
    </dgm:pt>
    <dgm:pt modelId="{6FDC0625-9604-472B-9D42-39CDA020A04F}" type="pres">
      <dgm:prSet presAssocID="{D8F72982-A2E1-42ED-B3E7-FEFA2A11AD5A}" presName="sibSpaceTwo" presStyleCnt="0"/>
      <dgm:spPr/>
    </dgm:pt>
    <dgm:pt modelId="{A43900F6-6572-43EF-8FA2-74A747F97C31}" type="pres">
      <dgm:prSet presAssocID="{172669B4-78DC-4691-93BF-DBE819F8B70D}" presName="vertTwo" presStyleCnt="0"/>
      <dgm:spPr/>
    </dgm:pt>
    <dgm:pt modelId="{27DAED92-3F06-4E22-8BC2-471F9F0AE648}" type="pres">
      <dgm:prSet presAssocID="{172669B4-78DC-4691-93BF-DBE819F8B70D}" presName="txTwo" presStyleLbl="node2" presStyleIdx="1" presStyleCnt="2" custLinFactX="-7597" custLinFactNeighborX="-100000" custLinFactNeighborY="-30041">
        <dgm:presLayoutVars>
          <dgm:chPref val="3"/>
        </dgm:presLayoutVars>
      </dgm:prSet>
      <dgm:spPr/>
    </dgm:pt>
    <dgm:pt modelId="{73C85FD9-C6A6-4233-9AFE-5FE2ADEB56B6}" type="pres">
      <dgm:prSet presAssocID="{172669B4-78DC-4691-93BF-DBE819F8B70D}" presName="parTransTwo" presStyleCnt="0"/>
      <dgm:spPr/>
    </dgm:pt>
    <dgm:pt modelId="{AF472FD6-B17D-462B-9B10-3E2DB9EF6A32}" type="pres">
      <dgm:prSet presAssocID="{172669B4-78DC-4691-93BF-DBE819F8B70D}" presName="horzTwo" presStyleCnt="0"/>
      <dgm:spPr/>
    </dgm:pt>
    <dgm:pt modelId="{2F93531B-2DB6-496D-9AAE-68230F57CC6E}" type="pres">
      <dgm:prSet presAssocID="{1CB89EA3-6637-4853-8527-CBAB9DED94AA}" presName="vertThree" presStyleCnt="0"/>
      <dgm:spPr/>
    </dgm:pt>
    <dgm:pt modelId="{87D44C6A-C0DB-45D5-B709-C4BF3CE76CD2}" type="pres">
      <dgm:prSet presAssocID="{1CB89EA3-6637-4853-8527-CBAB9DED94AA}" presName="txThree" presStyleLbl="node3" presStyleIdx="1" presStyleCnt="2" custLinFactX="-8440" custLinFactNeighborX="-100000" custLinFactNeighborY="-1433">
        <dgm:presLayoutVars>
          <dgm:chPref val="3"/>
        </dgm:presLayoutVars>
      </dgm:prSet>
      <dgm:spPr/>
    </dgm:pt>
    <dgm:pt modelId="{4162A57E-DC29-4B67-A402-17557B537CCC}" type="pres">
      <dgm:prSet presAssocID="{1CB89EA3-6637-4853-8527-CBAB9DED94AA}" presName="horzThree" presStyleCnt="0"/>
      <dgm:spPr/>
    </dgm:pt>
  </dgm:ptLst>
  <dgm:cxnLst>
    <dgm:cxn modelId="{7C657A01-5DB2-4C90-959C-5A75BD176A55}" type="presOf" srcId="{D5A3FAD6-A97F-42D7-9266-8C42CEAC4DA6}" destId="{7FBCD897-B6EA-4796-97AC-CEA5FE6C18DF}" srcOrd="0" destOrd="0" presId="urn:microsoft.com/office/officeart/2005/8/layout/hierarchy4"/>
    <dgm:cxn modelId="{C1343512-D081-40DF-A40B-3858684EF070}" srcId="{9C86B0B6-4D2D-4551-89F1-679904DA318E}" destId="{8D44FE76-5569-4D7B-8734-7E05067F3916}" srcOrd="0" destOrd="0" parTransId="{BD15A5F6-F0AC-4F0C-A767-7CF88CD441F8}" sibTransId="{FD88CFF6-C844-4E3C-8A52-BA95C02F3B69}"/>
    <dgm:cxn modelId="{807BAC23-55C8-4389-B7E6-31257507ACF8}" srcId="{8D44FE76-5569-4D7B-8734-7E05067F3916}" destId="{2C6AF700-38B6-4CFE-B040-70A02B2A1753}" srcOrd="0" destOrd="0" parTransId="{0DF41C5F-CB77-402D-B7D4-EB9CB429D1EF}" sibTransId="{D8F72982-A2E1-42ED-B3E7-FEFA2A11AD5A}"/>
    <dgm:cxn modelId="{9AFECC2D-8BAF-4F72-B15E-41B45BDD190E}" type="presOf" srcId="{8D44FE76-5569-4D7B-8734-7E05067F3916}" destId="{52A40553-68FA-41A5-83BB-347A86993CEF}" srcOrd="0" destOrd="0" presId="urn:microsoft.com/office/officeart/2005/8/layout/hierarchy4"/>
    <dgm:cxn modelId="{8A400E67-4631-4A5C-9D68-56582D5181DC}" srcId="{2C6AF700-38B6-4CFE-B040-70A02B2A1753}" destId="{D5A3FAD6-A97F-42D7-9266-8C42CEAC4DA6}" srcOrd="0" destOrd="0" parTransId="{7D81A6D5-5FA2-4E3F-8045-B930528A11E8}" sibTransId="{525816E1-67E3-4ED7-9170-63C7F95B5246}"/>
    <dgm:cxn modelId="{45C7D16A-CA84-4E07-92E0-2DE2C532D62D}" type="presOf" srcId="{1CB89EA3-6637-4853-8527-CBAB9DED94AA}" destId="{87D44C6A-C0DB-45D5-B709-C4BF3CE76CD2}" srcOrd="0" destOrd="0" presId="urn:microsoft.com/office/officeart/2005/8/layout/hierarchy4"/>
    <dgm:cxn modelId="{404D4299-F2B8-4F64-95CA-B64683805ECB}" type="presOf" srcId="{9C86B0B6-4D2D-4551-89F1-679904DA318E}" destId="{3800F6AC-4792-4A10-9E9C-DB78CA163A6D}" srcOrd="0" destOrd="0" presId="urn:microsoft.com/office/officeart/2005/8/layout/hierarchy4"/>
    <dgm:cxn modelId="{6B4A85A2-DBC1-4240-A856-6C9C369B81A6}" type="presOf" srcId="{172669B4-78DC-4691-93BF-DBE819F8B70D}" destId="{27DAED92-3F06-4E22-8BC2-471F9F0AE648}" srcOrd="0" destOrd="0" presId="urn:microsoft.com/office/officeart/2005/8/layout/hierarchy4"/>
    <dgm:cxn modelId="{C3F4D8B2-9013-4E4C-B21E-4C46CF6B8D00}" srcId="{8D44FE76-5569-4D7B-8734-7E05067F3916}" destId="{172669B4-78DC-4691-93BF-DBE819F8B70D}" srcOrd="1" destOrd="0" parTransId="{BEA7B463-BF28-4458-BC97-B13C84B07787}" sibTransId="{02E92A80-2FE8-459E-B79D-728EFAEBB0E3}"/>
    <dgm:cxn modelId="{F19B16D2-EFCD-4F9E-A0DC-56166A931E52}" srcId="{172669B4-78DC-4691-93BF-DBE819F8B70D}" destId="{1CB89EA3-6637-4853-8527-CBAB9DED94AA}" srcOrd="0" destOrd="0" parTransId="{FC295D61-B924-42DA-B0B3-C39A9508EF96}" sibTransId="{F430AAE9-27E3-4983-B68B-CA06137EAFBA}"/>
    <dgm:cxn modelId="{42C47CF5-5B34-421F-AB45-B9612E80E467}" type="presOf" srcId="{2C6AF700-38B6-4CFE-B040-70A02B2A1753}" destId="{2764C3AE-CEA4-4A16-BB98-8BE8E5B98B1C}" srcOrd="0" destOrd="0" presId="urn:microsoft.com/office/officeart/2005/8/layout/hierarchy4"/>
    <dgm:cxn modelId="{22A19341-5C9E-476C-B509-1E019C3C39A7}" type="presParOf" srcId="{3800F6AC-4792-4A10-9E9C-DB78CA163A6D}" destId="{B1BB4F4C-63EC-4DEE-B52B-DA9D13E711FF}" srcOrd="0" destOrd="0" presId="urn:microsoft.com/office/officeart/2005/8/layout/hierarchy4"/>
    <dgm:cxn modelId="{086E8D78-8E68-494F-9C1B-E972D67BBC9F}" type="presParOf" srcId="{B1BB4F4C-63EC-4DEE-B52B-DA9D13E711FF}" destId="{52A40553-68FA-41A5-83BB-347A86993CEF}" srcOrd="0" destOrd="0" presId="urn:microsoft.com/office/officeart/2005/8/layout/hierarchy4"/>
    <dgm:cxn modelId="{5C1DF420-44B4-4663-A27F-631B19B371AA}" type="presParOf" srcId="{B1BB4F4C-63EC-4DEE-B52B-DA9D13E711FF}" destId="{2D03BC7E-D456-49B1-8BB9-7B2CD3EFFA07}" srcOrd="1" destOrd="0" presId="urn:microsoft.com/office/officeart/2005/8/layout/hierarchy4"/>
    <dgm:cxn modelId="{3394650B-0FE5-496E-BF16-E8A437A2DCB9}" type="presParOf" srcId="{B1BB4F4C-63EC-4DEE-B52B-DA9D13E711FF}" destId="{88728A28-9F5A-4317-B14D-BA3E24EEE8CB}" srcOrd="2" destOrd="0" presId="urn:microsoft.com/office/officeart/2005/8/layout/hierarchy4"/>
    <dgm:cxn modelId="{7152A71E-7782-4768-9F72-CAF364F6B8DD}" type="presParOf" srcId="{88728A28-9F5A-4317-B14D-BA3E24EEE8CB}" destId="{DAC01117-AB4D-40F4-9093-39964C0B06E6}" srcOrd="0" destOrd="0" presId="urn:microsoft.com/office/officeart/2005/8/layout/hierarchy4"/>
    <dgm:cxn modelId="{D564B147-D686-4570-870A-354BBA945E8C}" type="presParOf" srcId="{DAC01117-AB4D-40F4-9093-39964C0B06E6}" destId="{2764C3AE-CEA4-4A16-BB98-8BE8E5B98B1C}" srcOrd="0" destOrd="0" presId="urn:microsoft.com/office/officeart/2005/8/layout/hierarchy4"/>
    <dgm:cxn modelId="{C7A8D763-B748-4619-9DBB-038955487CBE}" type="presParOf" srcId="{DAC01117-AB4D-40F4-9093-39964C0B06E6}" destId="{EB68A925-26FD-4F39-8676-74F2FC286AF2}" srcOrd="1" destOrd="0" presId="urn:microsoft.com/office/officeart/2005/8/layout/hierarchy4"/>
    <dgm:cxn modelId="{75E65609-EAF1-47FA-9832-B29347C39144}" type="presParOf" srcId="{DAC01117-AB4D-40F4-9093-39964C0B06E6}" destId="{EC760CC8-309A-4070-B776-EE30629814D4}" srcOrd="2" destOrd="0" presId="urn:microsoft.com/office/officeart/2005/8/layout/hierarchy4"/>
    <dgm:cxn modelId="{B2C68577-6124-46DB-965F-8C70AED5FAF3}" type="presParOf" srcId="{EC760CC8-309A-4070-B776-EE30629814D4}" destId="{7919D7C8-09D3-4470-B1CB-DC0B9990E552}" srcOrd="0" destOrd="0" presId="urn:microsoft.com/office/officeart/2005/8/layout/hierarchy4"/>
    <dgm:cxn modelId="{DF205DBF-B593-4FC1-9B6C-026291AB321C}" type="presParOf" srcId="{7919D7C8-09D3-4470-B1CB-DC0B9990E552}" destId="{7FBCD897-B6EA-4796-97AC-CEA5FE6C18DF}" srcOrd="0" destOrd="0" presId="urn:microsoft.com/office/officeart/2005/8/layout/hierarchy4"/>
    <dgm:cxn modelId="{8DEB07DC-DE01-48AA-AB90-E0EF824D872F}" type="presParOf" srcId="{7919D7C8-09D3-4470-B1CB-DC0B9990E552}" destId="{8DBCEBF5-F77E-4416-A752-CDEE40454AE4}" srcOrd="1" destOrd="0" presId="urn:microsoft.com/office/officeart/2005/8/layout/hierarchy4"/>
    <dgm:cxn modelId="{55EB265F-6EBA-427E-8432-6742D070FD66}" type="presParOf" srcId="{88728A28-9F5A-4317-B14D-BA3E24EEE8CB}" destId="{6FDC0625-9604-472B-9D42-39CDA020A04F}" srcOrd="1" destOrd="0" presId="urn:microsoft.com/office/officeart/2005/8/layout/hierarchy4"/>
    <dgm:cxn modelId="{006C6FBE-F898-46DF-9071-BFE2B894C0C8}" type="presParOf" srcId="{88728A28-9F5A-4317-B14D-BA3E24EEE8CB}" destId="{A43900F6-6572-43EF-8FA2-74A747F97C31}" srcOrd="2" destOrd="0" presId="urn:microsoft.com/office/officeart/2005/8/layout/hierarchy4"/>
    <dgm:cxn modelId="{8FF9C792-42EA-4573-B4EA-868F2E1A299B}" type="presParOf" srcId="{A43900F6-6572-43EF-8FA2-74A747F97C31}" destId="{27DAED92-3F06-4E22-8BC2-471F9F0AE648}" srcOrd="0" destOrd="0" presId="urn:microsoft.com/office/officeart/2005/8/layout/hierarchy4"/>
    <dgm:cxn modelId="{7E0D2B01-801E-4CE1-9FFD-340219EA9667}" type="presParOf" srcId="{A43900F6-6572-43EF-8FA2-74A747F97C31}" destId="{73C85FD9-C6A6-4233-9AFE-5FE2ADEB56B6}" srcOrd="1" destOrd="0" presId="urn:microsoft.com/office/officeart/2005/8/layout/hierarchy4"/>
    <dgm:cxn modelId="{F9B19C00-B4FE-4D3B-A344-ED012C7C221C}" type="presParOf" srcId="{A43900F6-6572-43EF-8FA2-74A747F97C31}" destId="{AF472FD6-B17D-462B-9B10-3E2DB9EF6A32}" srcOrd="2" destOrd="0" presId="urn:microsoft.com/office/officeart/2005/8/layout/hierarchy4"/>
    <dgm:cxn modelId="{BCB760EC-33DE-4102-AB58-811C01EC9795}" type="presParOf" srcId="{AF472FD6-B17D-462B-9B10-3E2DB9EF6A32}" destId="{2F93531B-2DB6-496D-9AAE-68230F57CC6E}" srcOrd="0" destOrd="0" presId="urn:microsoft.com/office/officeart/2005/8/layout/hierarchy4"/>
    <dgm:cxn modelId="{E57EBBB9-C50B-4F62-BDD1-43F963A44714}" type="presParOf" srcId="{2F93531B-2DB6-496D-9AAE-68230F57CC6E}" destId="{87D44C6A-C0DB-45D5-B709-C4BF3CE76CD2}" srcOrd="0" destOrd="0" presId="urn:microsoft.com/office/officeart/2005/8/layout/hierarchy4"/>
    <dgm:cxn modelId="{BC45725E-A6E5-46FD-975E-4D33CEDEF844}" type="presParOf" srcId="{2F93531B-2DB6-496D-9AAE-68230F57CC6E}" destId="{4162A57E-DC29-4B67-A402-17557B537CC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86B0B6-4D2D-4551-89F1-679904DA318E}" type="doc">
      <dgm:prSet loTypeId="urn:microsoft.com/office/officeart/2005/8/layout/hierarchy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48FC4143-43DB-4CED-9A83-98A28F3C9B9A}">
      <dgm:prSet phldrT="[Texte]" custT="1"/>
      <dgm:spPr>
        <a:solidFill>
          <a:schemeClr val="bg1"/>
        </a:solidFill>
      </dgm:spPr>
      <dgm:t>
        <a:bodyPr/>
        <a:lstStyle/>
        <a:p>
          <a:r>
            <a:rPr lang="en-GB" sz="2000" noProof="0" dirty="0"/>
            <a:t>Wages</a:t>
          </a:r>
        </a:p>
      </dgm:t>
    </dgm:pt>
    <dgm:pt modelId="{090D5A7A-EBFE-4244-87A8-19EAC8C18243}" type="parTrans" cxnId="{94D76BD7-C50C-42A0-92D5-213542013335}">
      <dgm:prSet/>
      <dgm:spPr/>
      <dgm:t>
        <a:bodyPr/>
        <a:lstStyle/>
        <a:p>
          <a:endParaRPr lang="fr-FR"/>
        </a:p>
      </dgm:t>
    </dgm:pt>
    <dgm:pt modelId="{2910CF80-88F8-475A-96D8-91A052FC9EB9}" type="sibTrans" cxnId="{94D76BD7-C50C-42A0-92D5-213542013335}">
      <dgm:prSet/>
      <dgm:spPr/>
      <dgm:t>
        <a:bodyPr/>
        <a:lstStyle/>
        <a:p>
          <a:endParaRPr lang="fr-FR"/>
        </a:p>
      </dgm:t>
    </dgm:pt>
    <dgm:pt modelId="{2C6AF700-38B6-4CFE-B040-70A02B2A1753}">
      <dgm:prSet phldrT="[Texte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GB" b="1" noProof="0" dirty="0"/>
            <a:t>Consumption</a:t>
          </a:r>
          <a:r>
            <a:rPr lang="en-GB" noProof="0" dirty="0"/>
            <a:t>(</a:t>
          </a:r>
          <a:r>
            <a:rPr lang="en-GB" noProof="0" dirty="0" err="1"/>
            <a:t>weights</a:t>
          </a:r>
          <a:r>
            <a:rPr lang="en-GB" baseline="-25000" noProof="0" dirty="0" err="1"/>
            <a:t>goods</a:t>
          </a:r>
          <a:r>
            <a:rPr lang="en-GB" baseline="30000" noProof="0" dirty="0" err="1"/>
            <a:t>HH</a:t>
          </a:r>
          <a:r>
            <a:rPr lang="en-GB" baseline="30000" noProof="0" dirty="0"/>
            <a:t> categories</a:t>
          </a:r>
          <a:r>
            <a:rPr lang="en-GB" noProof="0" dirty="0"/>
            <a:t>) </a:t>
          </a:r>
        </a:p>
      </dgm:t>
    </dgm:pt>
    <dgm:pt modelId="{0DF41C5F-CB77-402D-B7D4-EB9CB429D1EF}" type="parTrans" cxnId="{807BAC23-55C8-4389-B7E6-31257507ACF8}">
      <dgm:prSet/>
      <dgm:spPr/>
      <dgm:t>
        <a:bodyPr/>
        <a:lstStyle/>
        <a:p>
          <a:endParaRPr lang="fr-FR"/>
        </a:p>
      </dgm:t>
    </dgm:pt>
    <dgm:pt modelId="{D8F72982-A2E1-42ED-B3E7-FEFA2A11AD5A}" type="sibTrans" cxnId="{807BAC23-55C8-4389-B7E6-31257507ACF8}">
      <dgm:prSet/>
      <dgm:spPr/>
      <dgm:t>
        <a:bodyPr/>
        <a:lstStyle/>
        <a:p>
          <a:endParaRPr lang="fr-FR"/>
        </a:p>
      </dgm:t>
    </dgm:pt>
    <dgm:pt modelId="{1C2EEAD2-3757-40E3-8ECD-F9F9CBAC4BDC}">
      <dgm:prSet phldrT="[Texte]" custT="1"/>
      <dgm:spPr/>
      <dgm:t>
        <a:bodyPr/>
        <a:lstStyle/>
        <a:p>
          <a:r>
            <a:rPr lang="en-GB" sz="2000" noProof="0" dirty="0"/>
            <a:t>Taxes</a:t>
          </a:r>
        </a:p>
      </dgm:t>
    </dgm:pt>
    <dgm:pt modelId="{638F0CC5-6F95-45F7-BC8F-06D13206F645}" type="parTrans" cxnId="{60F64D03-45E0-41DB-A39D-6D996B042559}">
      <dgm:prSet/>
      <dgm:spPr/>
      <dgm:t>
        <a:bodyPr/>
        <a:lstStyle/>
        <a:p>
          <a:endParaRPr lang="fr-FR"/>
        </a:p>
      </dgm:t>
    </dgm:pt>
    <dgm:pt modelId="{98518475-42B3-4A63-83C5-7DF2067FB55F}" type="sibTrans" cxnId="{60F64D03-45E0-41DB-A39D-6D996B042559}">
      <dgm:prSet/>
      <dgm:spPr/>
      <dgm:t>
        <a:bodyPr/>
        <a:lstStyle/>
        <a:p>
          <a:endParaRPr lang="fr-FR"/>
        </a:p>
      </dgm:t>
    </dgm:pt>
    <dgm:pt modelId="{D5A3FAD6-A97F-42D7-9266-8C42CEAC4DA6}">
      <dgm:prSet phldrT="[Texte]" custT="1"/>
      <dgm:spPr>
        <a:noFill/>
      </dgm:spPr>
      <dgm:t>
        <a:bodyPr/>
        <a:lstStyle/>
        <a:p>
          <a:r>
            <a:rPr lang="en-GB" sz="2000" noProof="0" dirty="0"/>
            <a:t>Savings</a:t>
          </a:r>
        </a:p>
      </dgm:t>
    </dgm:pt>
    <dgm:pt modelId="{7D81A6D5-5FA2-4E3F-8045-B930528A11E8}" type="parTrans" cxnId="{8A400E67-4631-4A5C-9D68-56582D5181DC}">
      <dgm:prSet/>
      <dgm:spPr/>
      <dgm:t>
        <a:bodyPr/>
        <a:lstStyle/>
        <a:p>
          <a:endParaRPr lang="fr-FR"/>
        </a:p>
      </dgm:t>
    </dgm:pt>
    <dgm:pt modelId="{525816E1-67E3-4ED7-9170-63C7F95B5246}" type="sibTrans" cxnId="{8A400E67-4631-4A5C-9D68-56582D5181DC}">
      <dgm:prSet/>
      <dgm:spPr/>
      <dgm:t>
        <a:bodyPr/>
        <a:lstStyle/>
        <a:p>
          <a:endParaRPr lang="fr-FR"/>
        </a:p>
      </dgm:t>
    </dgm:pt>
    <dgm:pt modelId="{EFE9A0A0-0AF8-496E-9786-8140E1DCC48D}">
      <dgm:prSet phldrT="[Texte]" custT="1"/>
      <dgm:spPr>
        <a:solidFill>
          <a:schemeClr val="bg1"/>
        </a:solidFill>
      </dgm:spPr>
      <dgm:t>
        <a:bodyPr/>
        <a:lstStyle/>
        <a:p>
          <a:r>
            <a:rPr lang="fr-FR" sz="2000" dirty="0" err="1"/>
            <a:t>Transfers</a:t>
          </a:r>
          <a:endParaRPr lang="en-GB" sz="2000" noProof="0" dirty="0"/>
        </a:p>
      </dgm:t>
    </dgm:pt>
    <dgm:pt modelId="{A40FE1A2-AF57-4EF8-A40B-A7A0941CAF38}" type="parTrans" cxnId="{BDFB27D2-19A0-4C5E-AFF1-6B8E48E5A661}">
      <dgm:prSet/>
      <dgm:spPr/>
      <dgm:t>
        <a:bodyPr/>
        <a:lstStyle/>
        <a:p>
          <a:endParaRPr lang="fr-FR"/>
        </a:p>
      </dgm:t>
    </dgm:pt>
    <dgm:pt modelId="{0E8431B8-D82A-4802-89F9-646B9804E08E}" type="sibTrans" cxnId="{BDFB27D2-19A0-4C5E-AFF1-6B8E48E5A661}">
      <dgm:prSet/>
      <dgm:spPr/>
      <dgm:t>
        <a:bodyPr/>
        <a:lstStyle/>
        <a:p>
          <a:endParaRPr lang="fr-FR"/>
        </a:p>
      </dgm:t>
    </dgm:pt>
    <dgm:pt modelId="{E8189FE8-7979-4FF1-B997-9671DF84F758}">
      <dgm:prSet phldrT="[Texte]"/>
      <dgm:spPr/>
      <dgm:t>
        <a:bodyPr/>
        <a:lstStyle/>
        <a:p>
          <a:r>
            <a:rPr lang="en-GB" b="1" noProof="0" dirty="0">
              <a:solidFill>
                <a:schemeClr val="accent4"/>
              </a:solidFill>
            </a:rPr>
            <a:t>Sources of income                   Uses of income  </a:t>
          </a:r>
        </a:p>
      </dgm:t>
    </dgm:pt>
    <dgm:pt modelId="{7E40A33F-7B5D-493F-BA7C-11BC6CA63087}" type="parTrans" cxnId="{863B2D4A-0418-4751-A730-4331574E4FC0}">
      <dgm:prSet/>
      <dgm:spPr/>
      <dgm:t>
        <a:bodyPr/>
        <a:lstStyle/>
        <a:p>
          <a:endParaRPr lang="fr-FR"/>
        </a:p>
      </dgm:t>
    </dgm:pt>
    <dgm:pt modelId="{7AD2BA76-4AAF-417F-A07F-A377B643F688}" type="sibTrans" cxnId="{863B2D4A-0418-4751-A730-4331574E4FC0}">
      <dgm:prSet/>
      <dgm:spPr/>
      <dgm:t>
        <a:bodyPr/>
        <a:lstStyle/>
        <a:p>
          <a:endParaRPr lang="fr-FR"/>
        </a:p>
      </dgm:t>
    </dgm:pt>
    <dgm:pt modelId="{1CB89EA3-6637-4853-8527-CBAB9DED94AA}">
      <dgm:prSet phldrT="[Texte]" custT="1"/>
      <dgm:spPr>
        <a:solidFill>
          <a:schemeClr val="bg1"/>
        </a:solidFill>
      </dgm:spPr>
      <dgm:t>
        <a:bodyPr/>
        <a:lstStyle/>
        <a:p>
          <a:r>
            <a:rPr lang="en-GB" sz="2000" noProof="0" dirty="0"/>
            <a:t>Other income (dividends..)</a:t>
          </a:r>
        </a:p>
      </dgm:t>
    </dgm:pt>
    <dgm:pt modelId="{F430AAE9-27E3-4983-B68B-CA06137EAFBA}" type="sibTrans" cxnId="{F19B16D2-EFCD-4F9E-A0DC-56166A931E52}">
      <dgm:prSet/>
      <dgm:spPr/>
      <dgm:t>
        <a:bodyPr/>
        <a:lstStyle/>
        <a:p>
          <a:endParaRPr lang="fr-FR"/>
        </a:p>
      </dgm:t>
    </dgm:pt>
    <dgm:pt modelId="{FC295D61-B924-42DA-B0B3-C39A9508EF96}" type="parTrans" cxnId="{F19B16D2-EFCD-4F9E-A0DC-56166A931E52}">
      <dgm:prSet/>
      <dgm:spPr/>
      <dgm:t>
        <a:bodyPr/>
        <a:lstStyle/>
        <a:p>
          <a:endParaRPr lang="fr-FR"/>
        </a:p>
      </dgm:t>
    </dgm:pt>
    <dgm:pt modelId="{3800F6AC-4792-4A10-9E9C-DB78CA163A6D}" type="pres">
      <dgm:prSet presAssocID="{9C86B0B6-4D2D-4551-89F1-679904DA318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815E71-C1FC-4412-87EF-F13FF5B0A33A}" type="pres">
      <dgm:prSet presAssocID="{E8189FE8-7979-4FF1-B997-9671DF84F758}" presName="vertOne" presStyleCnt="0"/>
      <dgm:spPr/>
    </dgm:pt>
    <dgm:pt modelId="{AA27796F-312C-4A5A-93AB-A2A1B92B25F0}" type="pres">
      <dgm:prSet presAssocID="{E8189FE8-7979-4FF1-B997-9671DF84F758}" presName="txOne" presStyleLbl="node0" presStyleIdx="0" presStyleCnt="1" custLinFactNeighborX="986" custLinFactNeighborY="5397">
        <dgm:presLayoutVars>
          <dgm:chPref val="3"/>
        </dgm:presLayoutVars>
      </dgm:prSet>
      <dgm:spPr/>
    </dgm:pt>
    <dgm:pt modelId="{63D59C06-51D4-4F1A-AC5F-D77CB7CDC87D}" type="pres">
      <dgm:prSet presAssocID="{E8189FE8-7979-4FF1-B997-9671DF84F758}" presName="parTransOne" presStyleCnt="0"/>
      <dgm:spPr/>
    </dgm:pt>
    <dgm:pt modelId="{2CA0DF6E-EC60-482A-AD52-80408AF47939}" type="pres">
      <dgm:prSet presAssocID="{E8189FE8-7979-4FF1-B997-9671DF84F758}" presName="horzOne" presStyleCnt="0"/>
      <dgm:spPr/>
    </dgm:pt>
    <dgm:pt modelId="{DAC01117-AB4D-40F4-9093-39964C0B06E6}" type="pres">
      <dgm:prSet presAssocID="{2C6AF700-38B6-4CFE-B040-70A02B2A1753}" presName="vertTwo" presStyleCnt="0"/>
      <dgm:spPr/>
    </dgm:pt>
    <dgm:pt modelId="{2764C3AE-CEA4-4A16-BB98-8BE8E5B98B1C}" type="pres">
      <dgm:prSet presAssocID="{2C6AF700-38B6-4CFE-B040-70A02B2A1753}" presName="txTwo" presStyleLbl="node2" presStyleIdx="0" presStyleCnt="2" custLinFactX="8170" custLinFactNeighborX="100000" custLinFactNeighborY="4434">
        <dgm:presLayoutVars>
          <dgm:chPref val="3"/>
        </dgm:presLayoutVars>
      </dgm:prSet>
      <dgm:spPr/>
    </dgm:pt>
    <dgm:pt modelId="{EB68A925-26FD-4F39-8676-74F2FC286AF2}" type="pres">
      <dgm:prSet presAssocID="{2C6AF700-38B6-4CFE-B040-70A02B2A1753}" presName="parTransTwo" presStyleCnt="0"/>
      <dgm:spPr/>
    </dgm:pt>
    <dgm:pt modelId="{EC760CC8-309A-4070-B776-EE30629814D4}" type="pres">
      <dgm:prSet presAssocID="{2C6AF700-38B6-4CFE-B040-70A02B2A1753}" presName="horzTwo" presStyleCnt="0"/>
      <dgm:spPr/>
    </dgm:pt>
    <dgm:pt modelId="{D9D45610-0AD5-4FE3-9B7D-A571912B0438}" type="pres">
      <dgm:prSet presAssocID="{1C2EEAD2-3757-40E3-8ECD-F9F9CBAC4BDC}" presName="vertThree" presStyleCnt="0"/>
      <dgm:spPr/>
    </dgm:pt>
    <dgm:pt modelId="{AC1B8582-1322-4C0B-8A57-414750C6DEC0}" type="pres">
      <dgm:prSet presAssocID="{1C2EEAD2-3757-40E3-8ECD-F9F9CBAC4BDC}" presName="txThree" presStyleLbl="node3" presStyleIdx="0" presStyleCnt="2" custLinFactX="7896" custLinFactNeighborX="100000" custLinFactNeighborY="5564">
        <dgm:presLayoutVars>
          <dgm:chPref val="3"/>
        </dgm:presLayoutVars>
      </dgm:prSet>
      <dgm:spPr/>
    </dgm:pt>
    <dgm:pt modelId="{5339D303-E714-416B-80ED-0E2E8E24EE74}" type="pres">
      <dgm:prSet presAssocID="{1C2EEAD2-3757-40E3-8ECD-F9F9CBAC4BDC}" presName="parTransThree" presStyleCnt="0"/>
      <dgm:spPr/>
    </dgm:pt>
    <dgm:pt modelId="{8EDCD43B-F0A5-49FB-A7D4-2B0F9405116D}" type="pres">
      <dgm:prSet presAssocID="{1C2EEAD2-3757-40E3-8ECD-F9F9CBAC4BDC}" presName="horzThree" presStyleCnt="0"/>
      <dgm:spPr/>
    </dgm:pt>
    <dgm:pt modelId="{9A557B30-B15C-4FFF-8FA6-81DA2407D272}" type="pres">
      <dgm:prSet presAssocID="{D5A3FAD6-A97F-42D7-9266-8C42CEAC4DA6}" presName="vertFour" presStyleCnt="0">
        <dgm:presLayoutVars>
          <dgm:chPref val="3"/>
        </dgm:presLayoutVars>
      </dgm:prSet>
      <dgm:spPr/>
    </dgm:pt>
    <dgm:pt modelId="{7B1CB2CD-AD87-4E08-8766-321387A66D04}" type="pres">
      <dgm:prSet presAssocID="{D5A3FAD6-A97F-42D7-9266-8C42CEAC4DA6}" presName="txFour" presStyleLbl="node4" presStyleIdx="0" presStyleCnt="2" custLinFactX="9159" custLinFactNeighborX="100000" custLinFactNeighborY="-9831">
        <dgm:presLayoutVars>
          <dgm:chPref val="3"/>
        </dgm:presLayoutVars>
      </dgm:prSet>
      <dgm:spPr/>
    </dgm:pt>
    <dgm:pt modelId="{BBD3652A-1C5D-4D43-9414-BDD2A593A183}" type="pres">
      <dgm:prSet presAssocID="{D5A3FAD6-A97F-42D7-9266-8C42CEAC4DA6}" presName="horzFour" presStyleCnt="0"/>
      <dgm:spPr/>
    </dgm:pt>
    <dgm:pt modelId="{6FDC0625-9604-472B-9D42-39CDA020A04F}" type="pres">
      <dgm:prSet presAssocID="{D8F72982-A2E1-42ED-B3E7-FEFA2A11AD5A}" presName="sibSpaceTwo" presStyleCnt="0"/>
      <dgm:spPr/>
    </dgm:pt>
    <dgm:pt modelId="{78E50DE9-FD57-49ED-B36A-A033613F9B49}" type="pres">
      <dgm:prSet presAssocID="{48FC4143-43DB-4CED-9A83-98A28F3C9B9A}" presName="vertTwo" presStyleCnt="0"/>
      <dgm:spPr/>
    </dgm:pt>
    <dgm:pt modelId="{7C9C8D6B-4F03-4C5F-B6C2-39C5270B7A04}" type="pres">
      <dgm:prSet presAssocID="{48FC4143-43DB-4CED-9A83-98A28F3C9B9A}" presName="txTwo" presStyleLbl="node2" presStyleIdx="1" presStyleCnt="2" custLinFactX="-8477" custLinFactNeighborX="-100000" custLinFactNeighborY="4458">
        <dgm:presLayoutVars>
          <dgm:chPref val="3"/>
        </dgm:presLayoutVars>
      </dgm:prSet>
      <dgm:spPr/>
    </dgm:pt>
    <dgm:pt modelId="{FA068E55-D4AF-456B-8F5F-32D1FAE4AE7D}" type="pres">
      <dgm:prSet presAssocID="{48FC4143-43DB-4CED-9A83-98A28F3C9B9A}" presName="parTransTwo" presStyleCnt="0"/>
      <dgm:spPr/>
    </dgm:pt>
    <dgm:pt modelId="{9CF1D524-7D17-4568-A5EA-82DF3209966A}" type="pres">
      <dgm:prSet presAssocID="{48FC4143-43DB-4CED-9A83-98A28F3C9B9A}" presName="horzTwo" presStyleCnt="0"/>
      <dgm:spPr/>
    </dgm:pt>
    <dgm:pt modelId="{42ABD508-1F50-4C8F-B3A3-C83FC63AE61B}" type="pres">
      <dgm:prSet presAssocID="{EFE9A0A0-0AF8-496E-9786-8140E1DCC48D}" presName="vertThree" presStyleCnt="0"/>
      <dgm:spPr/>
    </dgm:pt>
    <dgm:pt modelId="{2BED032A-97A1-44DF-8444-791C40560A65}" type="pres">
      <dgm:prSet presAssocID="{EFE9A0A0-0AF8-496E-9786-8140E1DCC48D}" presName="txThree" presStyleLbl="node3" presStyleIdx="1" presStyleCnt="2" custLinFactX="-9246" custLinFactNeighborX="-100000" custLinFactNeighborY="-18420">
        <dgm:presLayoutVars>
          <dgm:chPref val="3"/>
        </dgm:presLayoutVars>
      </dgm:prSet>
      <dgm:spPr/>
    </dgm:pt>
    <dgm:pt modelId="{6D208FCC-7C5F-4289-90EF-B0FE86FFF23C}" type="pres">
      <dgm:prSet presAssocID="{EFE9A0A0-0AF8-496E-9786-8140E1DCC48D}" presName="parTransThree" presStyleCnt="0"/>
      <dgm:spPr/>
    </dgm:pt>
    <dgm:pt modelId="{37C94981-B157-4754-8EDA-6B611F7EACAF}" type="pres">
      <dgm:prSet presAssocID="{EFE9A0A0-0AF8-496E-9786-8140E1DCC48D}" presName="horzThree" presStyleCnt="0"/>
      <dgm:spPr/>
    </dgm:pt>
    <dgm:pt modelId="{52FC5CF5-91DA-4209-8E30-50AF0901F646}" type="pres">
      <dgm:prSet presAssocID="{1CB89EA3-6637-4853-8527-CBAB9DED94AA}" presName="vertFour" presStyleCnt="0">
        <dgm:presLayoutVars>
          <dgm:chPref val="3"/>
        </dgm:presLayoutVars>
      </dgm:prSet>
      <dgm:spPr/>
    </dgm:pt>
    <dgm:pt modelId="{A95DF54E-3CE4-4DD5-90FD-DD766123D118}" type="pres">
      <dgm:prSet presAssocID="{1CB89EA3-6637-4853-8527-CBAB9DED94AA}" presName="txFour" presStyleLbl="node4" presStyleIdx="1" presStyleCnt="2" custLinFactX="-8477" custLinFactNeighborX="-100000" custLinFactNeighborY="11561">
        <dgm:presLayoutVars>
          <dgm:chPref val="3"/>
        </dgm:presLayoutVars>
      </dgm:prSet>
      <dgm:spPr/>
    </dgm:pt>
    <dgm:pt modelId="{354275F5-7657-4BFA-8D7E-F1B7A588866A}" type="pres">
      <dgm:prSet presAssocID="{1CB89EA3-6637-4853-8527-CBAB9DED94AA}" presName="horzFour" presStyleCnt="0"/>
      <dgm:spPr/>
    </dgm:pt>
  </dgm:ptLst>
  <dgm:cxnLst>
    <dgm:cxn modelId="{60F64D03-45E0-41DB-A39D-6D996B042559}" srcId="{2C6AF700-38B6-4CFE-B040-70A02B2A1753}" destId="{1C2EEAD2-3757-40E3-8ECD-F9F9CBAC4BDC}" srcOrd="0" destOrd="0" parTransId="{638F0CC5-6F95-45F7-BC8F-06D13206F645}" sibTransId="{98518475-42B3-4A63-83C5-7DF2067FB55F}"/>
    <dgm:cxn modelId="{A6C9F61E-335E-4C35-9287-298FADFA6166}" type="presOf" srcId="{1CB89EA3-6637-4853-8527-CBAB9DED94AA}" destId="{A95DF54E-3CE4-4DD5-90FD-DD766123D118}" srcOrd="0" destOrd="0" presId="urn:microsoft.com/office/officeart/2005/8/layout/hierarchy4"/>
    <dgm:cxn modelId="{807BAC23-55C8-4389-B7E6-31257507ACF8}" srcId="{E8189FE8-7979-4FF1-B997-9671DF84F758}" destId="{2C6AF700-38B6-4CFE-B040-70A02B2A1753}" srcOrd="0" destOrd="0" parTransId="{0DF41C5F-CB77-402D-B7D4-EB9CB429D1EF}" sibTransId="{D8F72982-A2E1-42ED-B3E7-FEFA2A11AD5A}"/>
    <dgm:cxn modelId="{6183DE5B-DF8E-4A2F-93FC-C809A42BDBD3}" type="presOf" srcId="{EFE9A0A0-0AF8-496E-9786-8140E1DCC48D}" destId="{2BED032A-97A1-44DF-8444-791C40560A65}" srcOrd="0" destOrd="0" presId="urn:microsoft.com/office/officeart/2005/8/layout/hierarchy4"/>
    <dgm:cxn modelId="{01A8EE45-52FC-44E3-B960-AD3AF0074F69}" type="presOf" srcId="{D5A3FAD6-A97F-42D7-9266-8C42CEAC4DA6}" destId="{7B1CB2CD-AD87-4E08-8766-321387A66D04}" srcOrd="0" destOrd="0" presId="urn:microsoft.com/office/officeart/2005/8/layout/hierarchy4"/>
    <dgm:cxn modelId="{8A400E67-4631-4A5C-9D68-56582D5181DC}" srcId="{1C2EEAD2-3757-40E3-8ECD-F9F9CBAC4BDC}" destId="{D5A3FAD6-A97F-42D7-9266-8C42CEAC4DA6}" srcOrd="0" destOrd="0" parTransId="{7D81A6D5-5FA2-4E3F-8045-B930528A11E8}" sibTransId="{525816E1-67E3-4ED7-9170-63C7F95B5246}"/>
    <dgm:cxn modelId="{863B2D4A-0418-4751-A730-4331574E4FC0}" srcId="{9C86B0B6-4D2D-4551-89F1-679904DA318E}" destId="{E8189FE8-7979-4FF1-B997-9671DF84F758}" srcOrd="0" destOrd="0" parTransId="{7E40A33F-7B5D-493F-BA7C-11BC6CA63087}" sibTransId="{7AD2BA76-4AAF-417F-A07F-A377B643F688}"/>
    <dgm:cxn modelId="{404D4299-F2B8-4F64-95CA-B64683805ECB}" type="presOf" srcId="{9C86B0B6-4D2D-4551-89F1-679904DA318E}" destId="{3800F6AC-4792-4A10-9E9C-DB78CA163A6D}" srcOrd="0" destOrd="0" presId="urn:microsoft.com/office/officeart/2005/8/layout/hierarchy4"/>
    <dgm:cxn modelId="{6098F29D-0B0C-4EDA-B2F9-FDFEC3795014}" type="presOf" srcId="{48FC4143-43DB-4CED-9A83-98A28F3C9B9A}" destId="{7C9C8D6B-4F03-4C5F-B6C2-39C5270B7A04}" srcOrd="0" destOrd="0" presId="urn:microsoft.com/office/officeart/2005/8/layout/hierarchy4"/>
    <dgm:cxn modelId="{AA72D2C1-3A73-44E8-B23E-209FDEE337E4}" type="presOf" srcId="{2C6AF700-38B6-4CFE-B040-70A02B2A1753}" destId="{2764C3AE-CEA4-4A16-BB98-8BE8E5B98B1C}" srcOrd="0" destOrd="0" presId="urn:microsoft.com/office/officeart/2005/8/layout/hierarchy4"/>
    <dgm:cxn modelId="{24DE8DCB-D060-42E8-AFF0-06DFB6E079F2}" type="presOf" srcId="{E8189FE8-7979-4FF1-B997-9671DF84F758}" destId="{AA27796F-312C-4A5A-93AB-A2A1B92B25F0}" srcOrd="0" destOrd="0" presId="urn:microsoft.com/office/officeart/2005/8/layout/hierarchy4"/>
    <dgm:cxn modelId="{F19B16D2-EFCD-4F9E-A0DC-56166A931E52}" srcId="{EFE9A0A0-0AF8-496E-9786-8140E1DCC48D}" destId="{1CB89EA3-6637-4853-8527-CBAB9DED94AA}" srcOrd="0" destOrd="0" parTransId="{FC295D61-B924-42DA-B0B3-C39A9508EF96}" sibTransId="{F430AAE9-27E3-4983-B68B-CA06137EAFBA}"/>
    <dgm:cxn modelId="{BDFB27D2-19A0-4C5E-AFF1-6B8E48E5A661}" srcId="{48FC4143-43DB-4CED-9A83-98A28F3C9B9A}" destId="{EFE9A0A0-0AF8-496E-9786-8140E1DCC48D}" srcOrd="0" destOrd="0" parTransId="{A40FE1A2-AF57-4EF8-A40B-A7A0941CAF38}" sibTransId="{0E8431B8-D82A-4802-89F9-646B9804E08E}"/>
    <dgm:cxn modelId="{94D76BD7-C50C-42A0-92D5-213542013335}" srcId="{E8189FE8-7979-4FF1-B997-9671DF84F758}" destId="{48FC4143-43DB-4CED-9A83-98A28F3C9B9A}" srcOrd="1" destOrd="0" parTransId="{090D5A7A-EBFE-4244-87A8-19EAC8C18243}" sibTransId="{2910CF80-88F8-475A-96D8-91A052FC9EB9}"/>
    <dgm:cxn modelId="{DD1005D9-A36C-4436-BEE3-413719D8ABC7}" type="presOf" srcId="{1C2EEAD2-3757-40E3-8ECD-F9F9CBAC4BDC}" destId="{AC1B8582-1322-4C0B-8A57-414750C6DEC0}" srcOrd="0" destOrd="0" presId="urn:microsoft.com/office/officeart/2005/8/layout/hierarchy4"/>
    <dgm:cxn modelId="{756471A7-CEA3-4D1B-91CE-2A1E904FBFC1}" type="presParOf" srcId="{3800F6AC-4792-4A10-9E9C-DB78CA163A6D}" destId="{49815E71-C1FC-4412-87EF-F13FF5B0A33A}" srcOrd="0" destOrd="0" presId="urn:microsoft.com/office/officeart/2005/8/layout/hierarchy4"/>
    <dgm:cxn modelId="{8DBE86EF-3FF2-498B-A361-2FF1988FDF94}" type="presParOf" srcId="{49815E71-C1FC-4412-87EF-F13FF5B0A33A}" destId="{AA27796F-312C-4A5A-93AB-A2A1B92B25F0}" srcOrd="0" destOrd="0" presId="urn:microsoft.com/office/officeart/2005/8/layout/hierarchy4"/>
    <dgm:cxn modelId="{6FE6688C-8A73-45C4-A11F-B322BABD14E6}" type="presParOf" srcId="{49815E71-C1FC-4412-87EF-F13FF5B0A33A}" destId="{63D59C06-51D4-4F1A-AC5F-D77CB7CDC87D}" srcOrd="1" destOrd="0" presId="urn:microsoft.com/office/officeart/2005/8/layout/hierarchy4"/>
    <dgm:cxn modelId="{BB8A2863-A2A6-4973-8F44-4D9E7FA7A74E}" type="presParOf" srcId="{49815E71-C1FC-4412-87EF-F13FF5B0A33A}" destId="{2CA0DF6E-EC60-482A-AD52-80408AF47939}" srcOrd="2" destOrd="0" presId="urn:microsoft.com/office/officeart/2005/8/layout/hierarchy4"/>
    <dgm:cxn modelId="{67F00AE6-8407-4EE9-937C-3FE928031E71}" type="presParOf" srcId="{2CA0DF6E-EC60-482A-AD52-80408AF47939}" destId="{DAC01117-AB4D-40F4-9093-39964C0B06E6}" srcOrd="0" destOrd="0" presId="urn:microsoft.com/office/officeart/2005/8/layout/hierarchy4"/>
    <dgm:cxn modelId="{C0E062B3-4517-43FD-A66C-426A63B3EA81}" type="presParOf" srcId="{DAC01117-AB4D-40F4-9093-39964C0B06E6}" destId="{2764C3AE-CEA4-4A16-BB98-8BE8E5B98B1C}" srcOrd="0" destOrd="0" presId="urn:microsoft.com/office/officeart/2005/8/layout/hierarchy4"/>
    <dgm:cxn modelId="{3135345D-90FE-461E-BDEB-3F6DC7282F4B}" type="presParOf" srcId="{DAC01117-AB4D-40F4-9093-39964C0B06E6}" destId="{EB68A925-26FD-4F39-8676-74F2FC286AF2}" srcOrd="1" destOrd="0" presId="urn:microsoft.com/office/officeart/2005/8/layout/hierarchy4"/>
    <dgm:cxn modelId="{6E9D9C69-6B57-4C49-B7F2-FF492A600B22}" type="presParOf" srcId="{DAC01117-AB4D-40F4-9093-39964C0B06E6}" destId="{EC760CC8-309A-4070-B776-EE30629814D4}" srcOrd="2" destOrd="0" presId="urn:microsoft.com/office/officeart/2005/8/layout/hierarchy4"/>
    <dgm:cxn modelId="{9329411C-9949-437F-BA61-CC74C172A92F}" type="presParOf" srcId="{EC760CC8-309A-4070-B776-EE30629814D4}" destId="{D9D45610-0AD5-4FE3-9B7D-A571912B0438}" srcOrd="0" destOrd="0" presId="urn:microsoft.com/office/officeart/2005/8/layout/hierarchy4"/>
    <dgm:cxn modelId="{5DD57D51-5B9D-4338-B1C5-EAFB861D1A25}" type="presParOf" srcId="{D9D45610-0AD5-4FE3-9B7D-A571912B0438}" destId="{AC1B8582-1322-4C0B-8A57-414750C6DEC0}" srcOrd="0" destOrd="0" presId="urn:microsoft.com/office/officeart/2005/8/layout/hierarchy4"/>
    <dgm:cxn modelId="{3688CB61-998F-4585-B1C9-2982703AB8C4}" type="presParOf" srcId="{D9D45610-0AD5-4FE3-9B7D-A571912B0438}" destId="{5339D303-E714-416B-80ED-0E2E8E24EE74}" srcOrd="1" destOrd="0" presId="urn:microsoft.com/office/officeart/2005/8/layout/hierarchy4"/>
    <dgm:cxn modelId="{D710881B-82A4-484D-9CB3-ECEE7EFC8426}" type="presParOf" srcId="{D9D45610-0AD5-4FE3-9B7D-A571912B0438}" destId="{8EDCD43B-F0A5-49FB-A7D4-2B0F9405116D}" srcOrd="2" destOrd="0" presId="urn:microsoft.com/office/officeart/2005/8/layout/hierarchy4"/>
    <dgm:cxn modelId="{EB8F13C8-6423-481D-9B0F-70BF05520DE6}" type="presParOf" srcId="{8EDCD43B-F0A5-49FB-A7D4-2B0F9405116D}" destId="{9A557B30-B15C-4FFF-8FA6-81DA2407D272}" srcOrd="0" destOrd="0" presId="urn:microsoft.com/office/officeart/2005/8/layout/hierarchy4"/>
    <dgm:cxn modelId="{19976E79-3663-485C-9F5D-7E1FCCAAC8FA}" type="presParOf" srcId="{9A557B30-B15C-4FFF-8FA6-81DA2407D272}" destId="{7B1CB2CD-AD87-4E08-8766-321387A66D04}" srcOrd="0" destOrd="0" presId="urn:microsoft.com/office/officeart/2005/8/layout/hierarchy4"/>
    <dgm:cxn modelId="{64763E55-EC3A-4C18-BD50-97CCEFBE0617}" type="presParOf" srcId="{9A557B30-B15C-4FFF-8FA6-81DA2407D272}" destId="{BBD3652A-1C5D-4D43-9414-BDD2A593A183}" srcOrd="1" destOrd="0" presId="urn:microsoft.com/office/officeart/2005/8/layout/hierarchy4"/>
    <dgm:cxn modelId="{24BDCE98-0E0A-4534-8A94-D521EA603095}" type="presParOf" srcId="{2CA0DF6E-EC60-482A-AD52-80408AF47939}" destId="{6FDC0625-9604-472B-9D42-39CDA020A04F}" srcOrd="1" destOrd="0" presId="urn:microsoft.com/office/officeart/2005/8/layout/hierarchy4"/>
    <dgm:cxn modelId="{2EE59C98-58BA-44E9-876D-1F009F933EDF}" type="presParOf" srcId="{2CA0DF6E-EC60-482A-AD52-80408AF47939}" destId="{78E50DE9-FD57-49ED-B36A-A033613F9B49}" srcOrd="2" destOrd="0" presId="urn:microsoft.com/office/officeart/2005/8/layout/hierarchy4"/>
    <dgm:cxn modelId="{85A949C7-3CA7-43FA-A132-B4614462A082}" type="presParOf" srcId="{78E50DE9-FD57-49ED-B36A-A033613F9B49}" destId="{7C9C8D6B-4F03-4C5F-B6C2-39C5270B7A04}" srcOrd="0" destOrd="0" presId="urn:microsoft.com/office/officeart/2005/8/layout/hierarchy4"/>
    <dgm:cxn modelId="{8A8F81E6-D24A-4AB4-8589-C8D0C82CD8E6}" type="presParOf" srcId="{78E50DE9-FD57-49ED-B36A-A033613F9B49}" destId="{FA068E55-D4AF-456B-8F5F-32D1FAE4AE7D}" srcOrd="1" destOrd="0" presId="urn:microsoft.com/office/officeart/2005/8/layout/hierarchy4"/>
    <dgm:cxn modelId="{B632CE99-D446-4325-9B14-C02D2464B0C5}" type="presParOf" srcId="{78E50DE9-FD57-49ED-B36A-A033613F9B49}" destId="{9CF1D524-7D17-4568-A5EA-82DF3209966A}" srcOrd="2" destOrd="0" presId="urn:microsoft.com/office/officeart/2005/8/layout/hierarchy4"/>
    <dgm:cxn modelId="{EE7816B7-D880-46B1-ACCE-D9AA865DDFA3}" type="presParOf" srcId="{9CF1D524-7D17-4568-A5EA-82DF3209966A}" destId="{42ABD508-1F50-4C8F-B3A3-C83FC63AE61B}" srcOrd="0" destOrd="0" presId="urn:microsoft.com/office/officeart/2005/8/layout/hierarchy4"/>
    <dgm:cxn modelId="{719D54B8-4659-4DD0-BE9F-30DA198F8A03}" type="presParOf" srcId="{42ABD508-1F50-4C8F-B3A3-C83FC63AE61B}" destId="{2BED032A-97A1-44DF-8444-791C40560A65}" srcOrd="0" destOrd="0" presId="urn:microsoft.com/office/officeart/2005/8/layout/hierarchy4"/>
    <dgm:cxn modelId="{AD85228F-610D-46BD-96D1-DC060C6DC28D}" type="presParOf" srcId="{42ABD508-1F50-4C8F-B3A3-C83FC63AE61B}" destId="{6D208FCC-7C5F-4289-90EF-B0FE86FFF23C}" srcOrd="1" destOrd="0" presId="urn:microsoft.com/office/officeart/2005/8/layout/hierarchy4"/>
    <dgm:cxn modelId="{269D47F6-6BD2-427B-A0E8-7605CF38CD7F}" type="presParOf" srcId="{42ABD508-1F50-4C8F-B3A3-C83FC63AE61B}" destId="{37C94981-B157-4754-8EDA-6B611F7EACAF}" srcOrd="2" destOrd="0" presId="urn:microsoft.com/office/officeart/2005/8/layout/hierarchy4"/>
    <dgm:cxn modelId="{A13C20C6-9695-4B82-817F-01DC6D8C4A35}" type="presParOf" srcId="{37C94981-B157-4754-8EDA-6B611F7EACAF}" destId="{52FC5CF5-91DA-4209-8E30-50AF0901F646}" srcOrd="0" destOrd="0" presId="urn:microsoft.com/office/officeart/2005/8/layout/hierarchy4"/>
    <dgm:cxn modelId="{C2986E30-B110-480B-98D3-B490658E1D6F}" type="presParOf" srcId="{52FC5CF5-91DA-4209-8E30-50AF0901F646}" destId="{A95DF54E-3CE4-4DD5-90FD-DD766123D118}" srcOrd="0" destOrd="0" presId="urn:microsoft.com/office/officeart/2005/8/layout/hierarchy4"/>
    <dgm:cxn modelId="{60CEB034-814B-479B-8597-E25B70440C09}" type="presParOf" srcId="{52FC5CF5-91DA-4209-8E30-50AF0901F646}" destId="{354275F5-7657-4BFA-8D7E-F1B7A588866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7F52A-8E56-4217-BBC6-06CF6074755F}">
      <dsp:nvSpPr>
        <dsp:cNvPr id="0" name=""/>
        <dsp:cNvSpPr/>
      </dsp:nvSpPr>
      <dsp:spPr>
        <a:xfrm>
          <a:off x="2434828" y="401"/>
          <a:ext cx="1226343" cy="1226343"/>
        </a:xfrm>
        <a:prstGeom prst="ellipse">
          <a:avLst/>
        </a:prstGeom>
        <a:solidFill>
          <a:schemeClr val="accent2"/>
        </a:solidFill>
        <a:ln w="63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 dirty="0"/>
        </a:p>
      </dsp:txBody>
      <dsp:txXfrm>
        <a:off x="2614422" y="179995"/>
        <a:ext cx="867155" cy="867155"/>
      </dsp:txXfrm>
    </dsp:sp>
    <dsp:sp modelId="{FB2D05D1-EBAC-45C1-9BC3-97903D6597E1}">
      <dsp:nvSpPr>
        <dsp:cNvPr id="0" name=""/>
        <dsp:cNvSpPr/>
      </dsp:nvSpPr>
      <dsp:spPr>
        <a:xfrm rot="2160000">
          <a:off x="3622675" y="942976"/>
          <a:ext cx="327092" cy="4138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/>
        </a:p>
      </dsp:txBody>
      <dsp:txXfrm>
        <a:off x="3632045" y="996915"/>
        <a:ext cx="228964" cy="248335"/>
      </dsp:txXfrm>
    </dsp:sp>
    <dsp:sp modelId="{DDDB76BB-D706-4697-96A1-8345580A3E0E}">
      <dsp:nvSpPr>
        <dsp:cNvPr id="0" name=""/>
        <dsp:cNvSpPr/>
      </dsp:nvSpPr>
      <dsp:spPr>
        <a:xfrm>
          <a:off x="3926250" y="1083982"/>
          <a:ext cx="1226343" cy="1226343"/>
        </a:xfrm>
        <a:prstGeom prst="ellipse">
          <a:avLst/>
        </a:prstGeom>
        <a:solidFill>
          <a:schemeClr val="accent3"/>
        </a:solidFill>
        <a:ln w="63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 dirty="0"/>
        </a:p>
      </dsp:txBody>
      <dsp:txXfrm>
        <a:off x="4105844" y="1263576"/>
        <a:ext cx="867155" cy="867155"/>
      </dsp:txXfrm>
    </dsp:sp>
    <dsp:sp modelId="{1023D39A-31F1-4A83-8AD8-96C1812B5FDF}">
      <dsp:nvSpPr>
        <dsp:cNvPr id="0" name=""/>
        <dsp:cNvSpPr/>
      </dsp:nvSpPr>
      <dsp:spPr>
        <a:xfrm rot="6480000">
          <a:off x="4093900" y="2358041"/>
          <a:ext cx="327092" cy="4138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1287359"/>
            <a:satOff val="0"/>
            <a:lumOff val="-1471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/>
        </a:p>
      </dsp:txBody>
      <dsp:txXfrm rot="10800000">
        <a:off x="4158126" y="2394156"/>
        <a:ext cx="228964" cy="248335"/>
      </dsp:txXfrm>
    </dsp:sp>
    <dsp:sp modelId="{6F524604-84AD-4D96-A7EE-EFC46B76EE8D}">
      <dsp:nvSpPr>
        <dsp:cNvPr id="0" name=""/>
        <dsp:cNvSpPr/>
      </dsp:nvSpPr>
      <dsp:spPr>
        <a:xfrm>
          <a:off x="3356577" y="2837255"/>
          <a:ext cx="1226343" cy="1226343"/>
        </a:xfrm>
        <a:prstGeom prst="ellipse">
          <a:avLst/>
        </a:prstGeom>
        <a:solidFill>
          <a:schemeClr val="accent5"/>
        </a:solidFill>
        <a:ln w="63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 dirty="0"/>
        </a:p>
      </dsp:txBody>
      <dsp:txXfrm>
        <a:off x="3536171" y="3016849"/>
        <a:ext cx="867155" cy="867155"/>
      </dsp:txXfrm>
    </dsp:sp>
    <dsp:sp modelId="{EBD0885B-17D0-430C-A851-26B86F60960F}">
      <dsp:nvSpPr>
        <dsp:cNvPr id="0" name=""/>
        <dsp:cNvSpPr/>
      </dsp:nvSpPr>
      <dsp:spPr>
        <a:xfrm rot="10800000">
          <a:off x="2893711" y="3243481"/>
          <a:ext cx="327092" cy="4138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574719"/>
            <a:satOff val="0"/>
            <a:lumOff val="-2941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/>
        </a:p>
      </dsp:txBody>
      <dsp:txXfrm rot="10800000">
        <a:off x="2991839" y="3326259"/>
        <a:ext cx="228964" cy="248335"/>
      </dsp:txXfrm>
    </dsp:sp>
    <dsp:sp modelId="{7460B5D4-3A36-4CF5-86DB-C1955EA6D52B}">
      <dsp:nvSpPr>
        <dsp:cNvPr id="0" name=""/>
        <dsp:cNvSpPr/>
      </dsp:nvSpPr>
      <dsp:spPr>
        <a:xfrm>
          <a:off x="1513078" y="2837255"/>
          <a:ext cx="1226343" cy="1226343"/>
        </a:xfrm>
        <a:prstGeom prst="ellipse">
          <a:avLst/>
        </a:prstGeom>
        <a:solidFill>
          <a:schemeClr val="accent4">
            <a:hueOff val="3862078"/>
            <a:satOff val="0"/>
            <a:lumOff val="-4412"/>
            <a:alphaOff val="0"/>
          </a:schemeClr>
        </a:solidFill>
        <a:ln w="63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 dirty="0"/>
        </a:p>
      </dsp:txBody>
      <dsp:txXfrm>
        <a:off x="1692672" y="3016849"/>
        <a:ext cx="867155" cy="867155"/>
      </dsp:txXfrm>
    </dsp:sp>
    <dsp:sp modelId="{16D4F65C-FD7E-454B-A435-01046A163639}">
      <dsp:nvSpPr>
        <dsp:cNvPr id="0" name=""/>
        <dsp:cNvSpPr/>
      </dsp:nvSpPr>
      <dsp:spPr>
        <a:xfrm rot="15120000">
          <a:off x="1680728" y="2375649"/>
          <a:ext cx="327092" cy="4138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862078"/>
            <a:satOff val="0"/>
            <a:lumOff val="-4412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/>
        </a:p>
      </dsp:txBody>
      <dsp:txXfrm rot="10800000">
        <a:off x="1744954" y="2505090"/>
        <a:ext cx="228964" cy="248335"/>
      </dsp:txXfrm>
    </dsp:sp>
    <dsp:sp modelId="{382240D4-C898-4910-84A6-839B8A331502}">
      <dsp:nvSpPr>
        <dsp:cNvPr id="0" name=""/>
        <dsp:cNvSpPr/>
      </dsp:nvSpPr>
      <dsp:spPr>
        <a:xfrm>
          <a:off x="943405" y="1083982"/>
          <a:ext cx="1226343" cy="1226343"/>
        </a:xfrm>
        <a:prstGeom prst="ellipse">
          <a:avLst/>
        </a:prstGeom>
        <a:solidFill>
          <a:srgbClr val="00B0F0"/>
        </a:solidFill>
        <a:ln w="63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 dirty="0"/>
        </a:p>
      </dsp:txBody>
      <dsp:txXfrm>
        <a:off x="1122999" y="1263576"/>
        <a:ext cx="867155" cy="867155"/>
      </dsp:txXfrm>
    </dsp:sp>
    <dsp:sp modelId="{468A1386-0908-4400-80C2-60E7E204102D}">
      <dsp:nvSpPr>
        <dsp:cNvPr id="0" name=""/>
        <dsp:cNvSpPr/>
      </dsp:nvSpPr>
      <dsp:spPr>
        <a:xfrm rot="19440000">
          <a:off x="2131253" y="953859"/>
          <a:ext cx="327092" cy="413891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/>
        </a:p>
      </dsp:txBody>
      <dsp:txXfrm>
        <a:off x="2140623" y="1065476"/>
        <a:ext cx="228964" cy="2483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40553-68FA-41A5-83BB-347A86993CEF}">
      <dsp:nvSpPr>
        <dsp:cNvPr id="0" name=""/>
        <dsp:cNvSpPr/>
      </dsp:nvSpPr>
      <dsp:spPr>
        <a:xfrm>
          <a:off x="2326" y="0"/>
          <a:ext cx="6297082" cy="47803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 err="1">
              <a:solidFill>
                <a:schemeClr val="accent4"/>
              </a:solidFill>
            </a:rPr>
            <a:t>Assets</a:t>
          </a:r>
          <a:r>
            <a:rPr lang="fr-FR" sz="2000" b="1" kern="1200" dirty="0">
              <a:latin typeface="+mj-lt"/>
            </a:rPr>
            <a:t>                                       </a:t>
          </a:r>
          <a:r>
            <a:rPr lang="fr-FR" sz="2000" b="1" kern="1200" dirty="0" err="1">
              <a:solidFill>
                <a:schemeClr val="accent4"/>
              </a:solidFill>
            </a:rPr>
            <a:t>Liabilities</a:t>
          </a:r>
          <a:endParaRPr lang="en-GB" sz="2000" b="1" kern="1200" noProof="0" dirty="0">
            <a:solidFill>
              <a:schemeClr val="accent4"/>
            </a:solidFill>
          </a:endParaRPr>
        </a:p>
      </dsp:txBody>
      <dsp:txXfrm>
        <a:off x="16327" y="14001"/>
        <a:ext cx="6269080" cy="450037"/>
      </dsp:txXfrm>
    </dsp:sp>
    <dsp:sp modelId="{2EBF0A98-BD5E-4342-B18E-7FD9F305D5AE}">
      <dsp:nvSpPr>
        <dsp:cNvPr id="0" name=""/>
        <dsp:cNvSpPr/>
      </dsp:nvSpPr>
      <dsp:spPr>
        <a:xfrm>
          <a:off x="0" y="560875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effectLst/>
              <a:latin typeface="+mj-lt"/>
            </a:rPr>
            <a:t>Cash / </a:t>
          </a:r>
          <a:r>
            <a:rPr lang="fr-FR" sz="2000" b="1" kern="1200" dirty="0" err="1">
              <a:effectLst/>
              <a:latin typeface="+mj-lt"/>
            </a:rPr>
            <a:t>Deposits</a:t>
          </a:r>
          <a:endParaRPr lang="en-GB" sz="2000" b="1" kern="1200" noProof="0" dirty="0">
            <a:latin typeface="+mj-lt"/>
          </a:endParaRPr>
        </a:p>
      </dsp:txBody>
      <dsp:txXfrm>
        <a:off x="14001" y="574876"/>
        <a:ext cx="2993630" cy="450037"/>
      </dsp:txXfrm>
    </dsp:sp>
    <dsp:sp modelId="{2F7F23AB-B713-4E03-9025-5B3C26E5BC65}">
      <dsp:nvSpPr>
        <dsp:cNvPr id="0" name=""/>
        <dsp:cNvSpPr/>
      </dsp:nvSpPr>
      <dsp:spPr>
        <a:xfrm>
          <a:off x="2326" y="1113915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noProof="0" dirty="0"/>
            <a:t>Other assets</a:t>
          </a:r>
        </a:p>
      </dsp:txBody>
      <dsp:txXfrm>
        <a:off x="16327" y="1127916"/>
        <a:ext cx="2993630" cy="450037"/>
      </dsp:txXfrm>
    </dsp:sp>
    <dsp:sp modelId="{33D6F51D-36DA-479B-AF59-6079B344B437}">
      <dsp:nvSpPr>
        <dsp:cNvPr id="0" name=""/>
        <dsp:cNvSpPr/>
      </dsp:nvSpPr>
      <dsp:spPr>
        <a:xfrm>
          <a:off x="2326" y="1670443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noProof="0" dirty="0"/>
            <a:t>Housing wealth </a:t>
          </a:r>
          <a:endParaRPr lang="en-GB" sz="2000" b="1" kern="1200" noProof="0" dirty="0">
            <a:latin typeface="+mj-lt"/>
          </a:endParaRPr>
        </a:p>
      </dsp:txBody>
      <dsp:txXfrm>
        <a:off x="16327" y="1684444"/>
        <a:ext cx="2993630" cy="450037"/>
      </dsp:txXfrm>
    </dsp:sp>
    <dsp:sp modelId="{A68EF847-6A48-407B-9DB3-29073A59F3F7}">
      <dsp:nvSpPr>
        <dsp:cNvPr id="0" name=""/>
        <dsp:cNvSpPr/>
      </dsp:nvSpPr>
      <dsp:spPr>
        <a:xfrm>
          <a:off x="3277776" y="557387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 err="1">
              <a:effectLst/>
              <a:latin typeface="+mj-lt"/>
            </a:rPr>
            <a:t>Mortgage</a:t>
          </a:r>
          <a:r>
            <a:rPr lang="fr-FR" sz="2000" b="0" kern="1200" dirty="0">
              <a:effectLst/>
              <a:latin typeface="Google Sans"/>
            </a:rPr>
            <a:t> </a:t>
          </a:r>
          <a:endParaRPr lang="en-GB" sz="2000" kern="1200" noProof="0" dirty="0"/>
        </a:p>
      </dsp:txBody>
      <dsp:txXfrm>
        <a:off x="3291777" y="571388"/>
        <a:ext cx="2993630" cy="450037"/>
      </dsp:txXfrm>
    </dsp:sp>
    <dsp:sp modelId="{6B01A713-AD90-42C2-A077-612754AF589C}">
      <dsp:nvSpPr>
        <dsp:cNvPr id="0" name=""/>
        <dsp:cNvSpPr/>
      </dsp:nvSpPr>
      <dsp:spPr>
        <a:xfrm>
          <a:off x="3277776" y="1113915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effectLst/>
              <a:latin typeface="+mj-lt"/>
            </a:rPr>
            <a:t>Car </a:t>
          </a:r>
          <a:r>
            <a:rPr lang="fr-FR" sz="2000" b="1" kern="1200" dirty="0" err="1">
              <a:effectLst/>
              <a:latin typeface="+mj-lt"/>
            </a:rPr>
            <a:t>loan</a:t>
          </a:r>
          <a:endParaRPr lang="en-GB" sz="2000" b="1" kern="1200" noProof="0" dirty="0">
            <a:latin typeface="+mj-lt"/>
          </a:endParaRPr>
        </a:p>
      </dsp:txBody>
      <dsp:txXfrm>
        <a:off x="3291777" y="1127916"/>
        <a:ext cx="2993630" cy="450037"/>
      </dsp:txXfrm>
    </dsp:sp>
    <dsp:sp modelId="{47F9ABDE-F97F-49EF-B609-F0ADC1B5B66D}">
      <dsp:nvSpPr>
        <dsp:cNvPr id="0" name=""/>
        <dsp:cNvSpPr/>
      </dsp:nvSpPr>
      <dsp:spPr>
        <a:xfrm>
          <a:off x="3277776" y="1670443"/>
          <a:ext cx="3021632" cy="47803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 err="1">
              <a:effectLst/>
              <a:latin typeface="+mj-lt"/>
            </a:rPr>
            <a:t>Other</a:t>
          </a:r>
          <a:r>
            <a:rPr lang="fr-FR" sz="2000" b="1" kern="1200" dirty="0">
              <a:effectLst/>
              <a:latin typeface="+mj-lt"/>
            </a:rPr>
            <a:t> </a:t>
          </a:r>
          <a:r>
            <a:rPr lang="fr-FR" sz="2000" b="1" kern="1200" dirty="0" err="1">
              <a:effectLst/>
              <a:latin typeface="+mj-lt"/>
            </a:rPr>
            <a:t>liabilities</a:t>
          </a:r>
          <a:endParaRPr lang="en-GB" sz="2000" b="1" kern="1200" noProof="0" dirty="0">
            <a:latin typeface="+mj-lt"/>
          </a:endParaRPr>
        </a:p>
      </dsp:txBody>
      <dsp:txXfrm>
        <a:off x="3291777" y="1684444"/>
        <a:ext cx="2993630" cy="4500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40553-68FA-41A5-83BB-347A86993CEF}">
      <dsp:nvSpPr>
        <dsp:cNvPr id="0" name=""/>
        <dsp:cNvSpPr/>
      </dsp:nvSpPr>
      <dsp:spPr>
        <a:xfrm>
          <a:off x="2326" y="550"/>
          <a:ext cx="6297082" cy="6454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chemeClr val="accent4"/>
              </a:solidFill>
            </a:rPr>
            <a:t>Sources </a:t>
          </a:r>
          <a:r>
            <a:rPr lang="en-GB" sz="2600" b="1" kern="1200" noProof="0" dirty="0">
              <a:solidFill>
                <a:schemeClr val="accent4"/>
              </a:solidFill>
            </a:rPr>
            <a:t>of income                   </a:t>
          </a:r>
          <a:r>
            <a:rPr lang="fr-FR" sz="2600" b="1" kern="1200" dirty="0">
              <a:solidFill>
                <a:schemeClr val="accent4"/>
              </a:solidFill>
            </a:rPr>
            <a:t>Uses of </a:t>
          </a:r>
          <a:r>
            <a:rPr lang="fr-FR" sz="2600" b="1" kern="1200" dirty="0" err="1">
              <a:solidFill>
                <a:schemeClr val="accent4"/>
              </a:solidFill>
            </a:rPr>
            <a:t>income</a:t>
          </a:r>
          <a:r>
            <a:rPr lang="fr-FR" sz="2600" b="1" kern="1200" dirty="0">
              <a:solidFill>
                <a:schemeClr val="accent4"/>
              </a:solidFill>
            </a:rPr>
            <a:t> </a:t>
          </a:r>
          <a:endParaRPr lang="en-GB" sz="2600" b="1" kern="1200" noProof="0" dirty="0">
            <a:solidFill>
              <a:schemeClr val="accent4"/>
            </a:solidFill>
          </a:endParaRPr>
        </a:p>
      </dsp:txBody>
      <dsp:txXfrm>
        <a:off x="21230" y="19454"/>
        <a:ext cx="6259274" cy="607624"/>
      </dsp:txXfrm>
    </dsp:sp>
    <dsp:sp modelId="{2764C3AE-CEA4-4A16-BB98-8BE8E5B98B1C}">
      <dsp:nvSpPr>
        <dsp:cNvPr id="0" name=""/>
        <dsp:cNvSpPr/>
      </dsp:nvSpPr>
      <dsp:spPr>
        <a:xfrm>
          <a:off x="3272004" y="748808"/>
          <a:ext cx="3021632" cy="6454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noProof="0" dirty="0"/>
            <a:t>Consumption</a:t>
          </a:r>
        </a:p>
      </dsp:txBody>
      <dsp:txXfrm>
        <a:off x="3290908" y="767712"/>
        <a:ext cx="2983824" cy="607624"/>
      </dsp:txXfrm>
    </dsp:sp>
    <dsp:sp modelId="{7FBCD897-B6EA-4796-97AC-CEA5FE6C18DF}">
      <dsp:nvSpPr>
        <dsp:cNvPr id="0" name=""/>
        <dsp:cNvSpPr/>
      </dsp:nvSpPr>
      <dsp:spPr>
        <a:xfrm>
          <a:off x="3261610" y="1503909"/>
          <a:ext cx="3021632" cy="645432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noProof="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noProof="0" dirty="0"/>
            <a:t>Savings </a:t>
          </a:r>
          <a:r>
            <a:rPr lang="fr-FR" sz="1400" kern="1200" dirty="0"/>
            <a:t>If inflation &gt; </a:t>
          </a:r>
          <a:r>
            <a:rPr lang="fr-FR" sz="1400" kern="1200" dirty="0" err="1"/>
            <a:t>interest</a:t>
          </a:r>
          <a:r>
            <a:rPr lang="fr-FR" sz="1400" kern="1200" dirty="0"/>
            <a:t> rate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                    inflation &lt; </a:t>
          </a:r>
          <a:r>
            <a:rPr lang="fr-FR" sz="1400" kern="1200" dirty="0" err="1"/>
            <a:t>interest</a:t>
          </a:r>
          <a:r>
            <a:rPr lang="fr-FR" sz="1400" kern="1200" dirty="0"/>
            <a:t> rate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 </a:t>
          </a:r>
          <a:endParaRPr lang="en-GB" sz="1400" kern="1200" noProof="0" dirty="0"/>
        </a:p>
      </dsp:txBody>
      <dsp:txXfrm>
        <a:off x="3280514" y="1522813"/>
        <a:ext cx="2983824" cy="607624"/>
      </dsp:txXfrm>
    </dsp:sp>
    <dsp:sp modelId="{27DAED92-3F06-4E22-8BC2-471F9F0AE648}">
      <dsp:nvSpPr>
        <dsp:cNvPr id="0" name=""/>
        <dsp:cNvSpPr/>
      </dsp:nvSpPr>
      <dsp:spPr>
        <a:xfrm>
          <a:off x="26589" y="720119"/>
          <a:ext cx="3021632" cy="64543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noProof="0" dirty="0"/>
            <a:t>Fixed income </a:t>
          </a:r>
          <a:r>
            <a:rPr lang="en-GB" sz="1700" kern="1200" noProof="0" dirty="0"/>
            <a:t>(sticky wages)</a:t>
          </a:r>
        </a:p>
      </dsp:txBody>
      <dsp:txXfrm>
        <a:off x="45493" y="739023"/>
        <a:ext cx="2983824" cy="607624"/>
      </dsp:txXfrm>
    </dsp:sp>
    <dsp:sp modelId="{87D44C6A-C0DB-45D5-B709-C4BF3CE76CD2}">
      <dsp:nvSpPr>
        <dsp:cNvPr id="0" name=""/>
        <dsp:cNvSpPr/>
      </dsp:nvSpPr>
      <dsp:spPr>
        <a:xfrm>
          <a:off x="1117" y="1494110"/>
          <a:ext cx="3021632" cy="645432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noProof="0" dirty="0"/>
            <a:t>Flexible income </a:t>
          </a:r>
          <a:r>
            <a:rPr lang="en-GB" sz="1600" kern="1200" noProof="0" dirty="0"/>
            <a:t>(income hedged or indexed to inflation)</a:t>
          </a:r>
        </a:p>
      </dsp:txBody>
      <dsp:txXfrm>
        <a:off x="20021" y="1513014"/>
        <a:ext cx="2983824" cy="607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7796F-312C-4A5A-93AB-A2A1B92B25F0}">
      <dsp:nvSpPr>
        <dsp:cNvPr id="0" name=""/>
        <dsp:cNvSpPr/>
      </dsp:nvSpPr>
      <dsp:spPr>
        <a:xfrm>
          <a:off x="4591" y="5295"/>
          <a:ext cx="6214423" cy="4888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noProof="0" dirty="0">
              <a:solidFill>
                <a:schemeClr val="accent4"/>
              </a:solidFill>
            </a:rPr>
            <a:t>Sources of income                   Uses of income  </a:t>
          </a:r>
        </a:p>
      </dsp:txBody>
      <dsp:txXfrm>
        <a:off x="18910" y="19614"/>
        <a:ext cx="6185785" cy="460233"/>
      </dsp:txXfrm>
    </dsp:sp>
    <dsp:sp modelId="{2764C3AE-CEA4-4A16-BB98-8BE8E5B98B1C}">
      <dsp:nvSpPr>
        <dsp:cNvPr id="0" name=""/>
        <dsp:cNvSpPr/>
      </dsp:nvSpPr>
      <dsp:spPr>
        <a:xfrm>
          <a:off x="3227891" y="571132"/>
          <a:ext cx="2981969" cy="48887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noProof="0" dirty="0"/>
            <a:t>Consumption</a:t>
          </a:r>
          <a:r>
            <a:rPr lang="en-GB" sz="1500" kern="1200" noProof="0" dirty="0"/>
            <a:t>(</a:t>
          </a:r>
          <a:r>
            <a:rPr lang="en-GB" sz="1500" kern="1200" noProof="0" dirty="0" err="1"/>
            <a:t>weights</a:t>
          </a:r>
          <a:r>
            <a:rPr lang="en-GB" sz="1500" kern="1200" baseline="-25000" noProof="0" dirty="0" err="1"/>
            <a:t>goods</a:t>
          </a:r>
          <a:r>
            <a:rPr lang="en-GB" sz="1500" kern="1200" baseline="30000" noProof="0" dirty="0" err="1"/>
            <a:t>HH</a:t>
          </a:r>
          <a:r>
            <a:rPr lang="en-GB" sz="1500" kern="1200" baseline="30000" noProof="0" dirty="0"/>
            <a:t> categories</a:t>
          </a:r>
          <a:r>
            <a:rPr lang="en-GB" sz="1500" kern="1200" noProof="0" dirty="0"/>
            <a:t>) </a:t>
          </a:r>
        </a:p>
      </dsp:txBody>
      <dsp:txXfrm>
        <a:off x="3242210" y="585451"/>
        <a:ext cx="2953331" cy="460233"/>
      </dsp:txXfrm>
    </dsp:sp>
    <dsp:sp modelId="{AC1B8582-1322-4C0B-8A57-414750C6DEC0}">
      <dsp:nvSpPr>
        <dsp:cNvPr id="0" name=""/>
        <dsp:cNvSpPr/>
      </dsp:nvSpPr>
      <dsp:spPr>
        <a:xfrm>
          <a:off x="3219721" y="1138596"/>
          <a:ext cx="2981969" cy="4888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noProof="0" dirty="0"/>
            <a:t>Taxes</a:t>
          </a:r>
        </a:p>
      </dsp:txBody>
      <dsp:txXfrm>
        <a:off x="3234040" y="1152915"/>
        <a:ext cx="2953331" cy="460233"/>
      </dsp:txXfrm>
    </dsp:sp>
    <dsp:sp modelId="{7B1CB2CD-AD87-4E08-8766-321387A66D04}">
      <dsp:nvSpPr>
        <dsp:cNvPr id="0" name=""/>
        <dsp:cNvSpPr/>
      </dsp:nvSpPr>
      <dsp:spPr>
        <a:xfrm>
          <a:off x="3237045" y="1652796"/>
          <a:ext cx="2981969" cy="488871"/>
        </a:xfrm>
        <a:prstGeom prst="roundRect">
          <a:avLst>
            <a:gd name="adj" fmla="val 10000"/>
          </a:avLst>
        </a:pr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noProof="0" dirty="0"/>
            <a:t>Savings</a:t>
          </a:r>
        </a:p>
      </dsp:txBody>
      <dsp:txXfrm>
        <a:off x="3251364" y="1667115"/>
        <a:ext cx="2953331" cy="460233"/>
      </dsp:txXfrm>
    </dsp:sp>
    <dsp:sp modelId="{7C9C8D6B-4F03-4C5F-B6C2-39C5270B7A04}">
      <dsp:nvSpPr>
        <dsp:cNvPr id="0" name=""/>
        <dsp:cNvSpPr/>
      </dsp:nvSpPr>
      <dsp:spPr>
        <a:xfrm>
          <a:off x="0" y="571151"/>
          <a:ext cx="2981969" cy="488871"/>
        </a:xfrm>
        <a:prstGeom prst="roundRect">
          <a:avLst>
            <a:gd name="adj" fmla="val 10000"/>
          </a:avLst>
        </a:prstGeom>
        <a:solidFill>
          <a:schemeClr val="bg1"/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noProof="0" dirty="0"/>
            <a:t>Wages</a:t>
          </a:r>
        </a:p>
      </dsp:txBody>
      <dsp:txXfrm>
        <a:off x="14319" y="585470"/>
        <a:ext cx="2953331" cy="460233"/>
      </dsp:txXfrm>
    </dsp:sp>
    <dsp:sp modelId="{2BED032A-97A1-44DF-8444-791C40560A65}">
      <dsp:nvSpPr>
        <dsp:cNvPr id="0" name=""/>
        <dsp:cNvSpPr/>
      </dsp:nvSpPr>
      <dsp:spPr>
        <a:xfrm>
          <a:off x="0" y="1119957"/>
          <a:ext cx="2981969" cy="488871"/>
        </a:xfrm>
        <a:prstGeom prst="roundRect">
          <a:avLst>
            <a:gd name="adj" fmla="val 10000"/>
          </a:avLst>
        </a:prstGeom>
        <a:solidFill>
          <a:schemeClr val="bg1"/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 err="1"/>
            <a:t>Transfers</a:t>
          </a:r>
          <a:endParaRPr lang="en-GB" sz="2000" kern="1200" noProof="0" dirty="0"/>
        </a:p>
      </dsp:txBody>
      <dsp:txXfrm>
        <a:off x="14319" y="1134276"/>
        <a:ext cx="2953331" cy="460233"/>
      </dsp:txXfrm>
    </dsp:sp>
    <dsp:sp modelId="{A95DF54E-3CE4-4DD5-90FD-DD766123D118}">
      <dsp:nvSpPr>
        <dsp:cNvPr id="0" name=""/>
        <dsp:cNvSpPr/>
      </dsp:nvSpPr>
      <dsp:spPr>
        <a:xfrm>
          <a:off x="0" y="1701959"/>
          <a:ext cx="2981969" cy="488871"/>
        </a:xfrm>
        <a:prstGeom prst="roundRect">
          <a:avLst>
            <a:gd name="adj" fmla="val 10000"/>
          </a:avLst>
        </a:prstGeom>
        <a:solidFill>
          <a:schemeClr val="bg1"/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noProof="0" dirty="0"/>
            <a:t>Other income (dividends..)</a:t>
          </a:r>
        </a:p>
      </dsp:txBody>
      <dsp:txXfrm>
        <a:off x="14319" y="1716278"/>
        <a:ext cx="2953331" cy="460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9694E-6F87-4D38-8B1D-D49DD4B4B2D5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1339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1275" y="9431339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EBF62-41A2-4BDC-8EB4-06A1715867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4919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347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344" y="1"/>
            <a:ext cx="2946347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6E02152-B63E-4056-9E95-094AA86A55A9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563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601"/>
            <a:ext cx="2946347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344" y="9431601"/>
            <a:ext cx="2946347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748C8AD-C4CD-4092-BE7A-D275517FEA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8085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48C8AD-C4CD-4092-BE7A-D275517FEA9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96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1691680" y="2036417"/>
            <a:ext cx="5905010" cy="1260000"/>
          </a:xfrm>
        </p:spPr>
        <p:txBody>
          <a:bodyPr>
            <a:noAutofit/>
          </a:bodyPr>
          <a:lstStyle>
            <a:lvl1pPr algn="ctr">
              <a:defRPr sz="3000" b="1" cap="all" baseline="0">
                <a:solidFill>
                  <a:srgbClr val="31429C"/>
                </a:solidFill>
                <a:latin typeface="+mn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004048" y="5661248"/>
            <a:ext cx="3599284" cy="792088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Tx/>
              <a:buNone/>
              <a:defRPr sz="1200" cap="all" baseline="0">
                <a:solidFill>
                  <a:srgbClr val="205AA7"/>
                </a:solidFill>
              </a:defRPr>
            </a:lvl1pPr>
          </a:lstStyle>
          <a:p>
            <a:pPr lvl="0"/>
            <a:r>
              <a:rPr lang="fr-FR" dirty="0"/>
              <a:t>NOM, service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7019156" y="6489248"/>
            <a:ext cx="1584176" cy="26035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900" b="1" cap="all" baseline="0">
                <a:solidFill>
                  <a:srgbClr val="205AA7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086" y="252000"/>
            <a:ext cx="2113827" cy="101145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4746" y="4005064"/>
            <a:ext cx="9227606" cy="65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1692000" y="1584000"/>
            <a:ext cx="7020000" cy="4500000"/>
          </a:xfrm>
        </p:spPr>
        <p:txBody>
          <a:bodyPr/>
          <a:lstStyle>
            <a:lvl1pPr marL="396000" indent="-396000">
              <a:buFont typeface="+mj-lt"/>
              <a:buAutoNum type="arabicPeriod"/>
              <a:defRPr cap="none" baseline="0"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4746" y="4005064"/>
            <a:ext cx="9227606" cy="653165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086" y="252000"/>
            <a:ext cx="2113827" cy="10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3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205AA7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8" y="6309320"/>
            <a:ext cx="900000" cy="421438"/>
          </a:xfrm>
          <a:prstGeom prst="rect">
            <a:avLst/>
          </a:prstGeom>
        </p:spPr>
      </p:pic>
      <p:sp>
        <p:nvSpPr>
          <p:cNvPr id="15" name="Espace réservé du texte 2"/>
          <p:cNvSpPr>
            <a:spLocks noGrp="1"/>
          </p:cNvSpPr>
          <p:nvPr>
            <p:ph idx="1"/>
          </p:nvPr>
        </p:nvSpPr>
        <p:spPr>
          <a:xfrm>
            <a:off x="468000" y="1440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205AA7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576" y="-48986"/>
            <a:ext cx="1861028" cy="131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4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8" y="6309320"/>
            <a:ext cx="900000" cy="421438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68000" y="0"/>
            <a:ext cx="8229600" cy="1143000"/>
          </a:xfrm>
        </p:spPr>
        <p:txBody>
          <a:bodyPr/>
          <a:lstStyle>
            <a:lvl1pPr>
              <a:defRPr cap="all" baseline="0">
                <a:solidFill>
                  <a:srgbClr val="31429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576" y="-48986"/>
            <a:ext cx="1861028" cy="131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4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me 8"/>
          <p:cNvGraphicFramePr/>
          <p:nvPr userDrawn="1"/>
        </p:nvGraphicFramePr>
        <p:xfrm>
          <a:off x="1524000" y="1692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8" y="6309320"/>
            <a:ext cx="900000" cy="421438"/>
          </a:xfrm>
          <a:prstGeom prst="rect">
            <a:avLst/>
          </a:prstGeom>
        </p:spPr>
      </p:pic>
      <p:pic>
        <p:nvPicPr>
          <p:cNvPr id="14" name="Image 13"/>
          <p:cNvPicPr>
            <a:picLocks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198000"/>
            <a:ext cx="406800" cy="756000"/>
          </a:xfrm>
          <a:prstGeom prst="rect">
            <a:avLst/>
          </a:prstGeom>
        </p:spPr>
      </p:pic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468000" y="0"/>
            <a:ext cx="8229600" cy="1143000"/>
          </a:xfrm>
        </p:spPr>
        <p:txBody>
          <a:bodyPr/>
          <a:lstStyle>
            <a:lvl1pPr>
              <a:defRPr cap="all" baseline="0">
                <a:solidFill>
                  <a:srgbClr val="31429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576" y="-48986"/>
            <a:ext cx="1861028" cy="131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6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40000"/>
            <a:ext cx="3008313" cy="4680000"/>
          </a:xfrm>
          <a:solidFill>
            <a:schemeClr val="accent2"/>
          </a:solidFill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8" y="6309320"/>
            <a:ext cx="900000" cy="421438"/>
          </a:xfrm>
          <a:prstGeom prst="rect">
            <a:avLst/>
          </a:prstGeom>
        </p:spPr>
      </p:pic>
      <p:sp>
        <p:nvSpPr>
          <p:cNvPr id="15" name="Espace réservé du contenu 2"/>
          <p:cNvSpPr>
            <a:spLocks noGrp="1"/>
          </p:cNvSpPr>
          <p:nvPr>
            <p:ph sz="half" idx="1"/>
          </p:nvPr>
        </p:nvSpPr>
        <p:spPr>
          <a:xfrm>
            <a:off x="3779912" y="1440000"/>
            <a:ext cx="4932000" cy="46800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68000" y="0"/>
            <a:ext cx="8229600" cy="1143000"/>
          </a:xfrm>
        </p:spPr>
        <p:txBody>
          <a:bodyPr/>
          <a:lstStyle>
            <a:lvl1pPr>
              <a:defRPr cap="all" baseline="0">
                <a:solidFill>
                  <a:srgbClr val="31429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576" y="-48986"/>
            <a:ext cx="1861028" cy="131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1691680" y="2036417"/>
            <a:ext cx="5905010" cy="1260000"/>
          </a:xfrm>
        </p:spPr>
        <p:txBody>
          <a:bodyPr>
            <a:noAutofit/>
          </a:bodyPr>
          <a:lstStyle>
            <a:lvl1pPr algn="ctr">
              <a:defRPr sz="2250" b="1" cap="all" baseline="0">
                <a:solidFill>
                  <a:srgbClr val="31429C"/>
                </a:solidFill>
                <a:latin typeface="+mn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004048" y="5661248"/>
            <a:ext cx="3599284" cy="792088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Tx/>
              <a:buNone/>
              <a:defRPr sz="900" cap="all" baseline="0">
                <a:solidFill>
                  <a:srgbClr val="205AA7"/>
                </a:solidFill>
              </a:defRPr>
            </a:lvl1pPr>
          </a:lstStyle>
          <a:p>
            <a:pPr lvl="0"/>
            <a:r>
              <a:rPr lang="fr-FR" dirty="0"/>
              <a:t>NOM, service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7019157" y="6489248"/>
            <a:ext cx="1584176" cy="260350"/>
          </a:xfrm>
        </p:spPr>
        <p:txBody>
          <a:bodyPr>
            <a:normAutofit/>
          </a:bodyPr>
          <a:lstStyle>
            <a:lvl1pPr marL="0" indent="0" algn="r">
              <a:buFontTx/>
              <a:buNone/>
              <a:defRPr sz="675" b="1" cap="all" baseline="0">
                <a:solidFill>
                  <a:srgbClr val="205AA7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087" y="252002"/>
            <a:ext cx="2113827" cy="101145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4746" y="4005064"/>
            <a:ext cx="9227606" cy="65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80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0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480000"/>
            <a:ext cx="4976192" cy="360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72400" y="6480000"/>
            <a:ext cx="540000" cy="36000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205AA7"/>
                </a:solidFill>
              </a:defRPr>
            </a:lvl1pPr>
          </a:lstStyle>
          <a:p>
            <a:fld id="{A5612AF6-3794-417C-8315-010C3BB3AD18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751E5AC-BD98-80A4-97AD-46C128B905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385175" y="63500"/>
            <a:ext cx="7239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BDF-INTERNE</a:t>
            </a:r>
          </a:p>
        </p:txBody>
      </p:sp>
    </p:spTree>
    <p:extLst>
      <p:ext uri="{BB962C8B-B14F-4D97-AF65-F5344CB8AC3E}">
        <p14:creationId xmlns:p14="http://schemas.microsoft.com/office/powerpoint/2010/main" val="135656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6" r:id="rId7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600" kern="1200">
          <a:solidFill>
            <a:srgbClr val="205AA7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205AA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hicp/vignettes/hicp_intro.html" TargetMode="External"/><Relationship Id="rId2" Type="http://schemas.openxmlformats.org/officeDocument/2006/relationships/hyperlink" Target="https://www.xavierjaravel.com/dcpi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ifs.org.uk/publications/16058" TargetMode="External"/><Relationship Id="rId7" Type="http://schemas.openxmlformats.org/officeDocument/2006/relationships/hyperlink" Target="https://www.bruegel.org/dataset/inflation-inequality-european-union-and-its-drivers" TargetMode="External"/><Relationship Id="rId2" Type="http://schemas.openxmlformats.org/officeDocument/2006/relationships/hyperlink" Target="https://oecdecoscope.blog/2022/05/10/surging-energy-prices-are-hitting-everyone-but-which-households-are-more-exposed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imf.org/en/blogs/articles/2023/04/03/fiscal-policy-can-help-tame-inflation-and-protect-the-most-vulnerable" TargetMode="External"/><Relationship Id="rId5" Type="http://schemas.openxmlformats.org/officeDocument/2006/relationships/hyperlink" Target="https://www.ecb.europa.eu/pub/economic-bulletin/articles/2023/html/ecb.ebart202303_02~037515ed7d.en.html" TargetMode="External"/><Relationship Id="rId4" Type="http://schemas.openxmlformats.org/officeDocument/2006/relationships/hyperlink" Target="https://www.ecb.europa.eu/pub/economic-bulletin/focus/2022/html/ecb.ebbox202207_04~a89ec1a6fe.en.html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shs.cairn.info/journal-revue-d-economie-financiere-2024-1-page-193?lang=en&amp;tab=resume" TargetMode="Externa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i.com/ale1gfpjfcy2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7634" y="2510897"/>
            <a:ext cx="6669360" cy="2457343"/>
          </a:xfrm>
        </p:spPr>
        <p:txBody>
          <a:bodyPr/>
          <a:lstStyle/>
          <a:p>
            <a:r>
              <a:rPr lang="en-US" i="1" dirty="0"/>
              <a:t>“Inflation inequalities across the euro area”</a:t>
            </a:r>
            <a:br>
              <a:rPr lang="en-US" i="1" dirty="0"/>
            </a:br>
            <a:r>
              <a:rPr lang="en-US" i="1" dirty="0"/>
              <a:t> </a:t>
            </a:r>
            <a:br>
              <a:rPr lang="fr-FR" sz="2100" dirty="0"/>
            </a:br>
            <a:r>
              <a:rPr lang="en-US" sz="2100" dirty="0"/>
              <a:t>IBFI Seminar « Monetary Policy»</a:t>
            </a:r>
            <a:br>
              <a:rPr lang="fr-FR" sz="2100" dirty="0"/>
            </a:br>
            <a:br>
              <a:rPr lang="fr-FR" sz="2100" dirty="0"/>
            </a:br>
            <a:r>
              <a:rPr lang="fr-FR" sz="2100" dirty="0"/>
              <a:t>J. Montornes (BdF)</a:t>
            </a:r>
            <a:br>
              <a:rPr lang="fr-FR" sz="2100" dirty="0"/>
            </a:br>
            <a:br>
              <a:rPr lang="fr-FR" sz="2100" dirty="0"/>
            </a:br>
            <a:r>
              <a:rPr lang="fr-FR" sz="2100" dirty="0"/>
              <a:t>26 </a:t>
            </a:r>
            <a:r>
              <a:rPr lang="fr-FR" sz="2100" dirty="0" err="1"/>
              <a:t>november</a:t>
            </a:r>
            <a:r>
              <a:rPr lang="fr-FR" sz="2100" dirty="0"/>
              <a:t> 2025</a:t>
            </a:r>
            <a:br>
              <a:rPr lang="fr-FR" sz="2100" dirty="0"/>
            </a:br>
            <a:br>
              <a:rPr lang="fr-FR" sz="2100" dirty="0"/>
            </a:br>
            <a:br>
              <a:rPr lang="fr-FR" sz="1800" dirty="0"/>
            </a:br>
            <a:br>
              <a:rPr lang="fr-FR" sz="2100" dirty="0"/>
            </a:br>
            <a:endParaRPr lang="fr-FR" sz="2100" dirty="0"/>
          </a:p>
        </p:txBody>
      </p:sp>
    </p:spTree>
    <p:extLst>
      <p:ext uri="{BB962C8B-B14F-4D97-AF65-F5344CB8AC3E}">
        <p14:creationId xmlns:p14="http://schemas.microsoft.com/office/powerpoint/2010/main" val="365100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8423025" y="6359104"/>
            <a:ext cx="540000" cy="360000"/>
          </a:xfrm>
        </p:spPr>
        <p:txBody>
          <a:bodyPr/>
          <a:lstStyle/>
          <a:p>
            <a:fld id="{A5612AF6-3794-417C-8315-010C3BB3AD18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68000" y="1586441"/>
            <a:ext cx="8409300" cy="4525963"/>
          </a:xfrm>
        </p:spPr>
        <p:txBody>
          <a:bodyPr>
            <a:noAutofit/>
          </a:bodyPr>
          <a:lstStyle/>
          <a:p>
            <a:pPr algn="just"/>
            <a:endParaRPr lang="en-US" sz="2000" dirty="0"/>
          </a:p>
          <a:p>
            <a:pPr algn="just"/>
            <a:r>
              <a:rPr lang="en-US" sz="2400" b="1" dirty="0"/>
              <a:t>This presentation examines </a:t>
            </a:r>
            <a:r>
              <a:rPr lang="en-US" sz="2400" dirty="0"/>
              <a:t>the surge in the Euro area inflation and </a:t>
            </a:r>
            <a:r>
              <a:rPr lang="en-US" sz="2400" b="1" dirty="0"/>
              <a:t>its heterogeneous impact across households </a:t>
            </a:r>
            <a:r>
              <a:rPr lang="en-US" sz="2400" dirty="0"/>
              <a:t>since mid-2021</a:t>
            </a:r>
            <a:endParaRPr lang="en-US" sz="2000" dirty="0"/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The distributional effects depend on the size and composition of the inflationary shock </a:t>
            </a:r>
            <a:r>
              <a:rPr lang="en-US" sz="2400" dirty="0"/>
              <a:t>(i.e. energy and food products) along with </a:t>
            </a:r>
            <a:r>
              <a:rPr lang="en-US" sz="2400" b="1" dirty="0"/>
              <a:t>household characteristics</a:t>
            </a:r>
          </a:p>
          <a:p>
            <a:pPr algn="just"/>
            <a:endParaRPr lang="en-US" sz="2400" b="1" dirty="0"/>
          </a:p>
          <a:p>
            <a:pPr algn="just"/>
            <a:r>
              <a:rPr lang="en" sz="2400" b="1" dirty="0"/>
              <a:t>Inflation impacts households through their expenditures </a:t>
            </a:r>
            <a:r>
              <a:rPr lang="en-US" sz="2400" b="1" dirty="0"/>
              <a:t>(this presentation)</a:t>
            </a:r>
            <a:r>
              <a:rPr lang="en" sz="2400" b="1" dirty="0"/>
              <a:t>, income and wealth</a:t>
            </a:r>
            <a:endParaRPr lang="fr-FR" sz="2400" b="1" dirty="0"/>
          </a:p>
          <a:p>
            <a:pPr algn="just"/>
            <a:endParaRPr lang="en-US" sz="2400" b="1" dirty="0"/>
          </a:p>
          <a:p>
            <a:pPr algn="just"/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559985" y="1014736"/>
            <a:ext cx="6045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205AA7"/>
                </a:solidFill>
              </a:rPr>
              <a:t>What are the distributional effects of inflation?</a:t>
            </a:r>
            <a:endParaRPr lang="fr-FR" sz="2400" dirty="0">
              <a:solidFill>
                <a:srgbClr val="205A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468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Effects of inflation on Households’ wealth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</a:t>
            </a:fld>
            <a:endParaRPr lang="fr-FR" dirty="0"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3771895051"/>
              </p:ext>
            </p:extLst>
          </p:nvPr>
        </p:nvGraphicFramePr>
        <p:xfrm>
          <a:off x="1610403" y="3736806"/>
          <a:ext cx="6301735" cy="214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à coins arrondis 7"/>
          <p:cNvSpPr/>
          <p:nvPr/>
        </p:nvSpPr>
        <p:spPr>
          <a:xfrm>
            <a:off x="1861468" y="824897"/>
            <a:ext cx="6050670" cy="13554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In period of Inflation, wealth is “</a:t>
            </a:r>
            <a:r>
              <a:rPr lang="en-US" sz="2000" dirty="0" err="1">
                <a:solidFill>
                  <a:schemeClr val="tx1"/>
                </a:solidFill>
              </a:rPr>
              <a:t>transfered</a:t>
            </a:r>
            <a:r>
              <a:rPr lang="en-US" sz="2000" dirty="0">
                <a:solidFill>
                  <a:schemeClr val="tx1"/>
                </a:solidFill>
              </a:rPr>
              <a:t>” from creditors (lenders and savers) to debtors (borrowers), as the </a:t>
            </a:r>
            <a:r>
              <a:rPr lang="en-US" sz="2000" b="1" dirty="0">
                <a:solidFill>
                  <a:schemeClr val="tx1"/>
                </a:solidFill>
              </a:rPr>
              <a:t>real value</a:t>
            </a:r>
            <a:r>
              <a:rPr lang="en-US" sz="2000" dirty="0">
                <a:solidFill>
                  <a:schemeClr val="tx1"/>
                </a:solidFill>
              </a:rPr>
              <a:t> of debts diminishes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0B95D-E00C-E875-39D5-02D784FCE7CB}"/>
              </a:ext>
            </a:extLst>
          </p:cNvPr>
          <p:cNvSpPr/>
          <p:nvPr/>
        </p:nvSpPr>
        <p:spPr>
          <a:xfrm>
            <a:off x="3475703" y="2287482"/>
            <a:ext cx="2571136" cy="4486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Inflation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454D0A2E-1193-E4CC-AB61-BE3D49E546A5}"/>
              </a:ext>
            </a:extLst>
          </p:cNvPr>
          <p:cNvSpPr/>
          <p:nvPr/>
        </p:nvSpPr>
        <p:spPr>
          <a:xfrm rot="2700000">
            <a:off x="524072" y="2826702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086EE069-6271-42F5-D144-E1BE79CDFDE8}"/>
              </a:ext>
            </a:extLst>
          </p:cNvPr>
          <p:cNvSpPr/>
          <p:nvPr/>
        </p:nvSpPr>
        <p:spPr>
          <a:xfrm rot="18900000">
            <a:off x="2728122" y="2337293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726E2857-CD7E-3D55-5460-79B7C50B6CBC}"/>
              </a:ext>
            </a:extLst>
          </p:cNvPr>
          <p:cNvSpPr/>
          <p:nvPr/>
        </p:nvSpPr>
        <p:spPr>
          <a:xfrm rot="18900000">
            <a:off x="8139290" y="2693828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C7BDE0D0-7B2B-F805-70AB-13495D39AD3C}"/>
              </a:ext>
            </a:extLst>
          </p:cNvPr>
          <p:cNvSpPr/>
          <p:nvPr/>
        </p:nvSpPr>
        <p:spPr>
          <a:xfrm>
            <a:off x="4727341" y="2954474"/>
            <a:ext cx="67858" cy="5629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080C3EB-6F2A-EA2D-86D1-69F270A53CE9}"/>
              </a:ext>
            </a:extLst>
          </p:cNvPr>
          <p:cNvSpPr txBox="1"/>
          <p:nvPr/>
        </p:nvSpPr>
        <p:spPr>
          <a:xfrm>
            <a:off x="0" y="3314498"/>
            <a:ext cx="220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real value of assets 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753B3E-73E3-1D13-1F41-DF0F2AEFACA6}"/>
              </a:ext>
            </a:extLst>
          </p:cNvPr>
          <p:cNvSpPr txBox="1"/>
          <p:nvPr/>
        </p:nvSpPr>
        <p:spPr>
          <a:xfrm>
            <a:off x="6912178" y="3252129"/>
            <a:ext cx="2376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real value of liabilities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324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re 42"/>
          <p:cNvSpPr>
            <a:spLocks noGrp="1"/>
          </p:cNvSpPr>
          <p:nvPr>
            <p:ph type="title"/>
          </p:nvPr>
        </p:nvSpPr>
        <p:spPr>
          <a:xfrm>
            <a:off x="462920" y="130710"/>
            <a:ext cx="8229600" cy="857250"/>
          </a:xfrm>
        </p:spPr>
        <p:txBody>
          <a:bodyPr/>
          <a:lstStyle/>
          <a:p>
            <a:r>
              <a:rPr lang="en-US" dirty="0"/>
              <a:t>Distributional Effects of inflation on income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"/>
          </p:nvPr>
        </p:nvSpPr>
        <p:spPr>
          <a:xfrm>
            <a:off x="8290562" y="6421986"/>
            <a:ext cx="540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3</a:t>
            </a:fld>
            <a:endParaRPr spc="-17" dirty="0"/>
          </a:p>
        </p:txBody>
      </p:sp>
      <p:sp>
        <p:nvSpPr>
          <p:cNvPr id="33" name="object 33"/>
          <p:cNvSpPr txBox="1"/>
          <p:nvPr/>
        </p:nvSpPr>
        <p:spPr>
          <a:xfrm rot="960000">
            <a:off x="1530166" y="2787814"/>
            <a:ext cx="25598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4"/>
              </a:lnSpc>
            </a:pPr>
            <a:r>
              <a:rPr sz="1634" b="1" spc="-34" dirty="0">
                <a:solidFill>
                  <a:srgbClr val="FFFFFF"/>
                </a:solidFill>
                <a:latin typeface="Arial"/>
                <a:cs typeface="Arial"/>
              </a:rPr>
              <a:t>€</a:t>
            </a:r>
            <a:endParaRPr sz="1634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05407" y="4131752"/>
            <a:ext cx="142954" cy="26020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634" b="1" spc="-34" dirty="0">
                <a:solidFill>
                  <a:srgbClr val="FFFFFF"/>
                </a:solidFill>
                <a:latin typeface="Arial"/>
                <a:cs typeface="Arial"/>
              </a:rPr>
              <a:t>€</a:t>
            </a:r>
            <a:endParaRPr sz="1634">
              <a:latin typeface="Arial"/>
              <a:cs typeface="Arial"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81131389"/>
              </p:ext>
            </p:extLst>
          </p:nvPr>
        </p:nvGraphicFramePr>
        <p:xfrm>
          <a:off x="1426852" y="3187185"/>
          <a:ext cx="6301735" cy="214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à coins arrondis 6"/>
          <p:cNvSpPr/>
          <p:nvPr/>
        </p:nvSpPr>
        <p:spPr>
          <a:xfrm>
            <a:off x="1705407" y="937940"/>
            <a:ext cx="5582870" cy="11496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 err="1"/>
              <a:t>Unequal</a:t>
            </a:r>
            <a:r>
              <a:rPr lang="fr-FR" sz="2000" dirty="0"/>
              <a:t> </a:t>
            </a:r>
            <a:r>
              <a:rPr lang="fr-FR" sz="2000" dirty="0" err="1"/>
              <a:t>loss</a:t>
            </a:r>
            <a:r>
              <a:rPr lang="fr-FR" sz="2000" dirty="0"/>
              <a:t> of </a:t>
            </a:r>
            <a:r>
              <a:rPr lang="fr-FR" sz="2000" dirty="0" err="1"/>
              <a:t>income</a:t>
            </a:r>
            <a:r>
              <a:rPr lang="fr-FR" sz="2000" dirty="0"/>
              <a:t>: the </a:t>
            </a:r>
            <a:r>
              <a:rPr lang="fr-FR" sz="2000" dirty="0" err="1"/>
              <a:t>way</a:t>
            </a:r>
            <a:r>
              <a:rPr lang="fr-FR" sz="2000" dirty="0"/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income and savings are hedged against inflation varies across households</a:t>
            </a:r>
            <a:endParaRPr lang="en-US" sz="20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34DC7-EE82-10E1-E565-1B0A93DF3EFF}"/>
              </a:ext>
            </a:extLst>
          </p:cNvPr>
          <p:cNvSpPr/>
          <p:nvPr/>
        </p:nvSpPr>
        <p:spPr>
          <a:xfrm>
            <a:off x="3332151" y="2226401"/>
            <a:ext cx="2571136" cy="4486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Inflation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22FDF199-CC6E-C0AA-A86A-76B3C4A7BBB6}"/>
              </a:ext>
            </a:extLst>
          </p:cNvPr>
          <p:cNvSpPr/>
          <p:nvPr/>
        </p:nvSpPr>
        <p:spPr>
          <a:xfrm rot="18900000">
            <a:off x="2585056" y="2258545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A3B9DF8C-5B54-A87E-B1FD-1EFDF0ED749B}"/>
              </a:ext>
            </a:extLst>
          </p:cNvPr>
          <p:cNvSpPr/>
          <p:nvPr/>
        </p:nvSpPr>
        <p:spPr>
          <a:xfrm rot="2700000">
            <a:off x="8101649" y="4711198"/>
            <a:ext cx="469309" cy="1644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92B0143D-4A67-0FC5-AAED-ECFBE9874A2F}"/>
              </a:ext>
            </a:extLst>
          </p:cNvPr>
          <p:cNvSpPr/>
          <p:nvPr/>
        </p:nvSpPr>
        <p:spPr>
          <a:xfrm rot="2700000">
            <a:off x="612386" y="3946191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64FF3C67-9DC4-3071-0872-42F253F61BB4}"/>
              </a:ext>
            </a:extLst>
          </p:cNvPr>
          <p:cNvSpPr/>
          <p:nvPr/>
        </p:nvSpPr>
        <p:spPr>
          <a:xfrm rot="18900000" flipV="1">
            <a:off x="590589" y="4884543"/>
            <a:ext cx="730482" cy="3222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8ACCC4E-B785-E138-15E4-74C464BD80E9}"/>
              </a:ext>
            </a:extLst>
          </p:cNvPr>
          <p:cNvSpPr/>
          <p:nvPr/>
        </p:nvSpPr>
        <p:spPr>
          <a:xfrm rot="18900000">
            <a:off x="8065526" y="5139876"/>
            <a:ext cx="432017" cy="2016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3613686A-8FE9-5F97-55A1-25B1C9D318CC}"/>
              </a:ext>
            </a:extLst>
          </p:cNvPr>
          <p:cNvSpPr/>
          <p:nvPr/>
        </p:nvSpPr>
        <p:spPr>
          <a:xfrm>
            <a:off x="4572000" y="2756509"/>
            <a:ext cx="45719" cy="26779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6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re 42"/>
          <p:cNvSpPr>
            <a:spLocks noGrp="1"/>
          </p:cNvSpPr>
          <p:nvPr>
            <p:ph type="title"/>
          </p:nvPr>
        </p:nvSpPr>
        <p:spPr>
          <a:xfrm>
            <a:off x="914400" y="246731"/>
            <a:ext cx="8229600" cy="857250"/>
          </a:xfrm>
        </p:spPr>
        <p:txBody>
          <a:bodyPr/>
          <a:lstStyle/>
          <a:p>
            <a:r>
              <a:rPr lang="en-US" spc="-7" dirty="0">
                <a:cs typeface="Arial"/>
              </a:rPr>
              <a:t>“inflation inequality” (this presentation)</a:t>
            </a:r>
            <a:endParaRPr lang="en-US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4"/>
          </p:nvPr>
        </p:nvSpPr>
        <p:spPr>
          <a:xfrm>
            <a:off x="8291145" y="6357193"/>
            <a:ext cx="540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4</a:t>
            </a:fld>
            <a:endParaRPr spc="-17" dirty="0"/>
          </a:p>
        </p:txBody>
      </p:sp>
      <p:sp>
        <p:nvSpPr>
          <p:cNvPr id="33" name="object 33"/>
          <p:cNvSpPr txBox="1"/>
          <p:nvPr/>
        </p:nvSpPr>
        <p:spPr>
          <a:xfrm rot="960000">
            <a:off x="1530166" y="2787814"/>
            <a:ext cx="25598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4"/>
              </a:lnSpc>
            </a:pPr>
            <a:r>
              <a:rPr sz="1634" b="1" spc="-34" dirty="0">
                <a:solidFill>
                  <a:srgbClr val="FFFFFF"/>
                </a:solidFill>
                <a:latin typeface="Arial"/>
                <a:cs typeface="Arial"/>
              </a:rPr>
              <a:t>€</a:t>
            </a:r>
            <a:endParaRPr sz="1634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05407" y="4131752"/>
            <a:ext cx="142954" cy="26020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634" b="1" spc="-34" dirty="0">
                <a:solidFill>
                  <a:srgbClr val="FFFFFF"/>
                </a:solidFill>
                <a:latin typeface="Arial"/>
                <a:cs typeface="Arial"/>
              </a:rPr>
              <a:t>€</a:t>
            </a:r>
            <a:endParaRPr sz="1634">
              <a:latin typeface="Arial"/>
              <a:cs typeface="Arial"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4114074784"/>
              </p:ext>
            </p:extLst>
          </p:nvPr>
        </p:nvGraphicFramePr>
        <p:xfrm>
          <a:off x="738756" y="3166440"/>
          <a:ext cx="6219015" cy="2190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à coins arrondis 6"/>
          <p:cNvSpPr/>
          <p:nvPr/>
        </p:nvSpPr>
        <p:spPr>
          <a:xfrm>
            <a:off x="1111663" y="994164"/>
            <a:ext cx="6345382" cy="110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Households buy different baskets of goods and services. </a:t>
            </a:r>
          </a:p>
          <a:p>
            <a:r>
              <a:rPr lang="en-US" dirty="0"/>
              <a:t>Inflation differs across categories (income, age, etc.) 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D6303-DDDB-7897-AE2E-9C98D90517EC}"/>
              </a:ext>
            </a:extLst>
          </p:cNvPr>
          <p:cNvSpPr/>
          <p:nvPr/>
        </p:nvSpPr>
        <p:spPr>
          <a:xfrm>
            <a:off x="2762811" y="2167102"/>
            <a:ext cx="2571136" cy="4486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Inflation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56D5D0FE-A457-036E-F59F-424C67218828}"/>
              </a:ext>
            </a:extLst>
          </p:cNvPr>
          <p:cNvSpPr/>
          <p:nvPr/>
        </p:nvSpPr>
        <p:spPr>
          <a:xfrm>
            <a:off x="5006340" y="2671204"/>
            <a:ext cx="45719" cy="40993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5CFD964C-D9F4-F8C7-8608-1C33C38A7075}"/>
              </a:ext>
            </a:extLst>
          </p:cNvPr>
          <p:cNvSpPr/>
          <p:nvPr/>
        </p:nvSpPr>
        <p:spPr>
          <a:xfrm rot="18900000">
            <a:off x="1935349" y="2272531"/>
            <a:ext cx="637309" cy="371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BEFE7B0-4098-2AFB-3788-F648CB35DBF4}"/>
              </a:ext>
            </a:extLst>
          </p:cNvPr>
          <p:cNvGrpSpPr/>
          <p:nvPr/>
        </p:nvGrpSpPr>
        <p:grpSpPr>
          <a:xfrm>
            <a:off x="7129613" y="3807421"/>
            <a:ext cx="654864" cy="454434"/>
            <a:chOff x="3219721" y="1138596"/>
            <a:chExt cx="2981969" cy="488871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B8BB9A6-CF52-7924-DE15-F7B05BA28D44}"/>
                </a:ext>
              </a:extLst>
            </p:cNvPr>
            <p:cNvSpPr/>
            <p:nvPr/>
          </p:nvSpPr>
          <p:spPr>
            <a:xfrm>
              <a:off x="3219721" y="1138596"/>
              <a:ext cx="2981969" cy="48887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Rectangle : coins arrondis 4">
              <a:extLst>
                <a:ext uri="{FF2B5EF4-FFF2-40B4-BE49-F238E27FC236}">
                  <a16:creationId xmlns:a16="http://schemas.microsoft.com/office/drawing/2014/main" id="{EBF291D4-EE36-A346-F5A1-8061E54FABAF}"/>
                </a:ext>
              </a:extLst>
            </p:cNvPr>
            <p:cNvSpPr txBox="1"/>
            <p:nvPr/>
          </p:nvSpPr>
          <p:spPr>
            <a:xfrm>
              <a:off x="3234040" y="1152915"/>
              <a:ext cx="2953331" cy="460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b="1" kern="1200" noProof="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14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45B8AC-E874-546C-4A9A-FA17B42B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Ditsributive</a:t>
            </a:r>
            <a:r>
              <a:rPr lang="fr-FR" dirty="0"/>
              <a:t> </a:t>
            </a:r>
            <a:r>
              <a:rPr lang="fr-FR" dirty="0" err="1"/>
              <a:t>effects</a:t>
            </a:r>
            <a:r>
              <a:rPr lang="fr-FR" dirty="0"/>
              <a:t> of inflation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067ED7-6CDE-5866-8405-45773F0A7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03890F-74AF-E40E-A77A-3D99F60AC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5CDBB5D-049D-158C-DFC4-3CA45258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3" y="952042"/>
            <a:ext cx="6354514" cy="517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5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in this presentation?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8423025" y="6359104"/>
            <a:ext cx="540000" cy="360000"/>
          </a:xfrm>
        </p:spPr>
        <p:txBody>
          <a:bodyPr/>
          <a:lstStyle/>
          <a:p>
            <a:fld id="{A5612AF6-3794-417C-8315-010C3BB3AD18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68000" y="847531"/>
            <a:ext cx="8409300" cy="4525963"/>
          </a:xfrm>
        </p:spPr>
        <p:txBody>
          <a:bodyPr>
            <a:noAutofit/>
          </a:bodyPr>
          <a:lstStyle/>
          <a:p>
            <a:pPr algn="just"/>
            <a:endParaRPr lang="en-US" sz="2000" dirty="0"/>
          </a:p>
          <a:p>
            <a:pPr algn="just"/>
            <a:r>
              <a:rPr lang="en-US" sz="2400" b="1" dirty="0"/>
              <a:t>Focus on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The measurement of inflation inequality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Fiscal vs. monetary policies to address the inflation surge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algn="just"/>
            <a:r>
              <a:rPr lang="en-US" dirty="0"/>
              <a:t>Inflation inequality estimates are not available in real time. We construct </a:t>
            </a:r>
            <a:r>
              <a:rPr lang="en-US" b="1" dirty="0"/>
              <a:t>monthly inflation indicators </a:t>
            </a:r>
            <a:r>
              <a:rPr lang="en-US" dirty="0"/>
              <a:t>in the euro area from Eurostat data</a:t>
            </a:r>
          </a:p>
          <a:p>
            <a:pPr algn="just"/>
            <a:r>
              <a:rPr lang="en-US" b="1" dirty="0"/>
              <a:t>Look at a simple replicable methodology </a:t>
            </a:r>
            <a:r>
              <a:rPr lang="en-US" dirty="0"/>
              <a:t>to estimate inflation by income groups, age, etc.</a:t>
            </a:r>
          </a:p>
          <a:p>
            <a:pPr algn="just"/>
            <a:r>
              <a:rPr lang="en-US" b="1" dirty="0"/>
              <a:t>Central banks target average inflation</a:t>
            </a:r>
            <a:r>
              <a:rPr lang="en-US" dirty="0"/>
              <a:t>, but its impact is uneven across households</a:t>
            </a:r>
          </a:p>
          <a:p>
            <a:pPr algn="just"/>
            <a:endParaRPr lang="en-US" sz="2400" b="1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786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2800" y="-20782"/>
            <a:ext cx="8229600" cy="1143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91128" y="2121173"/>
            <a:ext cx="8229600" cy="319897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Methodology</a:t>
            </a:r>
            <a:r>
              <a:rPr lang="fr-FR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Implications for fiscal/monetary policy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Mutiple</a:t>
            </a:r>
            <a:r>
              <a:rPr lang="en-US" dirty="0"/>
              <a:t> choice questions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5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"/>
          </p:nvPr>
        </p:nvSpPr>
        <p:spPr>
          <a:xfrm>
            <a:off x="8140200" y="6248443"/>
            <a:ext cx="405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8</a:t>
            </a:fld>
            <a:endParaRPr spc="-17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15600" y="2714491"/>
            <a:ext cx="8229600" cy="741180"/>
          </a:xfrm>
        </p:spPr>
        <p:txBody>
          <a:bodyPr>
            <a:normAutofit/>
          </a:bodyPr>
          <a:lstStyle/>
          <a:p>
            <a:pPr marL="514350" indent="-514350" algn="ctr">
              <a:buAutoNum type="arabicPeriod"/>
            </a:pPr>
            <a:r>
              <a:rPr lang="en-GB" sz="3300" b="1" dirty="0">
                <a:latin typeface="+mj-lt"/>
                <a:cs typeface="Arial"/>
              </a:rPr>
              <a:t>Methodology</a:t>
            </a:r>
            <a:endParaRPr lang="en-GB" sz="3300" dirty="0">
              <a:latin typeface="+mj-lt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3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7" dirty="0"/>
              <a:t>HOW TO </a:t>
            </a:r>
            <a:r>
              <a:rPr lang="en-GB" spc="-7" dirty="0" err="1"/>
              <a:t>CalculatE</a:t>
            </a:r>
            <a:r>
              <a:rPr lang="en-GB" dirty="0"/>
              <a:t> </a:t>
            </a:r>
            <a:r>
              <a:rPr lang="en-US" dirty="0"/>
              <a:t>inflation by household categories</a:t>
            </a:r>
            <a:r>
              <a:rPr lang="en-GB" spc="-7" dirty="0"/>
              <a:t>?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68000" y="1098192"/>
            <a:ext cx="8229600" cy="4530246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endParaRPr lang="en-US" sz="7200" b="1" dirty="0"/>
          </a:p>
          <a:p>
            <a:pPr algn="just"/>
            <a:r>
              <a:rPr lang="en-US" sz="8000" b="1" dirty="0"/>
              <a:t>Baseline approach </a:t>
            </a:r>
            <a:r>
              <a:rPr lang="en-US" sz="8000" dirty="0"/>
              <a:t>(ECB, OECD, Bruegel, etc.) </a:t>
            </a:r>
            <a:r>
              <a:rPr lang="en-US" sz="8000" b="1" dirty="0"/>
              <a:t>uses surveys’ consumption baskets</a:t>
            </a:r>
            <a:r>
              <a:rPr lang="en-US" sz="8000" dirty="0"/>
              <a:t>, to compute inflation at </a:t>
            </a:r>
            <a:r>
              <a:rPr lang="en-US" sz="8000" b="1" u="sng" dirty="0"/>
              <a:t>household categories</a:t>
            </a:r>
            <a:r>
              <a:rPr lang="en-US" sz="8000" dirty="0"/>
              <a:t> (income level, age, area, etc.)  </a:t>
            </a:r>
          </a:p>
          <a:p>
            <a:pPr algn="just"/>
            <a:endParaRPr lang="en-US" sz="8000" dirty="0"/>
          </a:p>
          <a:p>
            <a:pPr marL="0" indent="0" algn="just">
              <a:buNone/>
            </a:pPr>
            <a:r>
              <a:rPr lang="fr-FR" sz="8000" b="1" dirty="0"/>
              <a:t>     Baseline</a:t>
            </a:r>
            <a:r>
              <a:rPr lang="en-US" sz="8000" b="1" dirty="0"/>
              <a:t> approach = Linked data HICP x Households budget survey by product (COICOP)</a:t>
            </a:r>
          </a:p>
          <a:p>
            <a:pPr marL="0" indent="0" algn="just">
              <a:buNone/>
            </a:pPr>
            <a:endParaRPr lang="en-US" sz="8000" dirty="0"/>
          </a:p>
          <a:p>
            <a:pPr marL="0" indent="0" algn="just">
              <a:buNone/>
            </a:pPr>
            <a:endParaRPr lang="en-US" sz="8000" dirty="0"/>
          </a:p>
          <a:p>
            <a:pPr algn="just"/>
            <a:r>
              <a:rPr lang="en-US" sz="8000" b="1" dirty="0"/>
              <a:t>Advantages of the baseline approach</a:t>
            </a:r>
          </a:p>
          <a:p>
            <a:pPr lvl="1" algn="just"/>
            <a:r>
              <a:rPr lang="en-US" sz="8000" dirty="0"/>
              <a:t>covers the full consumption basket of households</a:t>
            </a:r>
          </a:p>
          <a:p>
            <a:pPr lvl="1" algn="just"/>
            <a:r>
              <a:rPr lang="en-US" sz="8000" dirty="0"/>
              <a:t>cross-country comparability</a:t>
            </a:r>
          </a:p>
          <a:p>
            <a:pPr marL="457200" lvl="1" indent="0" algn="just">
              <a:buNone/>
            </a:pPr>
            <a:endParaRPr lang="en-US" sz="8000" dirty="0"/>
          </a:p>
          <a:p>
            <a:pPr algn="just"/>
            <a:r>
              <a:rPr lang="en-US" sz="8000" b="1" dirty="0"/>
              <a:t>Assumptions</a:t>
            </a:r>
          </a:p>
          <a:p>
            <a:pPr lvl="1" algn="just"/>
            <a:r>
              <a:rPr lang="en-US" sz="8000" dirty="0"/>
              <a:t>no behavioral/substitution effects (idem CPI in general)</a:t>
            </a:r>
          </a:p>
          <a:p>
            <a:pPr lvl="1" algn="just"/>
            <a:r>
              <a:rPr lang="en-US" sz="8000" dirty="0"/>
              <a:t>ignores intra-category household heterogeneity</a:t>
            </a:r>
          </a:p>
          <a:p>
            <a:pPr lvl="1" algn="just"/>
            <a:r>
              <a:rPr lang="en-US" sz="8000" dirty="0"/>
              <a:t>representative consumption baskets of 2020 (HBS generally available every 5 years in euro area) </a:t>
            </a:r>
          </a:p>
          <a:p>
            <a:endParaRPr lang="en-US" b="1" dirty="0"/>
          </a:p>
        </p:txBody>
      </p:sp>
      <p:sp>
        <p:nvSpPr>
          <p:cNvPr id="6" name="Espace réservé du contenu 4"/>
          <p:cNvSpPr txBox="1">
            <a:spLocks/>
          </p:cNvSpPr>
          <p:nvPr/>
        </p:nvSpPr>
        <p:spPr>
          <a:xfrm>
            <a:off x="1062630" y="3363315"/>
            <a:ext cx="8081370" cy="572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2000" indent="-2520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600" kern="1200">
                <a:solidFill>
                  <a:srgbClr val="205AA7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rgbClr val="205AA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fr-FR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26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D928F-990D-38A5-0599-FD0233B6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00" y="0"/>
            <a:ext cx="8229600" cy="1143000"/>
          </a:xfrm>
        </p:spPr>
        <p:txBody>
          <a:bodyPr/>
          <a:lstStyle/>
          <a:p>
            <a:r>
              <a:rPr lang="fr-FR" dirty="0"/>
              <a:t>Formulas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17B810B-2744-8022-ED51-2277E44C7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DF60B3-DA62-9E87-859F-81142BD52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C25DAE-BF88-93C2-9A5A-FD3E5025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809"/>
            <a:ext cx="7871742" cy="453868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5F0095F-7948-5F00-6CE8-D560C62D793A}"/>
              </a:ext>
            </a:extLst>
          </p:cNvPr>
          <p:cNvSpPr txBox="1"/>
          <p:nvPr/>
        </p:nvSpPr>
        <p:spPr>
          <a:xfrm>
            <a:off x="840658" y="1209738"/>
            <a:ext cx="7871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Idea: keep official CPI weights but distribute them across income quintile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784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76A3-BEF8-AB39-DA5E-20E94962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1E1C9-4208-77B9-5184-1E64EB20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982"/>
            <a:ext cx="8229600" cy="1143000"/>
          </a:xfrm>
        </p:spPr>
        <p:txBody>
          <a:bodyPr/>
          <a:lstStyle/>
          <a:p>
            <a:r>
              <a:rPr lang="en-US" dirty="0"/>
              <a:t>Replication packages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90B0839-4D12-342E-A1B1-AEE685035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83DDA9-6F80-F38F-882F-7AE1B4238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11D70AA-6A11-70EB-DA25-4F54CC83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030117"/>
            <a:ext cx="8229600" cy="5075120"/>
          </a:xfrm>
        </p:spPr>
        <p:txBody>
          <a:bodyPr>
            <a:normAutofit/>
          </a:bodyPr>
          <a:lstStyle/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r>
              <a:rPr lang="en-US" b="1" dirty="0" err="1"/>
              <a:t>Jaravel</a:t>
            </a:r>
            <a:r>
              <a:rPr lang="en-US" b="1" dirty="0"/>
              <a:t> (2024) Distributional CPI: </a:t>
            </a:r>
            <a:r>
              <a:rPr lang="en-US" dirty="0"/>
              <a:t>monthly consumer price indices by socio-demographic groups (consistent with official release)</a:t>
            </a:r>
            <a:endParaRPr lang="en-US" b="1" dirty="0"/>
          </a:p>
          <a:p>
            <a:pPr marL="0" indent="0" algn="just">
              <a:buNone/>
            </a:pPr>
            <a:r>
              <a:rPr lang="fr-FR" dirty="0">
                <a:hlinkClick r:id="rId2"/>
              </a:rPr>
              <a:t>DCPI | </a:t>
            </a:r>
            <a:r>
              <a:rPr lang="fr-FR" dirty="0" err="1">
                <a:hlinkClick r:id="rId2"/>
              </a:rPr>
              <a:t>mysite</a:t>
            </a:r>
            <a:r>
              <a:rPr lang="fr-FR" dirty="0"/>
              <a:t>  (in R)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Euro area HICP: </a:t>
            </a:r>
            <a:r>
              <a:rPr lang="en-US" dirty="0"/>
              <a:t>easy access to data from Eurostat’s website, computation of many indices (Laspeyres, Paasche, chained indices, etc.)</a:t>
            </a:r>
            <a:endParaRPr lang="en-US" b="1" dirty="0"/>
          </a:p>
          <a:p>
            <a:pPr marL="0" indent="0" algn="just">
              <a:buNone/>
            </a:pPr>
            <a:r>
              <a:rPr lang="fr-FR" dirty="0">
                <a:hlinkClick r:id="rId3"/>
              </a:rPr>
              <a:t>Introduction to the </a:t>
            </a:r>
            <a:r>
              <a:rPr lang="fr-FR" dirty="0" err="1">
                <a:hlinkClick r:id="rId3"/>
              </a:rPr>
              <a:t>hicp</a:t>
            </a:r>
            <a:r>
              <a:rPr lang="fr-FR" dirty="0">
                <a:hlinkClick r:id="rId3"/>
              </a:rPr>
              <a:t>-package</a:t>
            </a:r>
            <a:r>
              <a:rPr lang="fr-FR" dirty="0"/>
              <a:t> (in R)</a:t>
            </a:r>
          </a:p>
          <a:p>
            <a:pPr algn="just"/>
            <a:endParaRPr lang="en-US" sz="3100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638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569F-A462-7F79-BADC-0147F7B7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D10E9F1-23A2-96EB-FB56-6C7E05290F3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140200" y="6248443"/>
            <a:ext cx="405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12</a:t>
            </a:fld>
            <a:endParaRPr spc="-17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A15415C5-87FB-DB53-30DE-3F13A877A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00" y="2763652"/>
            <a:ext cx="8229600" cy="7411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300" b="1" dirty="0">
                <a:latin typeface="+mj-lt"/>
                <a:cs typeface="Arial"/>
              </a:rPr>
              <a:t>2. Results</a:t>
            </a:r>
            <a:endParaRPr lang="en-GB" sz="3300" dirty="0">
              <a:latin typeface="+mj-lt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534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779" y="242374"/>
            <a:ext cx="8229600" cy="747393"/>
          </a:xfrm>
          <a:prstGeom prst="rect">
            <a:avLst/>
          </a:prstGeom>
        </p:spPr>
        <p:txBody>
          <a:bodyPr vert="horz" wrap="square" lIns="0" tIns="8645" rIns="0" bIns="0" rtlCol="0" anchor="ctr">
            <a:spAutoFit/>
          </a:bodyPr>
          <a:lstStyle/>
          <a:p>
            <a:pPr marL="266700">
              <a:spcBef>
                <a:spcPts val="68"/>
              </a:spcBef>
            </a:pPr>
            <a:r>
              <a:rPr lang="fr-FR" dirty="0"/>
              <a:t>FROM RELATIVE PRICE </a:t>
            </a:r>
            <a:r>
              <a:rPr lang="fr-FR" dirty="0" err="1"/>
              <a:t>SHOCKs</a:t>
            </a:r>
            <a:r>
              <a:rPr lang="fr-FR" dirty="0"/>
              <a:t> AND CONSUMER BASKET DIFFERENCES TO HETEROGENEOUS INFLATION EFFECTS</a:t>
            </a:r>
            <a:endParaRPr lang="en-US" spc="-7" dirty="0"/>
          </a:p>
        </p:txBody>
      </p:sp>
      <p:sp>
        <p:nvSpPr>
          <p:cNvPr id="240" name="object 240"/>
          <p:cNvSpPr txBox="1">
            <a:spLocks noGrp="1"/>
          </p:cNvSpPr>
          <p:nvPr>
            <p:ph type="sldNum" sz="quarter" idx="4"/>
          </p:nvPr>
        </p:nvSpPr>
        <p:spPr>
          <a:xfrm>
            <a:off x="8167379" y="6487774"/>
            <a:ext cx="405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13</a:t>
            </a:fld>
            <a:endParaRPr spc="-17" dirty="0"/>
          </a:p>
        </p:txBody>
      </p:sp>
      <p:sp>
        <p:nvSpPr>
          <p:cNvPr id="244" name="ZoneTexte 243"/>
          <p:cNvSpPr txBox="1"/>
          <p:nvPr/>
        </p:nvSpPr>
        <p:spPr>
          <a:xfrm>
            <a:off x="2084943" y="1367828"/>
            <a:ext cx="6017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05AA7"/>
                </a:solidFill>
                <a:latin typeface="+mj-lt"/>
                <a:cs typeface="Arial"/>
              </a:rPr>
              <a:t>Inflation across HICP components </a:t>
            </a:r>
            <a:r>
              <a:rPr lang="en-US" dirty="0">
                <a:solidFill>
                  <a:srgbClr val="205AA7"/>
                </a:solidFill>
                <a:latin typeface="+mj-lt"/>
                <a:cs typeface="Arial"/>
              </a:rPr>
              <a:t>(euro area, %, </a:t>
            </a:r>
            <a:r>
              <a:rPr lang="en-US" dirty="0" err="1">
                <a:solidFill>
                  <a:srgbClr val="205AA7"/>
                </a:solidFill>
                <a:latin typeface="+mj-lt"/>
                <a:cs typeface="Arial"/>
              </a:rPr>
              <a:t>yoy</a:t>
            </a:r>
            <a:r>
              <a:rPr lang="en-GB" dirty="0">
                <a:solidFill>
                  <a:srgbClr val="205AA7"/>
                </a:solidFill>
                <a:latin typeface="+mj-lt"/>
                <a:cs typeface="Arial"/>
              </a:rPr>
              <a:t>) 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296169" y="6281307"/>
            <a:ext cx="15775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1200" dirty="0">
                <a:solidFill>
                  <a:srgbClr val="205AA7"/>
                </a:solidFill>
              </a:rPr>
              <a:t>Source: Eurostat, HICP</a:t>
            </a:r>
            <a:endParaRPr lang="en-US" sz="1200" dirty="0">
              <a:solidFill>
                <a:srgbClr val="205AA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2977" y="989767"/>
            <a:ext cx="4349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205AA7"/>
                </a:solidFill>
                <a:latin typeface="+mj-lt"/>
                <a:cs typeface="Arial"/>
              </a:rPr>
              <a:t>Large variation </a:t>
            </a:r>
            <a:r>
              <a:rPr lang="fr-FR" dirty="0" err="1">
                <a:solidFill>
                  <a:srgbClr val="205AA7"/>
                </a:solidFill>
                <a:latin typeface="+mj-lt"/>
                <a:cs typeface="Arial"/>
              </a:rPr>
              <a:t>between</a:t>
            </a:r>
            <a:r>
              <a:rPr lang="fr-FR" dirty="0">
                <a:solidFill>
                  <a:srgbClr val="205AA7"/>
                </a:solidFill>
                <a:latin typeface="+mj-lt"/>
                <a:cs typeface="Arial"/>
              </a:rPr>
              <a:t> </a:t>
            </a:r>
            <a:r>
              <a:rPr lang="fr-FR" dirty="0" err="1">
                <a:solidFill>
                  <a:srgbClr val="205AA7"/>
                </a:solidFill>
                <a:latin typeface="+mj-lt"/>
                <a:cs typeface="Arial"/>
              </a:rPr>
              <a:t>products</a:t>
            </a:r>
            <a:r>
              <a:rPr lang="fr-FR" dirty="0">
                <a:solidFill>
                  <a:srgbClr val="205AA7"/>
                </a:solidFill>
                <a:latin typeface="+mj-lt"/>
                <a:cs typeface="Arial"/>
              </a:rPr>
              <a:t> </a:t>
            </a:r>
            <a:r>
              <a:rPr lang="fr-FR" dirty="0" err="1">
                <a:solidFill>
                  <a:srgbClr val="205AA7"/>
                </a:solidFill>
                <a:latin typeface="+mj-lt"/>
                <a:cs typeface="Arial"/>
              </a:rPr>
              <a:t>categories</a:t>
            </a:r>
            <a:endParaRPr lang="fr-FR" dirty="0">
              <a:solidFill>
                <a:srgbClr val="205AA7"/>
              </a:solidFill>
              <a:latin typeface="+mj-lt"/>
              <a:cs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064445C-3323-DF5D-37EA-59BE4190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1738210"/>
            <a:ext cx="7059562" cy="454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2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918" y="3354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Different consumer baskets for different categories of households (propensity to consume)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579295" y="6231515"/>
            <a:ext cx="29866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1200" dirty="0">
                <a:solidFill>
                  <a:srgbClr val="205AA7"/>
                </a:solidFill>
              </a:rPr>
              <a:t>Source: Eurostat, H</a:t>
            </a:r>
            <a:r>
              <a:rPr lang="en" sz="1200" dirty="0">
                <a:solidFill>
                  <a:srgbClr val="205AA7"/>
                </a:solidFill>
                <a:cs typeface="Arial"/>
              </a:rPr>
              <a:t>ouseholds</a:t>
            </a:r>
            <a:r>
              <a:rPr lang="en" sz="1200" dirty="0">
                <a:solidFill>
                  <a:srgbClr val="205AA7"/>
                </a:solidFill>
              </a:rPr>
              <a:t> </a:t>
            </a:r>
            <a:r>
              <a:rPr lang="en" sz="1200" dirty="0">
                <a:solidFill>
                  <a:srgbClr val="205AA7"/>
                </a:solidFill>
                <a:cs typeface="Arial"/>
              </a:rPr>
              <a:t>budget survey</a:t>
            </a:r>
            <a:endParaRPr lang="en-US" sz="1200" dirty="0">
              <a:solidFill>
                <a:srgbClr val="205AA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93232" y="1066279"/>
            <a:ext cx="69389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5AA7"/>
                </a:solidFill>
                <a:latin typeface="+mj-lt"/>
                <a:cs typeface="Arial"/>
              </a:rPr>
              <a:t>Consumption baskets by income </a:t>
            </a:r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(</a:t>
            </a:r>
            <a:r>
              <a:rPr lang="fr-FR" dirty="0">
                <a:solidFill>
                  <a:srgbClr val="205AA7"/>
                </a:solidFill>
                <a:cs typeface="Arial"/>
              </a:rPr>
              <a:t>euro area</a:t>
            </a:r>
            <a:r>
              <a:rPr lang="fr-FR" b="1" dirty="0">
                <a:solidFill>
                  <a:srgbClr val="205AA7"/>
                </a:solidFill>
                <a:cs typeface="Arial"/>
              </a:rPr>
              <a:t>, </a:t>
            </a:r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in % of total expenditures)</a:t>
            </a:r>
            <a:endParaRPr lang="en-US" dirty="0">
              <a:solidFill>
                <a:srgbClr val="205AA7"/>
              </a:solidFill>
              <a:latin typeface="+mj-lt"/>
              <a:cs typeface="Arial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14" y="1430320"/>
            <a:ext cx="5500064" cy="479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3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FROM RELATIVE PRICE SHOCK AND CONSUMER BASKET DIFFERENCES</a:t>
            </a:r>
            <a:br>
              <a:rPr lang="fr-FR" dirty="0"/>
            </a:br>
            <a:r>
              <a:rPr lang="fr-FR" dirty="0"/>
              <a:t>TO HETEROGENEOUS INFLATION EFFECTS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2518155" y="1208936"/>
            <a:ext cx="47344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Inflation by </a:t>
            </a:r>
            <a:r>
              <a:rPr lang="fr-FR" b="1" dirty="0" err="1">
                <a:solidFill>
                  <a:srgbClr val="205AA7"/>
                </a:solidFill>
              </a:rPr>
              <a:t>income</a:t>
            </a:r>
            <a:r>
              <a:rPr lang="fr-FR" b="1" dirty="0">
                <a:solidFill>
                  <a:srgbClr val="205AA7"/>
                </a:solidFill>
              </a:rPr>
              <a:t> quintiles </a:t>
            </a:r>
            <a:r>
              <a:rPr lang="fr-FR" dirty="0">
                <a:solidFill>
                  <a:srgbClr val="205AA7"/>
                </a:solidFill>
              </a:rPr>
              <a:t>(euro area, in %)</a:t>
            </a:r>
            <a:endParaRPr lang="en-US" dirty="0">
              <a:solidFill>
                <a:srgbClr val="205AA7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177770" y="6015213"/>
            <a:ext cx="365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11" y="1719889"/>
            <a:ext cx="5745978" cy="41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4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626" y="145705"/>
            <a:ext cx="8229600" cy="907031"/>
          </a:xfrm>
        </p:spPr>
        <p:txBody>
          <a:bodyPr>
            <a:normAutofit/>
          </a:bodyPr>
          <a:lstStyle/>
          <a:p>
            <a:r>
              <a:rPr lang="en-US" dirty="0"/>
              <a:t>Inflation inequality: cross country heterogeneity</a:t>
            </a: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2748579" y="1884645"/>
            <a:ext cx="4578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Inflation by </a:t>
            </a:r>
            <a:r>
              <a:rPr lang="fr-FR" b="1" dirty="0" err="1">
                <a:solidFill>
                  <a:srgbClr val="205AA7"/>
                </a:solidFill>
              </a:rPr>
              <a:t>income</a:t>
            </a:r>
            <a:r>
              <a:rPr lang="fr-FR" b="1" dirty="0">
                <a:solidFill>
                  <a:srgbClr val="205AA7"/>
                </a:solidFill>
              </a:rPr>
              <a:t> quintiles</a:t>
            </a:r>
            <a:r>
              <a:rPr lang="fr-FR" dirty="0">
                <a:solidFill>
                  <a:srgbClr val="205AA7"/>
                </a:solidFill>
              </a:rPr>
              <a:t>  (2022, in %)</a:t>
            </a:r>
            <a:endParaRPr lang="en-US" dirty="0">
              <a:solidFill>
                <a:srgbClr val="205AA7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177770" y="6015213"/>
            <a:ext cx="365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882834" y="1083945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205AA7"/>
                </a:solidFill>
              </a:rPr>
              <a:t>Baltic</a:t>
            </a:r>
            <a:r>
              <a:rPr lang="fr-FR" b="1" dirty="0">
                <a:solidFill>
                  <a:srgbClr val="205AA7"/>
                </a:solidFill>
              </a:rPr>
              <a:t> countries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8" y="2178349"/>
            <a:ext cx="4546907" cy="34051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23586" y="889463"/>
            <a:ext cx="27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05AA7"/>
                </a:solidFill>
              </a:rPr>
              <a:t>Large inflation inequalities </a:t>
            </a:r>
            <a:endParaRPr lang="fr-FR" b="1" dirty="0">
              <a:solidFill>
                <a:srgbClr val="205AA7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361" y="2256560"/>
            <a:ext cx="4557603" cy="3455961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5972637" y="1193473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205AA7"/>
                </a:solidFill>
              </a:rPr>
              <a:t>Greece</a:t>
            </a:r>
            <a:r>
              <a:rPr lang="fr-FR" b="1" dirty="0">
                <a:solidFill>
                  <a:srgbClr val="205AA7"/>
                </a:solidFill>
              </a:rPr>
              <a:t>, Ireland, </a:t>
            </a:r>
            <a:r>
              <a:rPr lang="fr-FR" b="1" dirty="0" err="1">
                <a:solidFill>
                  <a:srgbClr val="205AA7"/>
                </a:solidFill>
              </a:rPr>
              <a:t>Italy</a:t>
            </a:r>
            <a:endParaRPr lang="fr-FR" b="1" dirty="0">
              <a:solidFill>
                <a:srgbClr val="205AA7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77770" y="1495763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Q1 – Q5 &gt;&gt; 0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469986" y="1556040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Q1 – Q5 &gt; 0</a:t>
            </a:r>
          </a:p>
        </p:txBody>
      </p:sp>
    </p:spTree>
    <p:extLst>
      <p:ext uri="{BB962C8B-B14F-4D97-AF65-F5344CB8AC3E}">
        <p14:creationId xmlns:p14="http://schemas.microsoft.com/office/powerpoint/2010/main" val="58601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626" y="145705"/>
            <a:ext cx="8229600" cy="907031"/>
          </a:xfrm>
        </p:spPr>
        <p:txBody>
          <a:bodyPr>
            <a:normAutofit/>
          </a:bodyPr>
          <a:lstStyle/>
          <a:p>
            <a:r>
              <a:rPr lang="en-US" dirty="0"/>
              <a:t>Inflation inequality: cross country heterogeneity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2773794" y="1837844"/>
            <a:ext cx="4312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Inflation by </a:t>
            </a:r>
            <a:r>
              <a:rPr lang="fr-FR" b="1" dirty="0" err="1">
                <a:solidFill>
                  <a:srgbClr val="205AA7"/>
                </a:solidFill>
              </a:rPr>
              <a:t>income</a:t>
            </a:r>
            <a:r>
              <a:rPr lang="fr-FR" b="1" dirty="0">
                <a:solidFill>
                  <a:srgbClr val="205AA7"/>
                </a:solidFill>
              </a:rPr>
              <a:t> quintiles</a:t>
            </a:r>
            <a:r>
              <a:rPr lang="fr-FR" dirty="0">
                <a:solidFill>
                  <a:srgbClr val="205AA7"/>
                </a:solidFill>
              </a:rPr>
              <a:t> (2022, in %)</a:t>
            </a:r>
            <a:endParaRPr lang="en-US" dirty="0">
              <a:solidFill>
                <a:srgbClr val="205AA7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177770" y="6015213"/>
            <a:ext cx="365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 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799899" y="1009315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Germany, Spain, France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426" y="2412054"/>
            <a:ext cx="4428843" cy="345397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134" y="2156912"/>
            <a:ext cx="4404742" cy="3840813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689026" y="1161512"/>
            <a:ext cx="360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205AA7"/>
                </a:solidFill>
              </a:rPr>
              <a:t>Austria</a:t>
            </a:r>
            <a:r>
              <a:rPr lang="fr-FR" b="1" dirty="0">
                <a:solidFill>
                  <a:srgbClr val="205AA7"/>
                </a:solidFill>
              </a:rPr>
              <a:t>, </a:t>
            </a:r>
            <a:r>
              <a:rPr lang="fr-FR" b="1" dirty="0" err="1">
                <a:solidFill>
                  <a:srgbClr val="205AA7"/>
                </a:solidFill>
              </a:rPr>
              <a:t>Finland</a:t>
            </a:r>
            <a:r>
              <a:rPr lang="fr-FR" b="1" dirty="0">
                <a:solidFill>
                  <a:srgbClr val="205AA7"/>
                </a:solidFill>
              </a:rPr>
              <a:t>, Luxembourg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177770" y="1638394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Q1 – Q5 &lt; 0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705236" y="1519253"/>
            <a:ext cx="2934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Q1 – Q5 ~ 0</a:t>
            </a:r>
          </a:p>
        </p:txBody>
      </p:sp>
    </p:spTree>
    <p:extLst>
      <p:ext uri="{BB962C8B-B14F-4D97-AF65-F5344CB8AC3E}">
        <p14:creationId xmlns:p14="http://schemas.microsoft.com/office/powerpoint/2010/main" val="979494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626" y="145705"/>
            <a:ext cx="8229600" cy="907031"/>
          </a:xfrm>
        </p:spPr>
        <p:txBody>
          <a:bodyPr>
            <a:normAutofit/>
          </a:bodyPr>
          <a:lstStyle/>
          <a:p>
            <a:r>
              <a:rPr lang="en-US" dirty="0"/>
              <a:t>Inflation inequality: developments</a:t>
            </a: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008774" y="1126577"/>
            <a:ext cx="69627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Inflation by </a:t>
            </a:r>
            <a:r>
              <a:rPr lang="fr-FR" b="1" dirty="0" err="1">
                <a:solidFill>
                  <a:srgbClr val="205AA7"/>
                </a:solidFill>
              </a:rPr>
              <a:t>income</a:t>
            </a:r>
            <a:r>
              <a:rPr lang="fr-FR" b="1" dirty="0">
                <a:solidFill>
                  <a:srgbClr val="205AA7"/>
                </a:solidFill>
              </a:rPr>
              <a:t> quintile </a:t>
            </a:r>
            <a:r>
              <a:rPr lang="fr-FR" dirty="0">
                <a:solidFill>
                  <a:srgbClr val="205AA7"/>
                </a:solidFill>
              </a:rPr>
              <a:t>(</a:t>
            </a:r>
            <a:r>
              <a:rPr lang="fr-FR" dirty="0">
                <a:solidFill>
                  <a:srgbClr val="C00000"/>
                </a:solidFill>
              </a:rPr>
              <a:t>quintile 1</a:t>
            </a:r>
            <a:r>
              <a:rPr lang="fr-FR" dirty="0">
                <a:solidFill>
                  <a:srgbClr val="205AA7"/>
                </a:solidFill>
              </a:rPr>
              <a:t>, </a:t>
            </a:r>
            <a:r>
              <a:rPr lang="fr-FR" dirty="0">
                <a:solidFill>
                  <a:srgbClr val="92D050"/>
                </a:solidFill>
              </a:rPr>
              <a:t>quintile 5</a:t>
            </a:r>
            <a:r>
              <a:rPr lang="fr-FR" dirty="0">
                <a:solidFill>
                  <a:srgbClr val="205AA7"/>
                </a:solidFill>
              </a:rPr>
              <a:t>)  (in %)</a:t>
            </a:r>
            <a:endParaRPr lang="en-US" dirty="0">
              <a:solidFill>
                <a:srgbClr val="205AA7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334416" y="5706054"/>
            <a:ext cx="365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9" y="2224274"/>
            <a:ext cx="4552019" cy="340894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14" y="2290619"/>
            <a:ext cx="4170972" cy="319578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071832" y="1675425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Italy</a:t>
            </a:r>
            <a:r>
              <a:rPr lang="fr-FR" dirty="0"/>
              <a:t>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306655" y="1623376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Spain </a:t>
            </a:r>
          </a:p>
        </p:txBody>
      </p:sp>
    </p:spTree>
    <p:extLst>
      <p:ext uri="{BB962C8B-B14F-4D97-AF65-F5344CB8AC3E}">
        <p14:creationId xmlns:p14="http://schemas.microsoft.com/office/powerpoint/2010/main" val="1563572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9319" y="-103662"/>
            <a:ext cx="8229600" cy="1143000"/>
          </a:xfrm>
        </p:spPr>
        <p:txBody>
          <a:bodyPr/>
          <a:lstStyle/>
          <a:p>
            <a:r>
              <a:rPr lang="fr-FR" dirty="0"/>
              <a:t>Contribution to inflation </a:t>
            </a:r>
            <a:r>
              <a:rPr lang="fr-FR" dirty="0" err="1"/>
              <a:t>inequality</a:t>
            </a:r>
            <a:r>
              <a:rPr lang="fr-FR" dirty="0"/>
              <a:t> in SPAIN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571528" y="6301079"/>
            <a:ext cx="3284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</a:t>
            </a: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468000" y="742511"/>
            <a:ext cx="8229600" cy="835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cap="all" baseline="0">
                <a:solidFill>
                  <a:srgbClr val="205AA7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800" cap="none" dirty="0"/>
          </a:p>
        </p:txBody>
      </p:sp>
      <p:sp>
        <p:nvSpPr>
          <p:cNvPr id="11" name="Rectangle 10"/>
          <p:cNvSpPr/>
          <p:nvPr/>
        </p:nvSpPr>
        <p:spPr>
          <a:xfrm>
            <a:off x="468000" y="761806"/>
            <a:ext cx="7185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buFontTx/>
              <a:buChar char="-"/>
            </a:pPr>
            <a:r>
              <a:rPr lang="en-US" sz="1600" dirty="0">
                <a:solidFill>
                  <a:srgbClr val="205AA7"/>
                </a:solidFill>
              </a:rPr>
              <a:t>In 2022, </a:t>
            </a:r>
            <a:r>
              <a:rPr lang="en-US" sz="1600" dirty="0">
                <a:solidFill>
                  <a:srgbClr val="FF0000"/>
                </a:solidFill>
              </a:rPr>
              <a:t>the product contributions </a:t>
            </a:r>
            <a:r>
              <a:rPr lang="en-US" sz="1600" dirty="0">
                <a:solidFill>
                  <a:srgbClr val="205AA7"/>
                </a:solidFill>
              </a:rPr>
              <a:t>to the inflation gap offset each other (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energy</a:t>
            </a:r>
            <a:r>
              <a:rPr lang="en-US" sz="1600" dirty="0">
                <a:solidFill>
                  <a:srgbClr val="205AA7"/>
                </a:solidFill>
              </a:rPr>
              <a:t> vs. services).</a:t>
            </a:r>
          </a:p>
          <a:p>
            <a:pPr marL="742950" lvl="1" indent="-285750" algn="just">
              <a:buFontTx/>
              <a:buChar char="-"/>
            </a:pPr>
            <a:r>
              <a:rPr lang="en-US" sz="1600" dirty="0">
                <a:solidFill>
                  <a:srgbClr val="205AA7"/>
                </a:solidFill>
              </a:rPr>
              <a:t>In 2023, the rise </a:t>
            </a:r>
            <a:r>
              <a:rPr lang="en-US" sz="1600" dirty="0">
                <a:solidFill>
                  <a:srgbClr val="00B050"/>
                </a:solidFill>
              </a:rPr>
              <a:t>in food prices </a:t>
            </a:r>
            <a:r>
              <a:rPr lang="en-US" sz="1600" dirty="0">
                <a:solidFill>
                  <a:srgbClr val="205AA7"/>
                </a:solidFill>
              </a:rPr>
              <a:t>affects more low-income households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23568" y="1683033"/>
            <a:ext cx="7185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Product contributions </a:t>
            </a:r>
            <a:r>
              <a:rPr lang="en-US" b="1" dirty="0">
                <a:solidFill>
                  <a:srgbClr val="205AA7"/>
                </a:solidFill>
              </a:rPr>
              <a:t>to </a:t>
            </a:r>
            <a:r>
              <a:rPr lang="en-US" b="1" dirty="0"/>
              <a:t>inflation gap  </a:t>
            </a:r>
            <a:r>
              <a:rPr lang="en-US" dirty="0">
                <a:solidFill>
                  <a:srgbClr val="205AA7"/>
                </a:solidFill>
              </a:rPr>
              <a:t>(in pp)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068536" y="3576935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(Q1-Q5)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2035086"/>
            <a:ext cx="6400847" cy="426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4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626" y="145705"/>
            <a:ext cx="8229600" cy="907031"/>
          </a:xfrm>
        </p:spPr>
        <p:txBody>
          <a:bodyPr>
            <a:normAutofit/>
          </a:bodyPr>
          <a:lstStyle/>
          <a:p>
            <a:r>
              <a:rPr lang="en-US" dirty="0"/>
              <a:t>Inflation inequality: developments</a:t>
            </a: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749615" y="1709954"/>
            <a:ext cx="69627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05AA7"/>
                </a:solidFill>
              </a:rPr>
              <a:t>Inflation by </a:t>
            </a:r>
            <a:r>
              <a:rPr lang="fr-FR" b="1" dirty="0" err="1">
                <a:solidFill>
                  <a:srgbClr val="205AA7"/>
                </a:solidFill>
              </a:rPr>
              <a:t>income</a:t>
            </a:r>
            <a:r>
              <a:rPr lang="fr-FR" b="1" dirty="0">
                <a:solidFill>
                  <a:srgbClr val="205AA7"/>
                </a:solidFill>
              </a:rPr>
              <a:t> quintile (</a:t>
            </a:r>
            <a:r>
              <a:rPr lang="fr-FR" dirty="0">
                <a:solidFill>
                  <a:srgbClr val="C00000"/>
                </a:solidFill>
              </a:rPr>
              <a:t>quintile 1</a:t>
            </a:r>
            <a:r>
              <a:rPr lang="fr-FR" dirty="0">
                <a:solidFill>
                  <a:srgbClr val="205AA7"/>
                </a:solidFill>
              </a:rPr>
              <a:t>, </a:t>
            </a:r>
            <a:r>
              <a:rPr lang="fr-FR" dirty="0">
                <a:solidFill>
                  <a:srgbClr val="92D050"/>
                </a:solidFill>
              </a:rPr>
              <a:t>quintile 5</a:t>
            </a:r>
            <a:r>
              <a:rPr lang="fr-FR" dirty="0">
                <a:solidFill>
                  <a:srgbClr val="205AA7"/>
                </a:solidFill>
              </a:rPr>
              <a:t>)  (in %)</a:t>
            </a:r>
            <a:endParaRPr lang="en-US" dirty="0">
              <a:solidFill>
                <a:srgbClr val="205AA7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168534" y="5994604"/>
            <a:ext cx="365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877866" y="2232380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Germany 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306655" y="2287683"/>
            <a:ext cx="186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France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8" y="2649176"/>
            <a:ext cx="4220267" cy="3160498"/>
          </a:xfrm>
          <a:prstGeom prst="rect">
            <a:avLst/>
          </a:prstGeom>
        </p:spPr>
      </p:pic>
      <p:sp>
        <p:nvSpPr>
          <p:cNvPr id="3" name="AutoShape 2" descr="data:image/png;base64,iVBORw0KGgoAAAANSUhEUgAABUAAAAPACAMAAADDuCPrAAABMlBMVEUAAAAAADoAAGYAOjoAOmYAOpAAZAAAZrY6AAA6OgA6Ojo6OmY6ZpA6ZrY6kNtNTU1NTW5NTY5Nbm5Nbo5NbqtNjshmAABmOgBmOjpmZpBmkLZmkNtmtttmtv9uTU1ubk1ubm5ubo5ujqtujshuq+SOTU2Obk2Obm6Ojm6Ojo6Oq8iOq+SOyOSOyP+QOgCQZjqQZmaQtraQttuQ2/+rbk2rbm6rjm6rq26ryOSr5P+2ZgC2Zjq2kGa229u22/+2///Ijk3Ijm7Iq47I5OTI5P/I///bkDrbkGbbtmbbtpDbtrbb27bb2//b/7bb///kq27kq47kyI7kyKvk5Kvk5Mjk5P/k///r6+v/AAD/tmb/yI7/25D/27b/29v/5Kv/5Mj/5OT//7b//8j//9v//+T///+hL5g9AAAACXBIWXMAAB2HAAAdhwGP5fFlAAAgAElEQVR4nO29a6MryXWet2klIGNJxlAkJVuxRjRvTmLSTmRGDinbGfEWKXZ8REfhBkfUUCYH//8vBOj7paq71upaq6vRz/vhnH1we/DuRj2nqtFovN0JIYSo8rb3EyCEkKMGgRJCiDIIlBBClEGghBCiDAIlhBBlECghhCiDQAkhRBkESgghyiBQQghRBoESQogyCJQQQpRBoIQQogwCJYQQZRAoIYQog0AJIUQZBEoIIcogUEIIUQaBEkKIMgiUEEKUQaCEEKIMAiWEEGUQKCGEKINACSFEGQRKCCHKIFBCCFEGgRJCiDIIlBBClEGghBCiDAIlhBBlECghhCiDQAkhRBkESgghyiBQQghRBoESQogyCJQQQpRBoIQQogwCJYQQZRAoIYQog0AJIUQZBEoIIcogUEIIUQaBEkKIMgiUEEKUQaCEEKIMAiWEEGUQKCGEKINACSFEGQRKCCHKIFBCCFEGgRJCiDIIlBBClEGghBCiDAIlhBBlECghhCiDQAkhRBkESgghyiBQQghRBoESQogyCJQQQpRBoIQQogwCJYQQZYoR6Pv7HlB/IjXtoP5Eapoxd0BqmAjUmUhNO6g/kZpmzB2QCFQM9SdS0w7qT6SmGXMHJAIVQ/2J1LSD+hOpacbcAYlAxVB/IjXtoP5Eapoxd0AiUDHUn0hNO6g/kZpmzB2QCFQM9SdS0w7qT6SmGXMHJAIVQ/2J1LSD+hOpacbcAYlAxVB/IjXtoP5Eapoxd0AiUDHUn0hNO6g/kZpmzB2QCFQM9SdS0w7qT6SmGXMHJAIVQ/2J1LSD+hOpacbcAYlAxVB/IjXtoP5Eapoxd0AiUDHUn0hNO6g/kZpmzB2QCFQM9SdS0w7qT6SmGXMHJAIVQ/2J1LSD+hOpacbcAYlAxVB/IjXtoP5Eapoxd0AiUDHUn0hNO6g/kZpmzB2QCFQM9SdS0w7qT6SmGXMHJAIVQ/2J1LSD+hOpacbcAYlAxVB/IjXtoP5Eapoxd0AiUDHUn0hNO6g/kZpmzB2QCFQM9SdS0w7qT6SmGXMHJAIVQ/2J1LSD+hOpacbcAYlAxVB/IjXtoP5Eapoxd0AiUDHUn0hNO6g/kZpmzB2QCFQM9SdS0w7qT6SmGXMHJAIVQ/2J1LSD+hOpacbcAYlAxVB/IjXtoP5Eapoxd0AiUDHUn0hNO6g/kZpmzB2QCFQM9SdS0w7qT6SmGXMHJAIVQ/2J1LSD+hOpacbcAYlAxVB/IjXtoP7EI9W8PaIkhpDaB0tlmj56GIlAxVB/IjXtoP7EI9W83bQKDdVU2ziVafroYSQCFUP9idS0g/oTj1TzYTylQhFoPAjUmUhNO6g/8UA1a+OpFBqoqZ7NJjMtHzyCRKBiqD+RmnZQf+KBara+U6zk5zWfD4BAn0GgzkRq2kH9iQeq2ftOrNCAQO8ItA4CdSZS0w7qTzxQzZHvZAqd1Wz3BuieSRrT8LFjSAQqhvoTqWkH9Scep+ZUdxKFzgXaPITqmSQyDR87hkSgYqg/kZp2UH/icWrObZeu0GnNWytQQ4MiUGEO9FrcRKSmHdSfeJyaIdkpBdrdC4EiUHciNe2g/sTD1Iy4Mk2BU4HK7q0LAhXmOK/FbURq2kH9iYepGXOdQqCjt/M1zyUpCFSY47wWtxGpaQf1Jx6mZlSgKQqcCFR4b10QqDDHeS1uI1LTDupPPEzNqOrEAr0h0GEQqDORmnZQf+JRasYX2ykOHNacHk6qeDJJQaDCHOa1uJFITTuoP/EoNRdEJxVo6uNuDAIV5jCvxY1EatpB/YlHqbkk0HUHDmrODsdXPJmkIFBhDvNa3Eikph3Un3iQmotLbZlABQ+8KQhUmKO8FrcSqWkH9ScepOai5tYd2Nec3RaBZn8ayhzltbiVSE07qD/xIDWXNScRqOyRNwSBCnOU1+JWIjXtoP7Eg9RcEeiaBLuawQ/Uy59OShCoMEd5LW4lUtMO6k88Rs01y6UKNPx5evHTSQoCFeYgr8XNRGraQf2Jx6i5Jrm16zuBKu6rDQIV5iCvxc1EatpB/YnHqLkquTSBBh/Gag2PQIU5yGtxM5GadlB/4iFqrjtu5QatQEcXvr0l3VcbBCrMMV6L24nUtIP6Ew9RM0FxKQIdP8xbL1ATgyJQYY7xWtxOpKYd1J94iJopAl28SVVz5s9WHQi0iBzjtbidSE07qD/xCDWTpogJAh1d9DacggqfUFIQqDCHeC1mIFLTDupPPELNJMGtCnQ6AR3uBLUwKAIV5hCvxQxEatpB/YlHqJkm0KUbVQIdXlC503YNj0CFOcRrMQORmnZQf+IRarZ+exvstwzcaon4Pp2ANo83BmQNAhXmEK/FDERq2kH9iQeoeRsJNOrQJQu+v88X8HfjNTwCFeYIr8UcRGraQf2JB6jZ2a1Zd8ccuizQ4T/b+5uu4RGoMEd4LeYgUtMO6k88QM3BBLT7IeTQBQuOJ6DdfU3X8AhUmCO8FnMQqWkH9SeWX3Owgu8vDDo09aT1/f0s1/AIVJgDvBazEKlpB/Unll9zvILvM3do/JuPwxNQ2zU8AhXmAK/FLERq2kH9if7I2+Uiu31EoPfRp4nqm0Ye4HYb1JxMZCeQfEGgwjDkDKH+RGra5OHPy0Wiq9ku0FFGF4ZP9/m4dFhz9CiGa3gEKgxDzhDqT6SmSZ7zT5FBg7tABxkbNHT326jmW1CgBlNQBCoMQ84Q6k+kpkVut8f6/f1p0FRhLazgm8tDN+7+XV/S15ztSI3cc3sQqDAMOUOoP5GaBrlVO0Df7wKDLq/g74tT0O7do4FAp3c2W8MjUGEYcoZQfyI186f257NmZdC0j7gvr+DvC1PQntDVnD2K3RQUgQrDkDOE+hOpmT23agFf10w16OoKPjoFHR681NYc3vRSyXwg0MwGRaDCMOQMof5EaubOrZmA1jVrg65Ka3UFfx9rsXvE0YN3Au1veGkFGp+C3m4pzzAWBCoMQ84Q6k+kZt7cOn82NZMMmrCCv08W8R1tcGFTc/Agl0agsTX8rcvyE4wHgQrDkDOE+hOpmTWVipoj6Bvm02BrhkpYwd8DU9Dpw9Y1x/68zwQ6nLy2j4BAI/n851+/Xq9f/+4vdHcPhCFnCPUnUjNnKh1dxgJNMWiaQCdT0PljVjUn/rwH1/DTeScCDeezj691vvJT1f0DYcgZQv2J1MyYkT/7mpXCFhWasgv0Pp2Czh+wFmj3z2b1Pp+Czhft+jX8Swu08+f1+tVcc1CGnCHUn0jNfKkt1PjzbToTXDBo2i7Qe+R9pD7Pmv1NGn8GBRp4CsvkaF5ZoL/59vX60Xcf6/gfPUT6LcUDhMKQM4T6E6mZLY0/a2uNT6JUuyxq0MQV/H1NA4+ac392Al28LwIN5MP1+uWfVj99mm8KypAzhPoTqZkrU3/e0w2auIK/rxn2KdAxcfDTmkCVBn1hgX7+/etHP5j9uDUMOUOoP5GamTLz5/39HjJo+ExK9+ZuzU3jp8JbEWgHHD5EikDVU9AXFuhnH1+/piCthCFnCPUnUjNPGgkO/Hl/vycadLKCv7QJcRY1+D7E9RebruFfWKCf5tvxOQhDzhDqT6RmlrT+bAVaQe+jcyE3RgwYdLKCr24XleiSBsP+TF3DL10bzwsL9MP1+r37r//84+v1D76rIEbCkDOE+hOpmSMhf96bo9rXDTpbwfd3CEh04cPywQX8PW0Nr90J+sIC/eT60Q8+xI8DfSeEZMntVv11qf58eGx4Xf/Ph9bqGzc37+58a29Z32p4ZSvR4eOFn8PbDDR4kMDzinR4mWQR6P/UHQf65ZlB9y5IyKuklk/EU0OxNbceyar7R0ig9SXrBh3oc+bP9iERqCiff/8pzm/85H7/h798/JDr/SQWfYZQfyI1M2T4Dny/ju6Y3dq6W1iP1svjXaDhN49GlwZcUCPe32e3Hd7bZCfo6y7hK4E27yJ9euUwJiGRmnZQf6K1QJ9/Tt/r7plvb9Pdm6OPoU92gQYRQysGTpfcvG31fg8bOOV9eOVO0NcV6GMJ3x89/8nzDaUsYcgZQv2J1MyQfgI6dNSQ+Ta1Y3880+wgpjBjZNDxVd0M91kzOIMdv7u11EKc1xZodxhTvkOaGHKGUH8iNbenP4fIaI43Yrbr8+Gd2nN6jm8RO4Z+cM30Kze7nQbv0T0AgfvNayxdG8sLC/QDAt1ApKYd1J9oLNB7vYAfr5HHzGqaONLb5FScyxPQ8VUDzvADo9X7R+G7mq3hX1ignw7eOfqAQIVEatpB/YnmAn0aauKnCbMx6Oh+t9RdoPfJdR3obbTTIDp/XZmC1g+CQMf57OP+4CX2gUqJ1LSD+hMtkdVJ6Eff3NZApzecTkFH30a0toK/hxbxb2NnL63/h3ebPS8EGszDml+r30X6eehAUF0YcoZQfyI1Nyfiz0DN6RT0PhLo888lf44NWt9n8v2b0XsvCfQNgUbyPJ/yV37cHAfK+UBlRGraQf2JDgKd7WAMMN/epo4TCXRg0Mnp8urrLtGaCztBq8sagSoM+soCvX+4ckZ6LZGadlB/oiGyWcHP3RRivsVmibPjnMIZGnQ+/VyoGZuCNo+in4K+tEDvf9N+p8c3sn2rHEPOEOpPpObWVP68BOZ2QYHOpqDdFc8/F3eB3se3mE0/F2tGBNpZGIGG8w8/+tPr9aN/8WPdvUNhyBlC/YnU3Jh6AhpaGweZD4MGHyZtAnqPfdCovjBFoJFDSBGoVxhyhlB/IjU3pjqGKXiAZZgZmYImCzT8Uff6okWBzqegw50A6p2gCFQYhpwh1J9IzY1pJqAhaPD24SlowkFMXaa36v+9VHMu0NFOVPVOUAQqDEPOEOpPpOa23KQCjR1K9PwzyZ/z0813/0wSaL9on6zm7wjUIww5Q6g/kZrbEl/Bx2peQlNQkUCHtxsd/Jkg0Mgh+Po1PAIVhiFnCPUnUnNbGoEGoZG7xI7FTFzBD284OXZ+WaDDNfzMn+o1PAIVhiFnCPUnUnNTFlbw0ZqBm8smoJ0Np589Wqw5XMOHD6i/I1CHMOQMof5Eam7Kwgo+XvOyWaCVQecf3UwRaP/JzdBzQKDmYcgZQv2J1NyUhRX8kkCDy+fkFfz93n5j55S4LNBuCjp/wtVHqe6anaAIVBiGnCHUn0jNLVlawS8IdHoP8QT0Htbtcs3wsfTdgyl3giJQYRhyhlB/IjW3ZGkFv1Dzctku0CAxRaDBa+qzodwRqH0YcoZQfyI1t2RpBb8s0PkxmKIVfISoFegdgbqFIWcI9SdSc0MWV/CLAh3dafZ9SdqsCTR+uvqLeicoAhWGIWcI9SdSc0MWV/BLNZ+66v+VawW/VjP6jcnNM1JNQRGoMAw5Q6g/kZobsriCXxPo8HPo9ywreK1A2+sQqEcYcoZQfyI19VlewS8LdGDQbCt4nUAvCNQ1DDlDqD+Rmvosr+AXa1a+an7OtoJfF2jwO+O761Q7QRGoMAw5Q6g/kZr6LK/gVwTaT0GzreBXa4YY/cfqdTtBEagwDDlDqD+RmuqsrOCXa3ZL5owreI1Au4u0a3gEKgxDzhDqT6SmOisr+HWBtt9N3P17azQCHV6nWcMjUGEYcoZQfyI11VlZwa8JtBVWvhV8gkDn3wYyvK4ug0BNw5AzhPoTqanNbZNAmynoWyfQHE9pteYUM/y3cicoAhWGIWcI9SdSU5u1FXyKQB/DOuMuUIVAJ9chUPsw5Ayh/kRqarM2AV0VaD0FzbiCFwv0EhGoxKAIVBiGnCHUn0hNZVZX8Gs1myloxgloikCnyhxfp1jDI1BhGHKGUH8iNZVZXcGnCTTnLtCEmmOBzq9DoOZhyBlC/YnUVGZ1Arou0Evgx02RCTT0jhICNQ9DzhDqT6SmLusr+NWaQ4HmeVIigQYPaZLvBEWgwjDkDKH+RGrqsr6CTxDo8FNAOZIi0N7aoevkO0ERqDAMOUOoP5GaqiRMQNdr7iDQRaZqDY9AhWHIGUL9idRUpVJMLoHm2gUqEWjsvCLiNTwCFYYhZwj1J1JTlYQVfIpA21PJZXpWSQJtmMHr7vJPcyJQYRhyhlB/IjU1SVnBJ9TcQaCD8ycHrlLsBEWgwjDkDKH+RGpqkrKCTxZothW8RKDR6xCocRhyhlB/IjU1qSagOQTafJ9bpiQLdOHr5aQ7QRGoMAw5Q6g/kZqK3FJ2gabU3EWglyhRsxMUgQrDkDOE+hOpqUjSCj5VoPlW8Gk1nwKNXiXfCYpAhWHIGUL9idRUJKNA49NBRRIFGicqdoIiUGEYcoZQfyI15UlbwSfV3EegS09HuhMUgQrDkDOE+hOpKU/aBDRRoBlX8MlL+MXrhGt4BCoMQ84Q6k+kpjwZBZpzD2iGmhf5Gh6BCsOQM4T6E6kpTuIK/ogCVazhEagwDDlDqD+RmuIkTkCPLdDkKSgCFYYhZwj1J1JTnKwCzZpcApWs4RGoMAw5Q6g/kZriJK7gD1lTvhMUgQrDkDOE+hOpKU3qBPSYNcU7QRGoMAw5Q6g/kZrC1F55fYGmTkERqDAMOUOoP5GawrT+fGmBCtbwCFQYhpwh1J9ITVnSJ6DHrHmRruERqDAMOUOoP5GastRSeV2BitfwCFQYhpwh1J9ITVFu6Sv4g9ZEoMZhyBlC/YnUlOQmmIAetOZwJ2iKQRGoMAw5Q6g/kZqSNEZ5bYHKpqAIVBiGnCHUn0hNQVqjJK3gj1oTgdqGIWcI9SdSMz030QT0qDWHAk0wKAIVhiFnCPUnUjM9rU7OINDkKSgCFYYhZwj1J1IzOZ1O0lbwR60p3AmKQIVhyBlC/YnUTM1NOAE9aE3pTlAEKgxDzhDqT6RmajqZnEOgqQcyIVBhGHKGUH8iNRPTuyRxBX/MmvfmS5OSp6AIVBiGnCHUn0jNxPQqSfTnMWvepTtBEagwDDlDqD+Rmmm5iVfwh6xZRXQgEwIVhiFnCPUnUjMpA5GcRaCJU1AEKgxDzhDqT6RmUhT+PGLNOqKdoAhUGIacIdSfSM2UjCagydBtTEWyCVSwhkegwjDkDKH+RGomZGiR5Ano8Wp26QW6PgVFoMIw5Ayh/kRqJkTlz+PV7CLZCYpAhWHIGUL9idRcz2gCKoBuYaqSU6Cpa3gEKgxDzhDqT6TmanQL+MPVHOQiWMMjUGEYcoZQfyI1VzM0iGQYHqzmMII1PAIVhiFnCPUnUnMt2gnowWqOIljDI1BhGHKGUH8iNdeinYAerOYoA4GuTUERqDAMOUOoP5GaK1FPQI9Vc5xL+hoegQrDkDOE+hOpuZybegJ6qJrTpK/hEagwDDlDqD+RmssZ+fOUAl2ZgiJQYRhyhlB/IjUXM17AX2RQJVOf7AJNWMMjUGEYcoZQfyI1FzOagMr8eaSas1ySTyiCQIVhyBlC/YnUXMqWCeiBagaSvBMUgQrDkDOE+hOpuZQtE9AD1QwkeQ2PQIVhyBlC/YnUXMimCehxaoZSCTRlDY9AhWHIGUL9idRcyKYJ6HFqhnJJXcMjUGEYcoZQfyI149k2AT1MzXBS1/AIVBiGnCHUn0jNeLZNQA9TM5zUNfwcebulfJ/8hhQi0HdCSDy3W//zYwK63xPZJZeq8Nvb88/b8FexmlsTk6eVHnOBKsOcxRDqT6RmNOMF/PlmoGlr+NAM9N5MQ43moYXMQJVhyBlC/YnUjGV8Hnq5Pw9SM5rENfwM2XnzZiVRBCqH+hOpaQf1J2oE2v+omoAepGY0Y4FGPRgQ6PBnC4ciUDnUn0hNO6g/UY7cPAE9Rs14EtfwiwKt/53boQhUDvUnUtMO6k9UCLT/UTcBPUbNhaSt4afIkCwzGxSByqH+RGraQf2JYuT2Ceghai4lbQ0/F2jwoVT/BcWQCFQM9SdS0w7qT5QLtP/x7bQCTVnDJwj0ckGgfRhyhlB/IjWDmUxATynQtDX8BBmYqlb2RKBtGHKGUH8iNYPJMAE9Qs3lJK3hZwKtJq3zINAmDDlDqD+RmqEMbPGmnYAeoOZKktbwc4EG/ZnToAhUDvUnUtMO6k+UCrT/8THwlEO//JprSVnDj5G3SqD9/bt9nwi0DUPOEOpPpGYgWSag5ddcjUag/Xfvjd46QqBtGHKGUH8iNQPJMgEtv+Zqhmv42E7QmUCbJf/knXcE2oYhZwj1J1JznjwT0OJrJiRhCjpC9iv42YFLwu+EXgoClUP9idS0g/oTZQLtf9wwAS2+ZkLkAq0noIHjPjNOQRGoHOpPpKYd1J8oQY4noCcX6Ooafi7Q6eq9DgJtwpAzhPoTqTnLxJ9nFmjCFHSIrFfw4Y8dIdAmDDlDqD+RmtMMJ6D3DRPQwmumRSrQ52w1/F8OAm3CkDOE+hOpOU2uCWjhNdOyvoafCTT2K8tnUAQqh/oTqWkH9SemI7NNQMuumZrVKegA2a3gg4+EQOsw5Ayh/kRqTpJtAlp2zdTIBBpfwSPQNgw5Q6g/kZrjjCegm84hVHLN5IzX8CFm/+PiBBSBNmHIGUL9idQcJ9MhTBV0y511RAPk2hS0R7Yr+MgDIdA6DDlDqD+RmqNknICWXFOQoUDvKwJdWsFnNCgClUP9idS0g/oTkwXa/bTlQ5wNdNO9VUQTgS6f024i0IVTzyPQKgw5Q6g/kZrD9ILY7s+Ca4qyMgXtkI8V/OIEFIHWYcgZQv2J1BxmvIDfCt14fwXRXqAzgw4EujwBRaB1GHKGUH8iNQfJOgEtt6YsozX8fAo6FejCI+UyKAKVQ/2J1LSD+hOTkKN3kLZ/C1qpNaVZnoK2yNUVPAKtw5AzhPoTqdlnPAHdDt38CGKikUDrKWj9r7hAV1bwCLQOQ84Q6k+kZp+BQHN8DW+pNcUZr+EnBp0IdOlxEOgzDDlDqD+Rmn06N6yZIBG6/SGkREOBxqagvUDXVvAItApDzhDqT6Rmn16gOfxZbE1xJmv4sUHf20tv6//tZDIoApVD/YnUtIP6E1OQ3enaco3zHA8iIxohR2v4e0SgCfN2BHpnyJlC/YnU7DLwJwIdZbKGHxm0E+jqCh6BVmHIGUL9idTs0gk0jz9LranIeA1/Dwg0aQWPQJ9hyBlC/YnU7NIINN8HZvI8jIRohZys4YcGbQWaMAHNNbdHoHKoP5GadlB/YgKy3QWaawJaaE1Vxmv4e1igCb+3PP85IVA51J9ITTuoPzFJoNVfGU9bmelxBEQ7gY7X8AODvtcXINDUMOQMof5EarbpJqDZoLkeKJ1ohhwL9D4XaMoKHoE+w5AzhPoTqdmmFmjOb9/N9UDpRFuBBqegnUBT9nxk+oQCAhVD/YnUtIP6E9MFms2fhdbU5RLdC/pEpq7gM/3/hEDlUH8iNe2g/sR1ZP0e0lvGcVZkTW0aPc7fiK8F+pZoRgTKkLOE+hOp2SS7P8usqU07v5xNQVuBpq3NEShDzhLqT6Rmk1qg+RbwhdbU5hKbgr5LVvAIlCFnCvUnUrPJ0whZJ6Bl1lSnm4JOPhH/LlnB53kXCYHKof5EatpB/YmryPpLzfNCsz5aEtFBoNNT079LVvB5pqAIVA71J1LTDupPTBBo7glokTX16U82P56CvicfBFrfGYEy5Oyg/kRq1kGga4lMQd9FE1AEypCzhPoTqVkHga6ld+ToCzrlAt3+bX0IVAz1J1LTDupPTBHoGwJdymVq0HoK+i54C+mOQBlyplB/IjWrGLyHVGLNTRmYbzAFfRdNQLOs4RGoHOpPpKYd1J+4LtDsK/gSa27KUKD9FBSBCsOQM4T6E6lZBYGu5zI36F10EGhzTwS6A9SfSE07qD8RgWbIcJ5Z/bKevzXhBDTHTlAEKof6E6lpB/UnriBvBu8hFVhzY0bmqw3aCFTyKNunoAhUDvUnUtMO6k9cFWj+CWiBNTfmchnNQe/VfzzCFTwCZcgZQv2J1HwGgSblMtsNKjiPSH8/BOoP9SdS0w7qT0SgeXKZHA0qn4Bm2AmKQOVQfyI17aD+xHWBZt8FWmDNDLkMFFoZVOxDBLoH1J9ITTuoP3EZaXEYfYE182Sg0OevTL4i37yGR6ByqD+RmnZQf+KaQA1W8OXVzJXL4OzK4hU8AmXI2UH9idS8I1BxLt2XzCkW5JvX8AhUDvUnUtMO6k9cFegFgUrSruMVE1AEugfUn0hNO6g/cRFpchh9eTXzplEoApWGIWcI9SdS02oFX1zN3KkMqnHh1p2gCFQO9SdS0w7qT0SgFrmMP5uUGgTqD/UnUtMO6k9EoCZRC3STQRGoHOpPpKYd1J+4JlCDXaDF1TRiyu+CQP2h/kRq2kH9iUtIm8Poi6tpxZTfRXr+phkSgYqh/kRq2kH9icsCNVnBl1bTiqm4DwJ1h/oTqWkH9SciUDOm4j4b1/AIVA71J1LTDupPXBGowWH0xdW0Yirug0Ddof5EatpB/YkrArV4D6m0mlZMxX0QqDvUn0hNO6g/cQFp9R5SYTXNmIr7bHwXCYHKof5EatpB/YmLArXZBVpYTTOm5k4I1BvqT6SmHdSfuCxQk12ghdU0Y2rutG0Nj0DlUH8iNe2g/sRlgZrsAi2sphlTcycE6g31J1LTDupPjCPNdoGWVdOOqbkTAvWG+hOpaQf1Jy4J1GgXaFk17ZiaO217FwmByqH+RGraQf2JCNSMqbrXpikoApVD/YnUtIP6ExcFavMeUlk17ZiqeyFQZ6g/kZp2UH/iokBt3kMqq6YdU3UvBOoM9SdS0w7qT4wi7d5DKqqmIVN1r007Qd0F+tnH1+9tuPs4px9yllB/4tlr2u0CLaqmIVN1r0MJ9DffviJQMZGadlB/4pJAjXaBFlXTkKm725Y1vLdAP7kiUDmRmnZQf+KSQI12gRZV05Cpu9uBBPrpFYEqiNS0g/oTY0jDXaAl1bRk6u52HIE+F/AIVE6kph3UnxgXqNku0JJqWjJ1d9uyE9RVoJ9///rlf4dA5URq2kH9iQsCtdoFWlJNS6bubrcNU1BXgX54yBJ9qvIAACAASURBVPMDApUTqWkH9ScuCNRqF2hJNS2ZyvsdRKCffXz91h2BKojUtIP6ExcFagU1etwFIgKN81SoxwL+q79AoBoiNe2g/sQI0vI9pIJqmjKV93sKVGlQR4F+cv3oB/eIQN8JOXlut/f3t7e9n8UpU+0EtQTkEOin18cCHoESEs5DoBcEukuOINDffPu5gI8JVJmTL/psof7Ec9e0fA+poJqmTO0d9Wt4tyX8J9cv//T5NwJVEKlpB/UnhpGmu0DLqWnL1N7x8YsvXKCdNxGogkhNO6g/MSZQu8PoC6ppy9Te8U39PryTQD/7+Pq1+icEqiBS0w7qT4wK1Oww+oJq2jK1d7yp1/BOAv1wHedbCmog5x5yxlB/4qlrmu4CLaemLVN7x5t6CopA5VB/IjXtoP7EBYHaQc0eOUo8kkD1n+ZEoHKoP5GadlB/YhBp+x5SMTWNmfq7atfw7mekZx+ogkhNO6g/MSJQy12gxdQ0Zurvql3DI1A51J9ITTuoPxGBmjE33BeBeuUcr0VqmhFjAjV8D6mYmsbMDfdVTkERqBzqT6SmHdSfGEIa7wItpaY1c8udEahTzvFapKYZMSxQy8Poi6lpzdxy54MINGvOPOTMof7EE9c03gVaSk1r5pY769bwCFQO9SdS0w7qT4wI1HIXaCk1rZmb7o1AnaD+RGraQf2JUYFaQg0fO0I8oEBXvlvuuZ9lhkSgYqg/kZp2UH9iAGn9HlIhNc2Z2+6+NgUN+BOBKqD+RGraQf2JQYHa7gItpKY5c9vdVwQamoAiUAXUn0hNO6g/EYGaMbfdfXkNH/QnAlVA/YnUtIP6E8MCNX0PqZCa5syN91+cggb9iUAVUH8iNe2g/sQ50nwXaBk17Zkb7780BQ1PQBGoAupPpKYd1J8YEqjxCr6MmvbMrQ+wJNAIEoGKof5EatpB/YkI1Iy59QHiU9DIBBSBKqD+RGraQf2JM+TNfBdoETUdmJsfISbQmD8RqALqT6SmHdSfGBCo7Qfh72XUdGBufoTY20gxfyJQBdSfSE07qD8RgZoxNz9CZA1fT0BDmwiByqH+RGraQf2JIYEa7wItoqYDc/tDRARaXxXYRghUDvUnUtMO6k+cIm8INBdz+0MEp6DNBJQZaB6oP5GadlB/4lygkdlNTqjpoweJxxRoaAq64E8EqoD6E6lpB/UnhgVqDLV9+BDxhQRaX45AM0H9idS0g/oTAwK1XsGXUNODmeEx5mv4agIaWyIgUDnUn0hNO6g/cYL02AVaQE0XZo4HmQv0vrCLBYHKof5EatpB/YkzgdrvAi2gpgszx4NMt0UzAY0hEagY6k+kph3UnxgUqDXU+PEDxKMKdDIFXfYnAlVA/YnUtIP6E8dIlxX8/jV9mFkeZTwFXVzAI1AN1J9ITTuoP3Eq0DsCzcXM8zDDrTHcwRI6xB6ByqH+RGraQf2Jc4Ga7wLdv6YPM8/DDNfwQ3+GPiaPQOVQfyI17aD+xJBAzaHWgDnxyALttke/dS5BfyJQBdSfSE07qD9xhPTZBbp7TSdmpsd5e2vOvrTqTwSqgPoTqWkH9SdOBOqxgt+9phMz0+N0G6TbOBF9IlAN1J9ITTuoPzEgUHuoOWFGPLBA2y3Sneg66k8EqoD6E6lpB/UnIlAzZq4Hatbw7baJ+xOBKqD+RGraQf2JQ6TTLtC9a3oxcz1QPe9svis1tvuzRiJQMdSfSE07qD9xLFCXXaB71/RiZnuk5xS0WcAv+hOBKqD+RGraQf2Jc4E6QO0RU+LBBfp27/y5iESgYqg/kZp2UH/iAHlDoFmZ2R7p8piC3hL8iUAVUH8iNe2g/sSRQD0+x3nfu6YbM99DPdfwCf5EoAqoP5GadlB/4kSgHrtAT7I1swo0Zf6JQDVQfyI17aD+xJlAPaAOjAnx2AK9PAW67k8EqoD6E6lpB/Un9ki3XaAn2Zo5kWn+RKAKqD+RmnZQf+JQoE4r+JNszZzI5aOXeiQCFUP9idS0g/oTpwJ1gXpAxsTjCzQJiUDFUH8iNe2g/sQO6beCP8nW3AOJQMVQfyI17aD+xIFA7wg0K3MHJAIVQ/2J1LSD+hNHAvXZBXqSrYlAhTndkPOE+hPPVtNvBX+SrYlAhTndkPOE+hNPVtNxF+hJtiYCFeZsQ84V6k88WU3HXaAn2ZoIVJizDTlXqD/xZDUdd4GeZGsiUGHONuRcof7Ek9V0XMGfZGsiUGHONuRcof7Ec9X03AV6kq2JQIU52ZDzhfoTz1XTcxfoSbYmAhXmZEPOF+pPPFdNz12gJ9maCFSYkw05X6g/8VQ1XVfwJ9maCFSYcw05Z6g/8VQ1XVfwJ9maCFSYcw05Z6g/8VQ1XVfwJ9maCFSYcw05Z6g/8VQ1a4EmnTItB9SJMyAi0GgQqDORmnZQf2KF9N0FepKtiUCFOdWQ84b6E89U03cX6Em2JgIV5lRDzhvqTzxTTd9doCfZmghUmFMNOW+oP/FMNX1X8CfZmghUmFMNOW+oP/FENZ13gZ5kayJQYc405Nyh/sQT1XTeBXqSrYlAhTnTkHOH+hNPVNN5F+hJtiYCFeZMQ84d6k88T03vFfxJtiYCFeZEQ84f6k88T03vFfxJtiYCFeZEQ84f6k88T03vFfxJtiYCFeZEQ84f6k88T03fz3Hez7I1EagwJxpy/lB/4mlquu8CPcnWRKDCnGfI+YeaVsR3/12gJ9maCFSY8ww5/1DTivjuvwv0JFsTgQpzniHnH2paEd/9d4GeZGsiUGHOM+T8Q00r4rv/LtCTbE0EKsxphpw7kpp2xHf/XaAn2ZoIVJjTDDl3JDXtiO/+u0BPsjURqDCnGXLuSGraEW/+u0BPsjURqDBnGXLUtIP6E3dYwZ9kayJQYc4y5KhpB/Un7rCCP8nWRKDCnGXIUdMO6k/cYQV/kq2JQIU5y5Cjph3UmXe77bEL9CRbE4EKc4ohR01TqCessuftiXRewZ9kayJQYV5/yNVEatpB3Ui3ZvL5rOm9C/QkWxOBCvPiQ64jUtMO6oNp7XlvBeq7gj/J1kSgwrzykBsSqWkHdWAM7HlHoJbMHZAIVAz1J1LTDmr8+LexPe+tQI2x05xja55XoO+EvFJuw8yufXt72+E5kd1iLlBlXnLOEiBS0w6a88Fu8wSI7/4r+JNszfPOQJU5/pBLI1LTDprvoZa92RMRqBlzByQCFUP9idS0g+Z6oDVv9sR3/12gJ9maCFSYYw+5dCI17aCZHidVn8+a7keBnmVrIlBhDj3kBERq2kGzPEq6PmuBeq/gT7I1EagwBx5yIiI17aAZHiN59V4TEagZcwckAhVD/YnUtINufgSZPh/EHVbwJ9maCFSYgw45MZGadtCN95fqsxKo+wT0JFsTgQpzyCGnIFLTDrrp3nJ9IlBL5g5IBCqG+hOpaQfdcmeFPhGoJXMHJAIVQ/2J1LSD6u+q0ufzTHY7jJ9zbE0EKszRhpyWSE07qPaOmtV7rc8dJqAn2ZoIVJhjDTk9kZp2UOX99Pp8vyBQK+YOSAQqhvoTqWkHVd5Pq8/75YJAzZg7IBGoGOpPpKYdVHk/qUDfen3u4M+TbE0EKsyhhtwGIjXtoLq7CRfwQ30eqeYWIgKNBoE6E6lpB9XdLejP2PSytmd79ZFqbiEi0GgQqDORmnZQ1b2CE9BLm/HFg8lndc2Bam4iItBoEKgzkZp2UNW9wv58i+U+FOuBam4iItBoEKgzkZp2UNW9AgJd02dPPE7NTUQEGg0CdSZS0w6quVNgBX8Zf8JoMOWcruqPU3MbEYFGg0CdidS0g2ruNPdn4AOal0t4p+hxam4jItBoEKgzkZp2UM2dZgKNfMA99J7SgWpuIyLQaBCoM5GadlDFfaYreNn5QQ5TcyMRgUaDQJ2J1LSDKu6zyZ/HqbmRiECjQaDORGraQeV3mUxApadXOkrNrUQEGg0CdSZS0w4qv8vIn/LT0x2l5lYiAo0GgToTqWkHld9lKFDF6T2PUnMrEYFGg0CdidS0g4rvMVjBV/qUnl3pIDU3ExFoNAjUmUhNO6j4Hhv9eZSam4kINBoE6kykph1UeoduAtp+SlNMPETN7UQEGg0CdSZS0w4qvcNWfx6k5nYiAo0GgToTqWkHld6hEWh7hk8F8RA1txMRaDQI1JlITTuo8Pa3TqBKfx6jZgYiAo0GgToTqWkHFd5+MAFVfrvRIWpmICLQaBCoM5GadlDh7fsJqPbb4Q5RMwMRgUaDQJ2J1LSDym7er+DV3655hJo5iAg0GgTqTKSmHVR2834Fr/524iPUzEFEoNEgUGciNe2golsPJ6BqYvk1sxARaDQI1JlITTuo6NaDCaieWH7NLEQEGg0CdSZS0w4qunWGCegRamYhItBoEKgzkZp2UMmNmxX8pgnoAWrmISLQaBCoM5GadlDJjQfHMG0gFl8zDxGBRoNAnYnUtINKbpxjBX+AmnmICDQaBOpMpKYdVHDbLCv48mtmIiLQaBCoM5GadlDBbbNMQMuvmYmIQKNBoM5EatpB02+aZwJafM1cRAQaDQJ1JlLTDpp+0zwT0OJr5iIi0GgQqDORmnbQ9Jv2At1GLLxmLiICjQaBOhOpaQdNvmWmFXzpNbMREWg0CNSZSE07aPItM01AS6+ZjYhAo0GgzkRq2kFTb5hrAlp4zXxEBBoNAnUmUtMOmnrDXBPQwmvmIyLQaBCoM5GadtDUG+aagBZeMx8RgUaDQJ2J1LSDJt6uW8FvO4bpXnjNjEQEGg0CdSZS0w6aeLtsK/iya2YkItBoEKgzkZp20MTbZVvBl10zIxGBRoNAnYnUtIOm3axfwW8nFlwzJxGBRoNAnYnUtIOm3SzfBLTomjmJCDQaBOpMpKYdNOlWGSegJdfMSkSg0SBQZyI17aBJt8o4AS25ZlYiAo0GgToTqWkHTbpVxgloyTWzEhFoNAjUmUhNO2jKjXKu4AuumZeIQKNBoM5EatpBE27Tfww+C7HUmpmJCDQaBOpMpKYddP0mt3wH0VfEQmvmJiLQaBCoM5GadtDVW/T+RKASIgKNBoE6E6lpB127QevPXBPQQmvmJyLQaBCoM5GadtC1G7T+RKBCIgKNBoE6E6lpB125fuDPTC/7ImsaEBFoNAjUmUhNO+jy1bfsE9Aia1oQEWg0CNSZSE076OK1t/wT0BJrmhARaDQI1JlITTvo0pW9P/NNQAusaUNEoNEgUGciNe2gC9eN/JntRV9cTSMiAo0GgToTqWkHjV818GfGCWhxNa2ICDQaBOpMpKYdNHrN0J/3fBPQ0mqaERFoNAjUmUhNO2jsiok/EaiUiECjQaDORGraQSOXj/yZcwVfVk1DIgKNBoE6E6lpBw1fPPZnzhV8UTUtiQg0GgTqTKSmHTR88dSf+SagRdW0JCLQaBCoM5GadtDgpYb+LKmmKRGBRoNAnYnUtIOGLpztAEWgciICjQaBOhOpaQcNXDbdAXrP6c9yahoTEWg0CNSZSE076Pyi2RtIWSegxdS0JiLQaBCoM5GadtDZJfM34LP6s5Sa5kQEGo1OoJ//6OvX6/UPvvET1b2D4bVoCPUnFlEz4E8EqiEi0GhUAv35x9cm39TcPRhei4ZQf2IRNcf+vGf3ZyE17YkINBqNQD+99vma4v7B8Fo0hPoTi6hpvIAvpaY9EYFGoxDob759vX7lx48f/vY71+tHP1BAQ+G1aAj1JxZRc3IEU/YJaCE17YkINBqFQD/t5p2ffz/fFJTXoiHUn1hCzdk5mHL7s4yaDkQEGo1CoJ9cr99rfvzs4+tXf6GgBsJr0RDqTyyh5ngCes8/AS2jpgMRgUaz7TCmx2oegcqI1LSDTv5tPgEto6YDEYFGg0CdidS0g47/OT4LvcUEtIiaHkQEGs02gX7KPlApkZp20PE/RxPQu8UEtIiaHkQEGs0mgT4moPN34d8JKSG3W/fj29v7++Wy43MhL5OMAv38k9AEdO+ChFTpBfr05zv+JDmST6BPf375p/r7j8NqyBDqT9y/Zr8LtDoHvcEe0CJquhBZwkejF+jzINBsh9HzWjSF+hP3rzn4IvjnHxb+LKGmCxGBRqMW6K9zfgzpzmvRFOpP3L+mwwS0hJouRAQajVagz/OJfOWnyjuHwmvREOpP3L9mK1BDf5ZQ04WIQKNRCvTD80xMmY4ArcNr0RDqT9y9ZrsL9M1uAV9CTR8iAo1GJ9C/fPjzW6p7RsNr0RDqT9y9ZjcBff5hNAEtoKYPEYFGoxLoh7y7P6vwWjSE+hN3r+kxAS2gpg8RgUajPB/olzOei74Or0VDqD9x95q1QN9MJ6AF1PQhItBodOcDzT7/5LVoCvUn7l2z3gVa+9NsArp/TSciAo1GIdAP12FyuZTXoiHUn7h3zZE/EehGIgKNRi7Q5wH0CFRNpKYddPCzywR0/5pORAQajVygz2/0QKBqIjXtoP2PwxW83QR095peRAQaDd8L70ykph20/7Hxp+lb8Pf9a3oREWg0CNSZSE07aP+jzwR095peRAQaDQJ1JlLTDtr/OBSoJZGtacbcAYlAxVB/IjXtoN1Pg12glhPQvWu6ERFoNAjUmUhNO2j3U78L1NSfe9d0IyLQaBCoM5GadtDup8EE1JbI1jRj7oBEoGKoP5GadtDup06gthPQvWu6ERFoNAjUmUhNO2j7Q7UL9M3mq+DHRLamGXMHJAIVQ/2J1LSDtj94TUDZmobMHZAIVAz1J1LTDtr+0ArU2p9sTUPmDkgEKob6E6lpB21/QKCZiQg0GgTqTKSmHbT5u9sFikAzERFoNAjUmUhNO2jzt9suULamIXMHJAIVQ/2J1LSDNn/3K3gEmoeIQKNBoM5EatpB67/8VvBsTUPmDkgEKob6E6lpB63/8lvBszUNmTsgEagY6k+kph20/stvBc/WNGTugESgYqg/kZp20Povt4OY2JqWzB2QCFQM9SdS0w5a/em4C5StacjcAYlAxVB/IjXtoNWfjrtA2ZqGzB2QCFQM9SdS0w5a/em4C5StacjcAYlAxVB/IjXtoNWfjit4tqYhcwckAhVD/YnUtIM+/2h2gbqs4NmahswdkAhUDPUn3tyRLzjk6u88mkHrq+5uK/jTvGgRaDQI1DO3Ks7Qlxtysd/iRKCGz6AjnuFFi0CXgkDdcuvjib2/2JBrfoGBX2InUK9doCd40dZEBBoNAnVJJ85HTX+HvtCQ639381/h+915F+iLv2h7IgKNBoHaZzjtfH+/+6/kX2bIjX5vEYHe/XaBvvKLdkREoNEgUONMZNnWdFXoiwy5ye9s9vtrBeq2gn/ZF+2UiECjQaCGCezx7Gs6KvQlhtz89zX99b17r+Bf8kUbIiLQaBCoYQKKHNZ0W8m/wJAL/qoml7x7r+Bf8kUbIiLQaBCoXYKH2ryPb+Gi0MMPudivaUGgWfmxvOCLNkhEoNEgULsED/aeIj0UevAhF/8VTXaPeO8CfcUXbZCIQKNBoGaZDvq3LtPbWRv02ENu6fczuubdexfoC75ow0QEGg0CNUs3tt8CGd8Sgcaz/N/L8Mp3712gL/iiDRMRaDQI1CqPwRxwZlVz6lAEGk/In8Pf3kygjiv413vRRogINBoEapVbN/UcERvk6CoEGs3cn5M5/PAY27vzCv71XrQRIgKNBoEapZqABog9sheB9U7Q4w65yW9m4M6AQd+9d4G+3Is2RkSg0SBQo9zCv9tJzUYICDSckT8n8/l+Ed/e5t17F+jLvWhjRAQaDQK1SWQCGqhZWQGBhtL48+HDSy3PS5/Br7c16Lv3LtBXe9FGiQg0GgRqk8AE9DLM6JqHQE0NetAh1/rzbWbPqUEbqPcK/tVetFEiAo0GgdpkKNBLPPUNEGgotT+byefs2st8Ed/uAnVbwb/aizZKRKDRIFCT1Cv4gCzbmqNrEGggA3+Grg4s4t1X8C/2oo0TEWg0CNQk9QQ0sFyf1GwFarsT9JBD7qnDS9Sf9RR0bFD3FfyLvWjjRAQaTckCPe5nHNsJaIAYQlpPQY845Nb8Wf12++tu7qeyewaB2jF3QL6WQD2+PshMoPUENEREoEl5bPnmvffoTaZTUPeDmBCoJXMH5EsJtP3qsCOubeMTUASalgR/1lPQgUH9d4EiUEPmDsgXEujCV4dlhdo8bHwCGhWo6U7Qww25Sp8Ly/c6z1/wYBHvv4JHoIbMHZAvI9Dh2v2AU7PmIPp0gVpPQY825NL8OZmC3t0PYkKglswdkC8i0PGuT9NFvJFAm7fgg0QEuppbc5z86muzmoL2t3r3XsEjUEPmDsiXEGivz+YAakuDmmylpQkoAl1Psj9rV/a3e/dewSNQQ+YOyBcQ6ESf1ga1EejCBDQuUMudoIcacvWRsyn+bP6TQqDmRAQaTVkCbfXZnXcno0GDX/GW4XFDnOgENCZQ2ynokYacxJ+TKei79y5QBGrI3AF5dIHO9HlPMGiqXYMHlZoIdPFrISMbCYE2afWZ+Lqsp6DNjd+9d4EiUEPmDshjC/TWHck3Gj6NQWN3Sz3YvjrQev4t7brnugJamIAi0MXchP5sdNkL1HcFj0ANmTsgDy/QuT7vywZ9OjFNPc3ZJia3tBDofeEtpCWBGhr0KEPuJlm+1xlOQRGoFRGBRlOOQN8n9uxOxFGfsj1kl0qfSe+/9Cc8m36TeObcFt9CigvUdAp6jCF3U/iznYI23/LhvAsUgRoyd0AeW6BDfY5PAhcx6K3x5yVBPf1h+ZNvEs+dlQlodCMh0Jvo7aMu9W+6+5okV38iUEPmDsjDC7T6YXT6zLhBb40/q0MG19QTOzA/+1Zam4Ai0Ehu3dGfwlfkYAqKQK2ICDSacgT6fPbzL7y4dEeqjA3aTT8vtXwWH3t2zw6a5akPH3xlArokUDuDlj/kbuK3j7o0U9A3989x3hGoJXMH5LEFOpdnlaBBKwm2/nzaZ9k987lrC93+vGek5WlQVKCWU9DSh1x97iWVPrtf9pv75zjvCNSSuQPy+AINXdHvGbsN92Q2XzNWX7A8BZ2JqVNo7q20cgzTfWEjnVigm/zZT0H9V/AI1JC5A/LYAo0++6lBB9PPdrgsTkEDV7UGzS7QxYPoKyICneSWcu7PpVw6gyJQIyICjeYAAu0N2p5j+TY7YmVpCtp/tn54YWWrzFtpfQK6KFAzg5Y85Gp/hr95MzHdMsR7FygCNWTugHxVgY4M2k4/x4Nl4X2k4cdD34YXP654H/5r+3eIrL6FtCRQwylouUOu+oVvmX4+074Q3r0noAjUkLkD8mUF2p404u0e8efSIr71Z3d+vPbyaLQVVo9huiPQcfrp5yYaAjUmItBojiHQ3qD3bmfXZKzEpqDtBLS5UUSh99GF8mdf33V9Arq0q/d8As0x/XymeS28e6/gEaghcwfkSwu0Nehb2J+xKejIn/fprtAgU2vQlAnoskCtDFrqkHv6c7s+7+3/We/e/kSghswdkC8s0N6gEX/GpqD9Ar6/3fAc5qEoJ6EpE9DFgw1OKNA8/mz+00KgVkQEGs1RBDqYg4b9GX4fqfmu8FHLwTo+wlQZNGkCikAHqQ/mzcJDoKZEBBrNYQQ6sGbsiPu5f0L+vA8UGmXKDXpLmoAuHq31FKiJQQsdcvn8Wf+35b4LFIEaMndAvrZAu/ERHSfzKWjYn/dOoXGmdBJaq3r9SO5lgRpNQcsccs8JaDZgLdBsD5cYBGrH3AH54gJtzBmfZ8ymoM0EtL3z6I6VQheYQoPW+1pXJ6DLnxdAoOpUJ5VBoEZEBBrNkQRauXNpnTYVUO/P4elF+1v3CT2axKCdqhFoTUwRaLYF/DPLrwyjIFA75g7IlxfobBo5vXq8iG++I+TeftXjferQt0BG90/12a2bgG4QqN1O0CKHXNYJaLeJfYNA7Zg7IF9foGuzjNEifuTP/v7DkdYxwwpNNmh3sOnqGF4RqM0UtMghl1mge0xAEaghcwfkCQS6luEUNODP+33s0DkzeM6RtaRPQFc+8n8igd7yruARqCURgUbzYgIdTEGbczaF1nadQkNM+ST0lj4BRaBtngLNazwEakZEoNG8mED795G64zLDM5PaoUGm1KADf24XqIlBSxxyuVfw9zJrWkD9iQg0mlcTaPc+Uu/P2C3j70jNFLqI7D9tnzAFWjnp1GkEmn0Ffy+ypgnUn4hAo3k1gbaL+MBJlwO3jSlUYtBuBygCHRBTBJp7yV1gTROoPxGBRpNfoO875+Ggx5+359ckV6v0xVxiN6kOs2/zMGj0EeqrqhuvwVZTCzTOeqE8Bbr3cyBEHnOBKpPtf7lqCtp8ZfzqByvjs9DpmUNjDzE4XV7KjGp1BmoxBS1vzmKxgi+wpg3Un8gMNJrXE2j1PlLjz1Xo84/YztChQqNvJQ0+LZr0LvDaaU9PJNDsb5qXV9MG6k9EoNG8oECr95GS/NlupYhCEww63AGaJAQE+kz9H1x2aO4HXCciUDPmDkgEWufylujPwVZKUujs+sH57hOP404RaHaDFjfkTCag5dU0gvoTEWg0ryjQ5kvjU6CDn4MKXTHocAdomhDWBWowBS1uyCHQLVB/IgKN5iUFekkdnmPmmkJnBpXuAL2v1rRZw5c25GxW8MXVtIL6ExFoNC8p0HSdze43d2jcoKMdoAh0RFwVqMHnLkuraQX1JyLQaF5ToMnQ2SXz04YOFTo2qHgH6D1RoLkNWtiQuyHQTVB/IgKNBoHOEj71cv3TUG79Al5wIqAEgeafghY25IxW8KXVNIP6ExFoNAg0lJBC6x/6w5nERzDVxDWBWqzhCxtyRhPQ0mqaQf2JCDQaBBrJxKEzg46OYBIQV2qeQKBWK/jCatpB/YkINBoEGs14KT9dxmt2gN5TBZrZoGUNOasVfGE17aD+RAQaDQJdytChY4OqdoDe0wSafQpa1pCrJqAIVA/1JyLQaBDoSgaz0NkyXu7PBIEarOGLGnJmynixMQAAGu9JREFUK/iyahpC/YkINBoEup7hJLS+RLkD9J5Q02INX9SQM1vBl1XTEOpPRKDRINCEBJbxd50/0wR6zypQm69KXk685s1sBX8Ss5ykJgIVpuzXYsCgih2g90SB5l3DlybQu9EE9CRmOUlNBCpM4a/F+TJe5c8UgebeCVqaQK1W8Ccxy0lqIlBhSn8tTg26/I11ceIqMrdAbynfzJw70ZqGK/iTmOUkNRGoMOW/FkfLeNUO0HuqQHPuBG2PuXLNgkDNVvAnMctJaiJQYQ7wWmwnoW/NnlDNRCpNoDkN+lwylyRQsxX8ScxykpoIVJgjvBYHy/i7agGfJtDq4XM5rzKW+xQ0VtNyBX8Ss5ykJgIV5hivxcFnO1X+TBLopRJoJueVJtA7At0K9Sci0GgQqCydQXX+TKlZCzTXFPRW7XDwNmik5s1yBX8Ss5ykJgIV5jCvxcacymlUokCzTUGrJXNBAjWcgJ7ELCepiUCFOc5rsZqEai2QJNB6H2sW6TUC9X4bCYEaQv2JCDQaBCpP5Gvk04gpAq3X8FkW8dWS2X8KGq5pu4I/iVlOUhOBCnOo16Lan0k1O4Ful1595qNyBGo5AT2JWU5SE4EKw2uxSyvQDAbtBOq8hg/WbCagCHQj1J+IQKNBoM7EJIHeW4NuxdVL5nf3KWhEoNUEFIFuhPoTEWg0CNSZmCTQ1qCbrVefu7gsgdpBzR45SuRFa8bcAYlAxVB/YgryKZksU9DmPZt39zX8+y0Y0xV8qVszO9SfiECjQaDOxGSB5piCNp+bfHd/Gymoz7vtCr7UrZkd6k9EoNEgUGdiqkDvOd5Har596N39baTI0zadgJa6NbND/YkINBoE6kxMF+j2RXx71OWDeSlBoLYr+FK3ZnaoPxGBRoNAnYlpAu0NumUK2p75qBGon0Ejp3C2XcGXujWzQ/2JCDQaBOpMTEI25x2tft7gvfb7g2uBOk5Bb7dgTdsJaLFbMzfUn4hAo0GgzkSJQDcu4rvPTT6ZrlPQsECNV/DFbs3cUH8iAo0GgToTBQLdOgXtzl3sLdBbTKDqc7AkpdStmRvqT0Sg0SBQZ6JIoNumoO0KvhWo2xr+4c+3YEx3gRa7NXND/YkINBoE6kxMQ44Mqpw59mc+qpiOU9DbLexP2xV8uVszM9SfiECjQaDOxERkY5oti/j+24dagTpNQauPHAWvQaA5oP5EBBoNAnUmpgp0+yK+W8E3Nd0OBa0+8x66wnYFX/DWzAv1JyLQaBCoMzEVuXkKOjh3cS9QF4NWK/jQFbb+LHlrZoX6ExFoNAjUmZgs0PEUVG6+wfcHdwJ1mYJWK/hgTQSaBepPRKDRIFBnYjKynYJqF/H9Cr6t6bSGr1bwCNQO6k9EoNEgUGdiukC3LeKH3z40EKiDQasVfKim8S7QordmTqg/EYFGg0CdienIbVPQwQq+q+myhq9X8GGB2pKL3poZof5EBBoNAnUmCgS6aQo6/PrLlumyhq9X8JdgbMlFb82MUH8iAo0GgToTBcjJFDR8juJIhhPQoUDtDdqcdx6BmkH9iQg0GgTqTJQIdINBgwL1mILWR9FbuzKYsrdmPqg/EYFGg0CdiRJka6H4RooadLiCHwvU2KD1QaAI1BDqT0Sg0SBQZ6JIoOMpaCgRH44moCOBWk9BmwkoArWD+hMRaDQI1JkoQq5PQSPvzt+GE9BBTfM1fLuCZ2vaQf2JCDQaBOpMlAlUOwV9iwvU1qDtCp6taQf1JyLQaBCoM1GG7KagMoOOV/DDmtZT0HYFz9a0g/oTEWg0CNSZKBRoyiJ+bsTxCt5RoN0Knq1pB/UnItBoEKgzUYiMT0HrUxQ/f5ob8W1JoJYG7VbwbE07qD8RgUaDQJ2JUoGGpqDDk7zfA1PQyQp+VNN2Ctqt4NmadlB/IgKNBoE6E6XIyRR0ZM7qn/e5QScreD+BdkfRszUNof5EBBoNAnUmagV6f5u4s7v0PjPo24JATc8o0h1Fz9Y0hPoTEWg0CNSZKBbo2KCz6+sLpwK9xAVqOQXtjqJnaxpC/YkINBoE6kwUI9c+01MZdDQFna7gZwK12uj95+DZmoZQfyICjQaBOhPlAl39VOTUoNMV/KSm3RS0/xw8W9MQ6k9EoNEgUGeiHLn+sfKJQWffv+4p0Ppz8GxNQ6g/EYFGg0CdiQqBCg06m4DOBWpj0MGZ7NiahlB/IgKNBoE6ExXIhDMbVQbtfp4qd8LcNAVdOgdpfyY7tqYh1J+IQKNBoM5EjUDTDNqazVSgS2dxHpzJjq1pCPUnItBoEKgzUYNMOblmZ9D5Cn5WU72Gr+wZE+jwVMpsTUOoPxGBRoNAnYkqgSYatNLifAI6q6mdgjazz9hJnJ8TUARqD/UnItBoEKgzUYVMOr97c5x9mkA1271dvEcW8cNz0bM1DaH+RAQaDQJ1JuoEGjHo5OKnFwMr+HlN1RS092bQoKMvQ2JrGkL9iQg0GgTqTNQhgwKdf1Vw9WnPuW2DApV+u9zwDqE7D1fwbE1LqD8RgUaDQJ2JSoHOpBj+tvVEgdZvOYkM2t68PXvJ7M6jb5NjaxpC/YkINBoE6kxUIidS7M05cWhoBR+oeXmTKbQ9eGnhHKSjrzNmaxpC/YkINBoE6kzUCvQy/HnkzMk8NLC/NCBQmUGH/oydg3S4gmdrWkL9iQg0GgTqTNQiB4Kc7vkcOTT0lewB5qVS6MJR8cMM9XlvVvHTe46/D56taQj1JyLQaBCoM1Et0EvzV8iQ996roWtDTIFBJ/4MGnS8gmdrWkL9iQg0GgTqTFQjL+HJ5/AWseuDzEu3jF9RaH2D0dmc528kjSegbE1LqD8RgUaDQJ2JeoGu6LO7TQAau3GKQQP+DBi0PxFTTWRr2kH9iQg0GgTqTNQj1+y5AI09YHsivKUzLLX+HF08fSNpsoJna1pC/YkINBoE6kwsqea6QetrAl/GNDHoZAVfVk1DIjXNmDsgEagY6k8sqealMWhUocHle53xG0mTFXxZNQ2J1DRj7oBEoGKoP7GommODhhLR531s0OkKvrCadkRqmjF3QDoK9Nd//vH1+tE3fqK7dyi8Fg2h0WvqVXfrwoA+o/4cGXS6gi+tphmRmmbMHZB+Av35Q5/PfPSvVHcPhdeiITR+1cCgocz0OXybvzfodAJaXE0rIjXNmDsg3QT66bXL9zT3D4XXoiF04brOoKFXQtCfM4NOPsZZEUuraUSkphlzB6SXQH/z7ev1K4/V+99+53r98k8VDxAKr0VD6NKVvUFDmd70Mjqcqlv7T1bwBda0IVLTjLkD0kugH67Xr/7i+cPn379ev6V4gFB4LRpCF69tzJekz+nH7RuBTlfwJdY0IVLTjLkD0kmgD21+9IP6x88+blS6PbwWDaHLV6cdoT9Yu88MOl3BF1nTgkhNM+YOSCeBPlbwrTUHLt0aXouG0JXrEwQ6/oxo/4/2e5gmFi6ypgGRmmbMHZBOAv30ev1a+/Mn2d5G4rVoCF27wZpBZ5+xHxt0toIvtGZ+IjXNmDsg/QTa7fj8gECFxCJrriziA6coGRl0toIvtGZ+IjXNmDsgnQQ6lOan83eR3snx8vDh0nWBK/sLnwJdfABCXicIlAQSFeAl7M/nFe1PtUBtnhchZcVcoMqwGjKEJtxm4UT30XvE/lFwzcxEapoxd0CWsYRXhteiITTlRpdIlu4Q/LkiFlszL5GaZswdkAhUDPUnlltT6M+RNae3K7hmViI1zZg7IHkXXgz1J75SzeGh9RPiK9VcIFLTjLkDkuNAxVB/4kvVbA06m6m+Vs04kZpmzB2QfBJJDPUnvlbN7tPxU+Jr1YwSqWnG3AHJZ+HFUH/ii9WsDYpAPaH+RAQaDWdjcia+Ws2nQefvNb1czQiRmmbMHZBeAq3OB/pjzgeqIr5czeB79a9XM0ykphlzB6SXQDkj/Qbi69VEoM5QfyICjUb3nUh/w3ciaYkvWBOB+kL9iQg0Gr6V05lITTuoP5GaZswdkI4CzR9ei4ZQfyI17aD+RAQaDQJ1JlLTDupPpKYZcwckAhVD/YnUtIP6E6lpxtwBiUDFUH8iNe2g/kRqmjF3QCJQMdSfSE07qD+RmmbMHZAIVAz1J1LTDupPpKYZcwckAhVD/YnUtIP6E6lpxtwBiUDFUH8iNe2g/kRqmjF3QCJQMdSfSE07qD+RmmbMHZAIVAz1J1LTDupPpKYZcwckAhVD/YnUtIP6E6lpxtwBiUDFUH8iNe2g/kRqmjF3QCJQMdSfSE07qD+RmmbMHZAIVAz1J1LTDupPpKYZcwckAhVD/YnUtIP6E6lpxtwBiUDFUH8iNe2g/kRqmjF3QCJQMdSfSE07qD+RmmbMHZAIVAz1J1LTDupPpKYZcwckAhVD/YnUtIP6E6lpxtwBiUDFUH8iNe2g/kRqmjF3QCJQMdSfSE07qD+RmmbMHZAIVAz1J1LTDupPpKYZcwckAhVD/YnUtIP6E6lpxtwBiUDFUH8iNe2g/kRqmjF3QCJQMdSfSE07qD+RmmbMHZAIVAz1J1LTDupPpKYZcwckAhVD/YnUtIP6E6lpxtwBiUDFUH8iNe2g/kRqmjF3QCJQMdSfSE07qD+RmmbMHZAIVAz1J1LTDupPpKYZcwfkoQVKCCFHCwIlhBBlECghhCiDQAkhRBkESgghyiBQQghRBoESQogyCJQQQpRBoIQQogwCJYQQZRAoIYQog0AJIUQZBEoIIcogUEIIUQaBEkKIMn4C/fxHX79er3/wjZ/0F/36zz++Xj8aXvLMb7795Z/2//qv//J5r//lFy7PMUNSaib/KsqNsuYz4+1bdnQ1I8XLjXJrnmRsVvns4+v3Qo/pJtCfP55onW9OL/roXw1v+Pn3r/0Ae/yjuc0PvJ7otqTUTP5VlBtlzWdG27fw6GpGipcbXc1+bAbNUl42vGgf/+tf9xXop9c+X5tdNHhqn39y7QdYt42ukadfWlJqJv8qyo2y5jOj7Vt4dDUjxcuNruZZxmadT2ItnQT6FPhXfvz44W+/084mq4t+Ul8ymXJ2//zw+MdzMv3r7x9j1KXUTP5VlBtlzWfG27fs6GpGipcb5dZ8jM2Pnqv3//dxyVcPsIrf8KJtxLqnQD/thP4cQdWPH9rf+/OSbzW3+6/VDLodYM8+zTWf9LcpOCk1U38VBUdZ8z7dvoVHVzNcvODoaj7+bgzzGKVH+H9C/6KtRbSvQD/p8Z99XD3rfgO0lzwmmt95zji/0w2wT/v/2x4VDjDsUmqm/SqKjq7mfPsWHl3NUPGio6v5+KsVzIdDrOG1L9p7vdv+3+28D7TPQ4XPZ9b89UxX5Lkq+O7gTYYPg/nYJ4f4b67PQk3RbQqPoOZ8+x4nopoLlxQeXc1PDiHQQaQ1n/9DxP6X2E2gnw6myO0W+PDRN39xHwu0e9LH+G+uz0JN0W0Kj6DmfPseJ6KaC5cUHlXNYywOhxHWfExGvxX1j79AP+12FXWzy/bJ/cPzGUcEeoydoH0WaopuU3gENefb9zgR1Vy4pPAoan7+o48P9pKV1ny8YB8qLUag7S7n4RMaNhkOsMG2GryfdIis1ky8TeGR1GxyRIEqagYvKTzyms+je64ffdfvKeaIsGa987AUgT4PA2zfAVsV6NOazcZ5HtB0ILOs10y7TeER1Wz/fTyBamqGLik8ipqVQP/gu4faTyGs2VxTiED7w6hTBFptn2/+f88PXF0PJdCEmkm3KTyymu0FhxOoquahPjFQRVHz8//96//yeWDakfb0Cmu2+0LLEOjz6KpmZpwk0Pr4qyr/84HMklhz9TaFR1izv+RQXtHXPNYCXlfzXh+cdpyZtrTmJwHbDuMq0F8Pju9PEmh95GC1m+VAZkmpmfSrKDvSmk2OJlBdzUDxsqPcms8caV+vemyWINDnB/W/8tPmH9G3wMYD7POf/+mjzWMZf5y3p1Nqpv0qio64ZpODCVRXM1S86Gi3Znubg/yvL63Zf1ygAIE+3wf6ZrezJHoQVmSAHeZA+pSaib+KkiOv2eRYAtXVDBYvOeqt2d7+GAIV1/xwHWde00+gfznmRz8GEB5ghzlaN6Vm6q+i4Chq3rvrj7Eln9HVDBcvOPqtWeUoApXXLEigHya7T6IfAB8MsMEVRzkmOaVm8q+i3Ghq9jc9jEB1NSPFy42m5nDZfpBlk6JmOQJ9CPDL45M8f4icgmgwwJ7X1Fvm17HzmRaWlJrpv4pio6tZ50AC1dWMFS82qpoP5QzeaDnCFt3yot19H2jgjbr23HvTk2AOB9iH+mMOnz/36x5hAppSU/CrKDXKmnWOI1BdzSO9J11FV7M61Od5BH11jPYB/tff9KLdXaDjqXD9JCOnYY8cB3qIQZdSU/CrKDXamlWOI1BdzWjxUqPcmr/ux+YhJjebXrR7C3R4+v/+mf3N+ncitceBVieOLj4pNSW/ikKjr9lccwyB6mrGixca9dbsxuYhDjjY9qLdW6CDmeTwmQW/inJyHOiP/vRxh3/xf7g8za1JqSn5VRSaDTXvBxKorma8eKHZsDXrb+U8w4t2b4ESQsgLBoESQogyCJQQQpRBoIQQogwCJYQQZRAoIYQog0AJIUQZBEoIIcogUEIIUQaBEkKIMgiUEEKUQaCEEKIMAiWEEGUQKCGEKINACSFEGQRKCCHKIFBCCFEGgRJCiDIIlBBClEGghBCiDAIlhBBlECghhCiDQAkhRBkESgghyiBQQghRBoESQogyCJQQQpRBoIQQogwCJYQQZRAoIYQog0AJIUQZBEoIIcogUEIIUQaBEkKIMgiUEEKUQaCEEKIMAiWEEGUQKCGEKINACSFEGQRKCCHKIFBCCFEGgRJCiDIIlBBClEGghBCiDAIlhBBlECghhCiDQAkhRBkESgghyiBQQghRBoESQogyCJQQQpRBoIQQogwCJYQQZRAoIYQog0AJIUQZBEoIIcogUEIIUQaBEkKIMgiUEEKUQaCEEKIMAiWEEGUQKCGEKINACSFEGQRKCCHKIFBCCFEGgRJCiDIIlBBClEGghBCiDAIlhBBlECghhCiDQAkhRBkESgghyiBQQghRBoESQogyCJQQQpRBoIQQogwCJYQQZRAoIYQog0AJIUQZBEoIIcogUEIIUQaBEkKIMgiUEEKUQaCEEKIMAiWEEGUQKCGEKINACSFEGQRKCCHKIFBCCFEGgRJCiDIIlBBClEGghBCiDAIlhBBlECghhCiDQAkhRBkESgghyiBQQghRBoGSOj976/I7v/dn8yv/0f8ZvNtv/3V1TfNXNP/tDxevVsbzOf/q33zp7e0Lv/cfNz/pSQYdmvyT4O1+Ne1XZ60EsQ0CJXXGA/m/+7fD6x6j9Av/Nny3NBkZDXPH5/xXX6ohX/gfszzzPmkC/e1fRLyKQPcNAiV1JgP5C38yuO6Xb29/Erlbkox++8PobHBT/J7zL3tK7FGVSRPoL2MTUwS6bxAoqfOzboj+9j/9m6eN+unbY5CGR+99eJP4OH5caSZQn+f83/7wMcF9rN7/0x/ZFKkISw+MQAsNAiV1fjYcon/3WLD+9/9FcO+lcfzX1erXVqB32+f8s/ahn15dE7MqCPSYQaCkzkhG1ZJVslaNj+NfPSZtb7/3R/YCNXzOg/2pD02LLJ0aBHrMIFBSZyyj+w/f3r5Y//Tbv/rHD5387p912vjtX/0P/fvRs/2J05s/HvcL/9zuTSSX5/ywW2vNhfemNmUq0N/+9T/tn1K7B7b67+Hv//3zyX7hd/9s2IXsFARK6kxk9Mt2Aft3X2rf5G6O4Pm7Pxq+ZTOV0ezmP/vC7/8Xw3fhXZ7zLzszV5bO/DZSlYlAf/VHw6c0FGj/plPldAS6bxAoqTOR0WNAVzOtTi6tnJ7vpzQ2el4/kdHs5ve/NxzmXs95uID+mYdA+ydcXToQ6PBN+39yR6B7B4G+VG4pCd91IqPnuyV/0rz9/GfPRe6XmlnYD5/L23qK9MX7VEbzm3ePFh/ml5Ts+pyH0oztjXxLSexXMBXo8wn/8WMS/O/bp9RSn0/29//zvT4e4DkFRaD7BoG+VLIL9JfdO9vN9K6d5bU/jGU0u3n/aH4Czf+cvQX6mBM3T6T9qaX2OxMe16R8nIrYBoGSOmEZ/bBXSj2G+xFcW2Uso9nN+0dzWMKbPecUgW7MSKA/66fCP6xxc2pzBwS6bxAoqROU0eDt5+eU54vzXYAjGc1vPr7VUZ+zt0AHb1Q1T2lC/fv/+3/90hsCLSAIlNSZy+gxMRu8mfHMwzQ/nBzFM5XR5ObjWx31OTsLdHioVHPcaU/97V//0/ZNLwS6fxAoqRN8R3vwBnWKjOY3H9/qqM/Z+V344W+rmSB3z2D4dBHo/kGgpM78mMrHwJ1/7mZNRuGP6bgdB2rznJ2PA12Ygdbz5d/53X/2v/0/7AMtIQiU1Al+qmf+AcO1/Ynh0ez5SSSD5+z9SaSBpBt3twL9WXe0P28iFREESurMPlfeHPAzmW+NjqP54kRG85s3cRGo3XP2/ix89F34wRP5JUv4EoJASZ3ZmY2+2Fz6j/7j8Ab9IYr10B4fEjS7eRMPgVo+Z+ezMUWPA+0F+qs/RKAlBIGSOuFzaz73uX3hnz/c8fd/0VzUfKrnt38xGsCDT/WMb948pLVAjZ9z9Wml/+B3PtDhJ5Eqc7dH+/+wXsJXVww/FEB2CgIldaZnd+9Xil0Gb2N0/558rnx28zp2AnV6znZnpG+y+Fn49s33Pxk9VwRaQBAoqTP5fqHuy9N+2R0308ilO1FQ9e/pmY1mN78PbnXg5/x/WX0nUpPFszHVuw6qp/cXrTz/+F8PP1VFdgoCJXUGMvrH/+w/DK74bXX+yd/54//cXfA8t+bb78bOrTm9+eBWR37OVt/K2SR2PtDu389dFL//+KG6/Hce6/v6rTEEum8QKCGEKINACSFEGQRKCCHKIFBCCFEGgRJCiDIIlBBClEGghBCiDAIlhBBlECghhCiDQAkhRBkESgghyiBQQghRBoESQogyCJQQQpRBoIQQogwCJYQQZRAoIYQog0AJIUQZBEoIIcogUEIIUQaBEkKIMgiUEEKUQaCEEKIMAiWEEGUQKCGEKINACSFEGQRKCCHKIFBCCFEGgRJCiDIIlBBClEGghBCiDAIlhBBlECghhCiDQAkhRBkESgghyiBQQghRBoESQogyCJQQQpRBoIQQogwCJYQQZf5/NgJcNt3CYT8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839" y="2657015"/>
            <a:ext cx="4684648" cy="3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2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9600" y="124877"/>
            <a:ext cx="8676000" cy="1143000"/>
          </a:xfrm>
        </p:spPr>
        <p:txBody>
          <a:bodyPr/>
          <a:lstStyle/>
          <a:p>
            <a:r>
              <a:rPr lang="en-US" dirty="0"/>
              <a:t>Inflation inequality by age and area of residence</a:t>
            </a:r>
            <a:br>
              <a:rPr lang="en-US" dirty="0"/>
            </a:br>
            <a:r>
              <a:rPr lang="fr-FR" dirty="0" err="1"/>
              <a:t>is</a:t>
            </a:r>
            <a:r>
              <a:rPr lang="fr-FR" dirty="0"/>
              <a:t> more </a:t>
            </a:r>
            <a:r>
              <a:rPr lang="fr-FR" dirty="0" err="1"/>
              <a:t>pronounced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2325489" y="1751165"/>
            <a:ext cx="6386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5AA7"/>
                </a:solidFill>
              </a:rPr>
              <a:t>Inflation by household categories in France </a:t>
            </a:r>
            <a:r>
              <a:rPr lang="en" dirty="0">
                <a:solidFill>
                  <a:srgbClr val="205AA7"/>
                </a:solidFill>
              </a:rPr>
              <a:t>( in 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0983" y="2132201"/>
            <a:ext cx="9627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1600" b="1" dirty="0">
                <a:solidFill>
                  <a:srgbClr val="205AA7"/>
                </a:solidFill>
              </a:rPr>
              <a:t>b) By age</a:t>
            </a:r>
            <a:endParaRPr lang="en-US" sz="1600" b="1" dirty="0">
              <a:solidFill>
                <a:srgbClr val="205AA7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20118" y="2234348"/>
            <a:ext cx="1904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1600" b="1" dirty="0">
                <a:solidFill>
                  <a:srgbClr val="205AA7"/>
                </a:solidFill>
              </a:rPr>
              <a:t>a) By residence area</a:t>
            </a:r>
            <a:endParaRPr lang="en-US" sz="1600" b="1" dirty="0">
              <a:solidFill>
                <a:srgbClr val="205AA7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203372" y="6480000"/>
            <a:ext cx="3284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82" y="2706146"/>
            <a:ext cx="4231368" cy="316881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050" y="2572902"/>
            <a:ext cx="4498932" cy="35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76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7EBC1-87AA-8033-5F1A-8FEC4C90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Long-Run</a:t>
            </a:r>
            <a:r>
              <a:rPr lang="en-US" b="0" dirty="0"/>
              <a:t> </a:t>
            </a:r>
            <a:r>
              <a:rPr lang="en-US" dirty="0"/>
              <a:t>Inflation Inequality by Income quintiles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366F97-EF1F-6B2C-0856-2FF2166F4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3B0203-C83E-EBA3-E44D-D8276A2F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658" y="1893685"/>
            <a:ext cx="5642331" cy="47663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945ED8F-09B9-4F26-2DE2-E55D6A55203D}"/>
              </a:ext>
            </a:extLst>
          </p:cNvPr>
          <p:cNvSpPr txBox="1"/>
          <p:nvPr/>
        </p:nvSpPr>
        <p:spPr>
          <a:xfrm>
            <a:off x="2217174" y="1149010"/>
            <a:ext cx="4886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France, index-100 in 2010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7893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9D2D-A311-355B-5B00-376DFDCA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5D0FA3-E095-296C-2A2E-2EED6249E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-1"/>
            <a:ext cx="8229600" cy="1246909"/>
          </a:xfrm>
        </p:spPr>
        <p:txBody>
          <a:bodyPr/>
          <a:lstStyle/>
          <a:p>
            <a:r>
              <a:rPr lang="en-US" dirty="0"/>
              <a:t>Long-Run</a:t>
            </a:r>
            <a:r>
              <a:rPr lang="en-US" b="0" dirty="0"/>
              <a:t> </a:t>
            </a:r>
            <a:r>
              <a:rPr lang="en-US" dirty="0"/>
              <a:t>Inflation Inequality by Income Percentiles in the US</a:t>
            </a:r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D2433A-5471-80EF-4B55-220470666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C1A46-EC2D-F330-62EA-AB331E583677}"/>
              </a:ext>
            </a:extLst>
          </p:cNvPr>
          <p:cNvSpPr/>
          <p:nvPr/>
        </p:nvSpPr>
        <p:spPr>
          <a:xfrm>
            <a:off x="1174634" y="5918636"/>
            <a:ext cx="20090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rgbClr val="205AA7"/>
                </a:solidFill>
              </a:rPr>
              <a:t>Source: </a:t>
            </a:r>
            <a:r>
              <a:rPr lang="fr-FR" sz="1600" dirty="0" err="1">
                <a:solidFill>
                  <a:srgbClr val="205AA7"/>
                </a:solidFill>
              </a:rPr>
              <a:t>Jaravel</a:t>
            </a:r>
            <a:r>
              <a:rPr lang="fr-FR" sz="1600" dirty="0">
                <a:solidFill>
                  <a:srgbClr val="205AA7"/>
                </a:solidFill>
              </a:rPr>
              <a:t> (2024)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9F96A0-A30E-8989-F565-F57151EA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1132141"/>
            <a:ext cx="7754142" cy="478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57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"/>
          </p:nvPr>
        </p:nvSpPr>
        <p:spPr>
          <a:xfrm>
            <a:off x="8140200" y="6391318"/>
            <a:ext cx="405000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24</a:t>
            </a:fld>
            <a:endParaRPr spc="-17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15600" y="2714491"/>
            <a:ext cx="8229600" cy="741180"/>
          </a:xfrm>
        </p:spPr>
        <p:txBody>
          <a:bodyPr/>
          <a:lstStyle/>
          <a:p>
            <a:pPr marL="0" indent="0" algn="ctr">
              <a:buNone/>
            </a:pPr>
            <a:r>
              <a:rPr lang="fr-FR" sz="3300" b="1" dirty="0">
                <a:latin typeface="+mj-lt"/>
                <a:cs typeface="Arial"/>
              </a:rPr>
              <a:t>3. Implications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4133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918" y="3354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Low-income households spending proportionally more on essential </a:t>
            </a:r>
            <a:r>
              <a:rPr lang="en-US" dirty="0" err="1"/>
              <a:t>expeNdiTUres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7394949" y="6066234"/>
            <a:ext cx="12072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1200" dirty="0">
                <a:solidFill>
                  <a:srgbClr val="205AA7"/>
                </a:solidFill>
              </a:rPr>
              <a:t>Source: Eurostat</a:t>
            </a:r>
            <a:endParaRPr lang="en-US" sz="1200" dirty="0">
              <a:solidFill>
                <a:srgbClr val="205AA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6937" y="1066890"/>
            <a:ext cx="69389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5AA7"/>
                </a:solidFill>
                <a:latin typeface="+mj-lt"/>
                <a:cs typeface="Arial"/>
              </a:rPr>
              <a:t>Consumption baskets by income quintile </a:t>
            </a:r>
          </a:p>
          <a:p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(</a:t>
            </a:r>
            <a:r>
              <a:rPr lang="en" b="1" dirty="0">
                <a:solidFill>
                  <a:srgbClr val="205AA7"/>
                </a:solidFill>
                <a:latin typeface="+mj-lt"/>
                <a:cs typeface="Arial"/>
              </a:rPr>
              <a:t>Euro area, </a:t>
            </a:r>
            <a:r>
              <a:rPr lang="fr-FR" dirty="0" err="1">
                <a:solidFill>
                  <a:srgbClr val="205AA7"/>
                </a:solidFill>
                <a:latin typeface="+mj-lt"/>
                <a:cs typeface="Arial"/>
              </a:rPr>
              <a:t>share</a:t>
            </a:r>
            <a:r>
              <a:rPr lang="fr-FR" dirty="0">
                <a:solidFill>
                  <a:srgbClr val="205AA7"/>
                </a:solidFill>
                <a:latin typeface="+mj-lt"/>
                <a:cs typeface="Arial"/>
              </a:rPr>
              <a:t> of total </a:t>
            </a:r>
            <a:r>
              <a:rPr lang="fr-FR" dirty="0" err="1">
                <a:solidFill>
                  <a:srgbClr val="205AA7"/>
                </a:solidFill>
                <a:latin typeface="+mj-lt"/>
                <a:cs typeface="Arial"/>
              </a:rPr>
              <a:t>expenditure</a:t>
            </a:r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, in %)</a:t>
            </a:r>
            <a:endParaRPr lang="en-US" dirty="0">
              <a:solidFill>
                <a:srgbClr val="205AA7"/>
              </a:solidFill>
              <a:latin typeface="+mj-lt"/>
              <a:cs typeface="Arial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44" y="1803822"/>
            <a:ext cx="5391559" cy="4048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8949" y="2182756"/>
            <a:ext cx="22471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Rich households </a:t>
            </a:r>
            <a:r>
              <a:rPr lang="en" b="1" dirty="0">
                <a:solidFill>
                  <a:srgbClr val="205AA7"/>
                </a:solidFill>
                <a:latin typeface="+mj-lt"/>
                <a:cs typeface="Arial"/>
              </a:rPr>
              <a:t>have more leeway to cushion price by reducing certain expenditure</a:t>
            </a:r>
            <a:r>
              <a:rPr lang="en" dirty="0">
                <a:solidFill>
                  <a:srgbClr val="205AA7"/>
                </a:solidFill>
                <a:latin typeface="+mj-lt"/>
                <a:cs typeface="Arial"/>
              </a:rPr>
              <a:t>s (leisure, etc.) or </a:t>
            </a:r>
            <a:r>
              <a:rPr lang="en" b="1" dirty="0">
                <a:solidFill>
                  <a:srgbClr val="205AA7"/>
                </a:solidFill>
                <a:latin typeface="+mj-lt"/>
                <a:cs typeface="Arial"/>
              </a:rPr>
              <a:t>substituting towards cheaper expenditures.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5004" y="6050846"/>
            <a:ext cx="6473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3299"/>
                </a:solidFill>
                <a:latin typeface="Open Sans" panose="020B0606030504020204" pitchFamily="34" charset="0"/>
              </a:rPr>
              <a:t>“Other” includes health, communications, education </a:t>
            </a:r>
          </a:p>
          <a:p>
            <a:r>
              <a:rPr lang="en-US" sz="1400" dirty="0">
                <a:solidFill>
                  <a:srgbClr val="003299"/>
                </a:solidFill>
                <a:latin typeface="Open Sans" panose="020B0606030504020204" pitchFamily="34" charset="0"/>
              </a:rPr>
              <a:t>“Discretionary” includes all remaining</a:t>
            </a:r>
            <a:r>
              <a:rPr lang="en-US" dirty="0">
                <a:solidFill>
                  <a:srgbClr val="003299"/>
                </a:solidFill>
                <a:latin typeface="Open Sans" panose="020B0606030504020204" pitchFamily="34" charset="0"/>
              </a:rPr>
              <a:t>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1305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6619" y="166255"/>
            <a:ext cx="8229600" cy="1143000"/>
          </a:xfrm>
        </p:spPr>
        <p:txBody>
          <a:bodyPr/>
          <a:lstStyle/>
          <a:p>
            <a:r>
              <a:rPr lang="en-US" dirty="0"/>
              <a:t>The effect of energy price freeze policies on inflation inequality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Governments have implemented a wide variety of measures</a:t>
            </a:r>
            <a:r>
              <a:rPr lang="en-US" dirty="0"/>
              <a:t> during the energy prices crisis</a:t>
            </a:r>
          </a:p>
          <a:p>
            <a:endParaRPr lang="en-US" dirty="0"/>
          </a:p>
          <a:p>
            <a:r>
              <a:rPr lang="en-US" b="1" dirty="0"/>
              <a:t>Prices measures directly affecting gas, electricity, and fuel prices </a:t>
            </a:r>
            <a:r>
              <a:rPr lang="en-US" dirty="0"/>
              <a:t>through VAT reductions or price ceilings (contrary to measures on revenues)</a:t>
            </a:r>
          </a:p>
          <a:p>
            <a:endParaRPr lang="en-US" dirty="0"/>
          </a:p>
          <a:p>
            <a:r>
              <a:rPr lang="en-US" dirty="0"/>
              <a:t>Fiscal policy contributed to alleviating the negative impact of inflation on households through</a:t>
            </a:r>
            <a:r>
              <a:rPr lang="en-US" b="1" dirty="0"/>
              <a:t>  temporary </a:t>
            </a:r>
            <a:r>
              <a:rPr lang="en-US" dirty="0"/>
              <a:t>support measures </a:t>
            </a:r>
            <a:r>
              <a:rPr lang="en" sz="2400" dirty="0"/>
              <a:t>(energy tariff shields, VAT cuts) </a:t>
            </a:r>
          </a:p>
          <a:p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1170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872" y="-92364"/>
            <a:ext cx="8229600" cy="1143000"/>
          </a:xfrm>
        </p:spPr>
        <p:txBody>
          <a:bodyPr/>
          <a:lstStyle/>
          <a:p>
            <a:r>
              <a:rPr lang="en-US" dirty="0"/>
              <a:t>Mitigating the Effects of Inflation: monetary policy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841236" y="868954"/>
            <a:ext cx="7331164" cy="5329381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Inflation has distributional effects</a:t>
            </a:r>
            <a:r>
              <a:rPr lang="en-US" sz="2400" dirty="0"/>
              <a:t>… </a:t>
            </a:r>
          </a:p>
          <a:p>
            <a:pPr algn="just"/>
            <a:r>
              <a:rPr lang="en-US" sz="2400" dirty="0"/>
              <a:t>…</a:t>
            </a:r>
            <a:r>
              <a:rPr lang="en-US" sz="2400" b="1" dirty="0"/>
              <a:t>But the hikes in the ECB's director rate in 2022 and 2023 have distributional effects (directly and indirectly via labor market): </a:t>
            </a:r>
          </a:p>
          <a:p>
            <a:pPr lvl="1" algn="just"/>
            <a:r>
              <a:rPr lang="en-US" sz="2200" b="1" dirty="0"/>
              <a:t>savers</a:t>
            </a:r>
            <a:r>
              <a:rPr lang="en-US" sz="2200" dirty="0"/>
              <a:t> benefit from MP with higher returns on deposits, </a:t>
            </a:r>
            <a:r>
              <a:rPr lang="en-US" sz="2200" b="1" dirty="0"/>
              <a:t>borrowers</a:t>
            </a:r>
            <a:r>
              <a:rPr lang="en-US" sz="2200" dirty="0"/>
              <a:t> face higher debt servicing costs, reducing disposable income </a:t>
            </a:r>
            <a:endParaRPr lang="en-US" sz="2200" b="1" dirty="0"/>
          </a:p>
          <a:p>
            <a:pPr algn="just"/>
            <a:endParaRPr lang="en-US" b="1" dirty="0"/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Impacting </a:t>
            </a:r>
            <a:r>
              <a:rPr lang="en-US" sz="2400" dirty="0"/>
              <a:t>lower-income households by limiting job opportunities and wage growth (not clear during the last episode)</a:t>
            </a:r>
          </a:p>
          <a:p>
            <a:pPr algn="just"/>
            <a:endParaRPr lang="en-US" sz="2400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5854" y="5736670"/>
            <a:ext cx="8132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05AA7"/>
                </a:solidFill>
              </a:rPr>
              <a:t>↑ </a:t>
            </a:r>
            <a:r>
              <a:rPr lang="fr-FR" dirty="0" err="1">
                <a:solidFill>
                  <a:srgbClr val="205AA7"/>
                </a:solidFill>
              </a:rPr>
              <a:t>Interest</a:t>
            </a:r>
            <a:r>
              <a:rPr lang="fr-FR" dirty="0">
                <a:solidFill>
                  <a:srgbClr val="205AA7"/>
                </a:solidFill>
              </a:rPr>
              <a:t> Rates -&gt; ↓ Labor </a:t>
            </a:r>
            <a:r>
              <a:rPr lang="fr-FR" dirty="0" err="1">
                <a:solidFill>
                  <a:srgbClr val="205AA7"/>
                </a:solidFill>
              </a:rPr>
              <a:t>Market</a:t>
            </a:r>
            <a:r>
              <a:rPr lang="fr-FR" dirty="0">
                <a:solidFill>
                  <a:srgbClr val="205AA7"/>
                </a:solidFill>
              </a:rPr>
              <a:t> -&gt; ↓ Revenues  -&gt; ↓ ↓ </a:t>
            </a:r>
            <a:r>
              <a:rPr lang="fr-FR" dirty="0" err="1">
                <a:solidFill>
                  <a:srgbClr val="205AA7"/>
                </a:solidFill>
              </a:rPr>
              <a:t>Bottom</a:t>
            </a:r>
            <a:r>
              <a:rPr lang="fr-FR" dirty="0">
                <a:solidFill>
                  <a:srgbClr val="205AA7"/>
                </a:solidFill>
              </a:rPr>
              <a:t> 50, Top 10</a:t>
            </a:r>
          </a:p>
          <a:p>
            <a:r>
              <a:rPr lang="fr-FR" dirty="0">
                <a:solidFill>
                  <a:srgbClr val="205AA7"/>
                </a:solidFill>
              </a:rPr>
              <a:t>                                                                                             -&gt; ↓  Middle 40</a:t>
            </a:r>
          </a:p>
          <a:p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638872" y="3533644"/>
            <a:ext cx="8132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05AA7"/>
                </a:solidFill>
              </a:rPr>
              <a:t>↑ </a:t>
            </a:r>
            <a:r>
              <a:rPr lang="fr-FR" dirty="0" err="1">
                <a:solidFill>
                  <a:srgbClr val="205AA7"/>
                </a:solidFill>
              </a:rPr>
              <a:t>Interest</a:t>
            </a:r>
            <a:r>
              <a:rPr lang="fr-FR" dirty="0">
                <a:solidFill>
                  <a:srgbClr val="205AA7"/>
                </a:solidFill>
              </a:rPr>
              <a:t> Rates -&gt; ↑ </a:t>
            </a:r>
            <a:r>
              <a:rPr lang="fr-FR" dirty="0" err="1">
                <a:solidFill>
                  <a:srgbClr val="205AA7"/>
                </a:solidFill>
              </a:rPr>
              <a:t>Borrowing</a:t>
            </a:r>
            <a:r>
              <a:rPr lang="fr-FR" dirty="0">
                <a:solidFill>
                  <a:srgbClr val="205AA7"/>
                </a:solidFill>
              </a:rPr>
              <a:t> </a:t>
            </a:r>
            <a:r>
              <a:rPr lang="fr-FR" dirty="0" err="1">
                <a:solidFill>
                  <a:srgbClr val="205AA7"/>
                </a:solidFill>
              </a:rPr>
              <a:t>Costs</a:t>
            </a:r>
            <a:r>
              <a:rPr lang="fr-FR" dirty="0">
                <a:solidFill>
                  <a:srgbClr val="205AA7"/>
                </a:solidFill>
              </a:rPr>
              <a:t> -&gt; ↑ Real </a:t>
            </a:r>
            <a:r>
              <a:rPr lang="fr-FR" dirty="0" err="1">
                <a:solidFill>
                  <a:srgbClr val="205AA7"/>
                </a:solidFill>
              </a:rPr>
              <a:t>Debt</a:t>
            </a:r>
            <a:r>
              <a:rPr lang="fr-FR" dirty="0">
                <a:solidFill>
                  <a:srgbClr val="205AA7"/>
                </a:solidFill>
              </a:rPr>
              <a:t> </a:t>
            </a:r>
            <a:r>
              <a:rPr lang="fr-FR" dirty="0" err="1">
                <a:solidFill>
                  <a:srgbClr val="205AA7"/>
                </a:solidFill>
              </a:rPr>
              <a:t>Costs</a:t>
            </a:r>
            <a:r>
              <a:rPr lang="fr-FR" dirty="0">
                <a:solidFill>
                  <a:srgbClr val="205AA7"/>
                </a:solidFill>
              </a:rPr>
              <a:t> → ↓ </a:t>
            </a:r>
            <a:r>
              <a:rPr lang="fr-FR" dirty="0" err="1">
                <a:solidFill>
                  <a:srgbClr val="205AA7"/>
                </a:solidFill>
              </a:rPr>
              <a:t>Wealth</a:t>
            </a:r>
            <a:r>
              <a:rPr lang="fr-FR" dirty="0">
                <a:solidFill>
                  <a:srgbClr val="205AA7"/>
                </a:solidFill>
              </a:rPr>
              <a:t> (</a:t>
            </a:r>
            <a:r>
              <a:rPr lang="fr-FR" dirty="0" err="1">
                <a:solidFill>
                  <a:srgbClr val="205AA7"/>
                </a:solidFill>
              </a:rPr>
              <a:t>Debtors</a:t>
            </a:r>
            <a:r>
              <a:rPr lang="fr-FR" dirty="0">
                <a:solidFill>
                  <a:srgbClr val="205AA7"/>
                </a:solidFill>
              </a:rPr>
              <a:t>) </a:t>
            </a:r>
          </a:p>
          <a:p>
            <a:r>
              <a:rPr lang="fr-FR" dirty="0">
                <a:solidFill>
                  <a:srgbClr val="205AA7"/>
                </a:solidFill>
              </a:rPr>
              <a:t>                                                                      -&gt; ↑ </a:t>
            </a:r>
            <a:r>
              <a:rPr lang="fr-FR" dirty="0" err="1">
                <a:solidFill>
                  <a:srgbClr val="205AA7"/>
                </a:solidFill>
              </a:rPr>
              <a:t>Returns</a:t>
            </a:r>
            <a:r>
              <a:rPr lang="fr-FR" dirty="0">
                <a:solidFill>
                  <a:srgbClr val="205AA7"/>
                </a:solidFill>
              </a:rPr>
              <a:t> on </a:t>
            </a:r>
            <a:r>
              <a:rPr lang="fr-FR" dirty="0" err="1">
                <a:solidFill>
                  <a:srgbClr val="205AA7"/>
                </a:solidFill>
              </a:rPr>
              <a:t>Savings</a:t>
            </a:r>
            <a:r>
              <a:rPr lang="fr-FR" dirty="0">
                <a:solidFill>
                  <a:srgbClr val="205AA7"/>
                </a:solidFill>
              </a:rPr>
              <a:t> → ↑ </a:t>
            </a:r>
            <a:r>
              <a:rPr lang="fr-FR" dirty="0" err="1">
                <a:solidFill>
                  <a:srgbClr val="205AA7"/>
                </a:solidFill>
              </a:rPr>
              <a:t>Wealth</a:t>
            </a:r>
            <a:r>
              <a:rPr lang="fr-FR" dirty="0">
                <a:solidFill>
                  <a:srgbClr val="205AA7"/>
                </a:solidFill>
              </a:rPr>
              <a:t> (</a:t>
            </a:r>
            <a:r>
              <a:rPr lang="fr-FR" dirty="0" err="1">
                <a:solidFill>
                  <a:srgbClr val="205AA7"/>
                </a:solidFill>
              </a:rPr>
              <a:t>Savers</a:t>
            </a:r>
            <a:r>
              <a:rPr lang="fr-FR" dirty="0">
                <a:solidFill>
                  <a:srgbClr val="205AA7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2608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Mitigating the Effects of Inflation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VAT reduction, tariff shields policies have direct effects on prices</a:t>
            </a:r>
            <a:r>
              <a:rPr lang="en-US" dirty="0"/>
              <a:t>, while the </a:t>
            </a:r>
            <a:r>
              <a:rPr lang="en-US" b="1" dirty="0"/>
              <a:t>transmission lag for monetary policy</a:t>
            </a:r>
            <a:r>
              <a:rPr lang="en-US" dirty="0"/>
              <a:t> is generally estimated to be around 18 months.</a:t>
            </a:r>
          </a:p>
          <a:p>
            <a:pPr algn="just"/>
            <a:endParaRPr lang="en-US" dirty="0"/>
          </a:p>
          <a:p>
            <a:r>
              <a:rPr lang="en-US" b="1" dirty="0"/>
              <a:t>Fiscal policy can affect relative prices (energy)  vs </a:t>
            </a:r>
            <a:r>
              <a:rPr lang="en-US" dirty="0"/>
              <a:t>monetary policy </a:t>
            </a:r>
            <a:r>
              <a:rPr lang="en-US"/>
              <a:t>affects the aggregate </a:t>
            </a:r>
            <a:r>
              <a:rPr lang="en-US" dirty="0"/>
              <a:t>price level</a:t>
            </a:r>
          </a:p>
          <a:p>
            <a:pPr algn="just"/>
            <a:endParaRPr lang="en" sz="2400" dirty="0"/>
          </a:p>
          <a:p>
            <a:pPr algn="just"/>
            <a:r>
              <a:rPr lang="en" sz="2400" b="1" dirty="0"/>
              <a:t>In the long run, only monetary policy is effective in bringing </a:t>
            </a:r>
            <a:r>
              <a:rPr lang="en" b="1" dirty="0"/>
              <a:t>inflation back to its target (2% in the euro area)</a:t>
            </a:r>
            <a:endParaRPr lang="fr-FR" sz="24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67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8000" y="39982"/>
            <a:ext cx="8229600" cy="114300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68000" y="1030117"/>
            <a:ext cx="8229600" cy="5075120"/>
          </a:xfrm>
        </p:spPr>
        <p:txBody>
          <a:bodyPr>
            <a:normAutofit fontScale="92500"/>
          </a:bodyPr>
          <a:lstStyle/>
          <a:p>
            <a:pPr algn="just"/>
            <a:endParaRPr lang="en-US" sz="3100" b="1" dirty="0"/>
          </a:p>
          <a:p>
            <a:pPr algn="just"/>
            <a:r>
              <a:rPr lang="en-US" sz="3200" b="1" dirty="0"/>
              <a:t>Simple approach of inflation inequalities that can be extended to many countries </a:t>
            </a:r>
            <a:endParaRPr lang="en-US" sz="3100" b="1" dirty="0"/>
          </a:p>
          <a:p>
            <a:pPr algn="just"/>
            <a:endParaRPr lang="en-US" sz="3100" b="1" dirty="0"/>
          </a:p>
          <a:p>
            <a:pPr algn="just"/>
            <a:r>
              <a:rPr lang="en-US" sz="3200" b="1" dirty="0"/>
              <a:t>Inflation inequality patterns may differ across countries and time </a:t>
            </a:r>
            <a:r>
              <a:rPr lang="en-US" sz="3200" dirty="0"/>
              <a:t>(</a:t>
            </a:r>
            <a:r>
              <a:rPr lang="en-US" sz="2800" dirty="0"/>
              <a:t>Long-run vs.  short-run)</a:t>
            </a:r>
            <a:endParaRPr lang="en-US" sz="3100" b="1" dirty="0"/>
          </a:p>
          <a:p>
            <a:pPr algn="just"/>
            <a:endParaRPr lang="en-US" sz="3100" b="1" dirty="0"/>
          </a:p>
          <a:p>
            <a:pPr algn="just"/>
            <a:r>
              <a:rPr lang="en-US" sz="3100" b="1" dirty="0"/>
              <a:t>Understanding the heterogeneous effects of inflation is important to analyze policies effectiveness </a:t>
            </a:r>
            <a:r>
              <a:rPr lang="en-US" sz="3100" dirty="0"/>
              <a:t>during the energy crisis  of 2022-23</a:t>
            </a:r>
          </a:p>
          <a:p>
            <a:pPr algn="just"/>
            <a:endParaRPr lang="en-US" sz="3100" dirty="0"/>
          </a:p>
          <a:p>
            <a:pPr algn="just"/>
            <a:endParaRPr lang="en-US" sz="3100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562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76832" y="458670"/>
            <a:ext cx="8229600" cy="378061"/>
          </a:xfrm>
          <a:prstGeom prst="rect">
            <a:avLst/>
          </a:prstGeom>
        </p:spPr>
        <p:txBody>
          <a:bodyPr vert="horz" wrap="square" lIns="0" tIns="8645" rIns="0" bIns="0" rtlCol="0" anchor="ctr">
            <a:spAutoFit/>
          </a:bodyPr>
          <a:lstStyle/>
          <a:p>
            <a:pPr marL="8645">
              <a:spcBef>
                <a:spcPts val="68"/>
              </a:spcBef>
              <a:tabLst>
                <a:tab pos="1741513" algn="l"/>
              </a:tabLst>
            </a:pPr>
            <a:r>
              <a:rPr spc="-14" dirty="0"/>
              <a:t>main</a:t>
            </a:r>
            <a:r>
              <a:rPr lang="fr-FR" spc="-14" dirty="0"/>
              <a:t> </a:t>
            </a:r>
            <a:r>
              <a:rPr spc="-7" dirty="0"/>
              <a:t>takeaways</a:t>
            </a:r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379009" y="1327381"/>
            <a:ext cx="7863734" cy="4203238"/>
          </a:xfrm>
        </p:spPr>
        <p:txBody>
          <a:bodyPr>
            <a:noAutofit/>
          </a:bodyPr>
          <a:lstStyle/>
          <a:p>
            <a:pPr marL="8645" algn="just">
              <a:spcBef>
                <a:spcPts val="68"/>
              </a:spcBef>
            </a:pPr>
            <a:r>
              <a:rPr lang="en-US" b="1" spc="-14" dirty="0">
                <a:latin typeface="+mj-lt"/>
                <a:cs typeface="Arial"/>
              </a:rPr>
              <a:t>Inflation inequality throughout income distribution varies between countries in the euro area but not greatly </a:t>
            </a:r>
            <a:r>
              <a:rPr lang="en-US" spc="-14" dirty="0">
                <a:latin typeface="+mj-lt"/>
                <a:cs typeface="Arial"/>
              </a:rPr>
              <a:t>within the largest European countries (except Italy) due to fiscal policies</a:t>
            </a:r>
          </a:p>
          <a:p>
            <a:pPr marL="8645" algn="just">
              <a:spcBef>
                <a:spcPts val="68"/>
              </a:spcBef>
            </a:pPr>
            <a:endParaRPr lang="en-US" spc="-14" dirty="0">
              <a:latin typeface="+mj-lt"/>
              <a:cs typeface="Arial"/>
            </a:endParaRPr>
          </a:p>
          <a:p>
            <a:pPr marL="8645" algn="just">
              <a:spcBef>
                <a:spcPts val="68"/>
              </a:spcBef>
            </a:pPr>
            <a:r>
              <a:rPr lang="en-US" b="1" spc="-14" dirty="0">
                <a:latin typeface="+mj-lt"/>
                <a:cs typeface="Arial"/>
              </a:rPr>
              <a:t>In larger countries, </a:t>
            </a:r>
            <a:r>
              <a:rPr lang="en-US" spc="-14" dirty="0">
                <a:latin typeface="+mj-lt"/>
                <a:cs typeface="Arial"/>
              </a:rPr>
              <a:t>the inflation gap (Lower quintile – Top quintile) is close to 0 but </a:t>
            </a:r>
            <a:r>
              <a:rPr lang="en-US" b="1" spc="-14" dirty="0">
                <a:latin typeface="+mj-lt"/>
                <a:cs typeface="Arial"/>
              </a:rPr>
              <a:t>inflation differentials are more significant regarding age or area </a:t>
            </a:r>
            <a:r>
              <a:rPr lang="en-US" spc="-14" dirty="0">
                <a:latin typeface="+mj-lt"/>
                <a:cs typeface="Arial"/>
              </a:rPr>
              <a:t>(urban vs. rural) </a:t>
            </a:r>
          </a:p>
          <a:p>
            <a:pPr marL="8645" algn="just">
              <a:spcBef>
                <a:spcPts val="68"/>
              </a:spcBef>
            </a:pPr>
            <a:endParaRPr lang="en-US" spc="-14" dirty="0">
              <a:latin typeface="+mj-lt"/>
              <a:cs typeface="Arial"/>
            </a:endParaRPr>
          </a:p>
          <a:p>
            <a:pPr marL="8645" algn="just">
              <a:spcBef>
                <a:spcPts val="68"/>
              </a:spcBef>
            </a:pPr>
            <a:r>
              <a:rPr lang="en-US" b="1" dirty="0"/>
              <a:t>Rural households may face higher energy inflation </a:t>
            </a:r>
            <a:r>
              <a:rPr lang="en-US" dirty="0"/>
              <a:t>than urban households due to longer transportation distances and fewer alternatives</a:t>
            </a:r>
            <a:endParaRPr lang="en-US" spc="-14" dirty="0">
              <a:latin typeface="+mj-lt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8712360" y="6082597"/>
            <a:ext cx="194072" cy="282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935">
              <a:lnSpc>
                <a:spcPts val="1120"/>
              </a:lnSpc>
            </a:pPr>
            <a:fld id="{81D60167-4931-47E6-BA6A-407CBD079E47}" type="slidenum">
              <a:rPr spc="-17" dirty="0"/>
              <a:pPr marL="25935">
                <a:lnSpc>
                  <a:spcPts val="1120"/>
                </a:lnSpc>
              </a:pPr>
              <a:t>30</a:t>
            </a:fld>
            <a:endParaRPr spc="-17" dirty="0"/>
          </a:p>
        </p:txBody>
      </p:sp>
    </p:spTree>
    <p:extLst>
      <p:ext uri="{BB962C8B-B14F-4D97-AF65-F5344CB8AC3E}">
        <p14:creationId xmlns:p14="http://schemas.microsoft.com/office/powerpoint/2010/main" val="2693821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B17CFC-A497-69BB-571A-37D8CB3A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Personal</a:t>
            </a:r>
            <a:r>
              <a:rPr lang="fr-FR"/>
              <a:t> inflation rate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06E6B8-827B-E017-1985-8BA85A420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BF4F8E-839B-83F5-A3E4-329A29B92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8DB22F6-7735-6A93-F3A1-DE8CE8124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143000"/>
            <a:ext cx="3806051" cy="44198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Overlapping effects: </a:t>
            </a:r>
            <a:r>
              <a:rPr lang="en-US" dirty="0"/>
              <a:t>similar relationships between subgroup rates may be as a result of overlapping subgroup membership</a:t>
            </a:r>
          </a:p>
          <a:p>
            <a:endParaRPr lang="en-US" dirty="0"/>
          </a:p>
          <a:p>
            <a:r>
              <a:rPr lang="en-US" sz="2800" b="1" dirty="0"/>
              <a:t>New approach at household level to disentangle different subgroups</a:t>
            </a:r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D14C86-18D3-A498-BD55-48B8B3F5BD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22" y="811528"/>
            <a:ext cx="4325096" cy="576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16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1193" y="204108"/>
            <a:ext cx="7076264" cy="857250"/>
          </a:xfrm>
        </p:spPr>
        <p:txBody>
          <a:bodyPr>
            <a:normAutofit/>
          </a:bodyPr>
          <a:lstStyle/>
          <a:p>
            <a:r>
              <a:rPr lang="fr-FR" dirty="0"/>
              <a:t>POLICY </a:t>
            </a:r>
            <a:r>
              <a:rPr lang="fr-FR" dirty="0" err="1"/>
              <a:t>References</a:t>
            </a:r>
            <a:endParaRPr lang="fr-FR" b="1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31600" y="836845"/>
            <a:ext cx="8229600" cy="56431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r>
              <a:rPr lang="fr-FR" sz="2400" dirty="0"/>
              <a:t>OECD (2022) </a:t>
            </a:r>
            <a:r>
              <a:rPr lang="fr-FR" sz="2400" u="sng" dirty="0" err="1">
                <a:hlinkClick r:id="rId2"/>
              </a:rPr>
              <a:t>Surging</a:t>
            </a:r>
            <a:r>
              <a:rPr lang="fr-FR" sz="2400" u="sng" dirty="0">
                <a:hlinkClick r:id="rId2"/>
              </a:rPr>
              <a:t> </a:t>
            </a:r>
            <a:r>
              <a:rPr lang="fr-FR" sz="2400" u="sng" dirty="0" err="1">
                <a:hlinkClick r:id="rId2"/>
              </a:rPr>
              <a:t>energy</a:t>
            </a:r>
            <a:r>
              <a:rPr lang="fr-FR" sz="2400" u="sng" dirty="0">
                <a:hlinkClick r:id="rId2"/>
              </a:rPr>
              <a:t> </a:t>
            </a:r>
            <a:r>
              <a:rPr lang="fr-FR" sz="2400" u="sng" dirty="0" err="1">
                <a:hlinkClick r:id="rId2"/>
              </a:rPr>
              <a:t>prices</a:t>
            </a:r>
            <a:r>
              <a:rPr lang="fr-FR" sz="2400" u="sng" dirty="0">
                <a:hlinkClick r:id="rId2"/>
              </a:rPr>
              <a:t> are </a:t>
            </a:r>
            <a:r>
              <a:rPr lang="fr-FR" sz="2400" u="sng" dirty="0" err="1">
                <a:hlinkClick r:id="rId2"/>
              </a:rPr>
              <a:t>hitting</a:t>
            </a:r>
            <a:r>
              <a:rPr lang="fr-FR" sz="2400" u="sng" dirty="0">
                <a:hlinkClick r:id="rId2"/>
              </a:rPr>
              <a:t> </a:t>
            </a:r>
            <a:r>
              <a:rPr lang="fr-FR" sz="2400" u="sng" dirty="0" err="1">
                <a:hlinkClick r:id="rId2"/>
              </a:rPr>
              <a:t>everyone</a:t>
            </a:r>
            <a:r>
              <a:rPr lang="fr-FR" sz="2400" u="sng" dirty="0">
                <a:hlinkClick r:id="rId2"/>
              </a:rPr>
              <a:t>, but </a:t>
            </a:r>
            <a:r>
              <a:rPr lang="fr-FR" sz="2400" u="sng" dirty="0" err="1">
                <a:hlinkClick r:id="rId2"/>
              </a:rPr>
              <a:t>which</a:t>
            </a:r>
            <a:r>
              <a:rPr lang="fr-FR" sz="2400" u="sng" dirty="0">
                <a:hlinkClick r:id="rId2"/>
              </a:rPr>
              <a:t> </a:t>
            </a:r>
            <a:r>
              <a:rPr lang="fr-FR" sz="2400" u="sng" dirty="0" err="1">
                <a:hlinkClick r:id="rId2"/>
              </a:rPr>
              <a:t>households</a:t>
            </a:r>
            <a:r>
              <a:rPr lang="fr-FR" sz="2400" u="sng" dirty="0">
                <a:hlinkClick r:id="rId2"/>
              </a:rPr>
              <a:t> are more </a:t>
            </a:r>
            <a:r>
              <a:rPr lang="fr-FR" sz="2400" u="sng" dirty="0" err="1">
                <a:hlinkClick r:id="rId2"/>
              </a:rPr>
              <a:t>exposed</a:t>
            </a:r>
            <a:r>
              <a:rPr lang="fr-FR" sz="2400" u="sng" dirty="0">
                <a:hlinkClick r:id="rId2"/>
              </a:rPr>
              <a:t>? – ECOSCOPE (</a:t>
            </a:r>
            <a:r>
              <a:rPr lang="fr-FR" sz="2400" u="sng" dirty="0" err="1">
                <a:hlinkClick r:id="rId2"/>
              </a:rPr>
              <a:t>oecdecoscope.blog</a:t>
            </a:r>
            <a:r>
              <a:rPr lang="fr-FR" sz="2400" u="sng" dirty="0">
                <a:hlinkClick r:id="rId2"/>
              </a:rPr>
              <a:t>)</a:t>
            </a:r>
            <a:r>
              <a:rPr lang="fr-FR" sz="2400" dirty="0"/>
              <a:t> </a:t>
            </a:r>
          </a:p>
          <a:p>
            <a:r>
              <a:rPr lang="fr-FR" sz="2400" dirty="0"/>
              <a:t>IFS (2022) </a:t>
            </a:r>
            <a:r>
              <a:rPr lang="fr-FR" sz="2400" u="sng" dirty="0">
                <a:hlinkClick r:id="rId3"/>
              </a:rPr>
              <a:t>Inflation hits 9% </a:t>
            </a:r>
            <a:r>
              <a:rPr lang="fr-FR" sz="2400" u="sng" dirty="0" err="1">
                <a:hlinkClick r:id="rId3"/>
              </a:rPr>
              <a:t>with</a:t>
            </a:r>
            <a:r>
              <a:rPr lang="fr-FR" sz="2400" u="sng" dirty="0">
                <a:hlinkClick r:id="rId3"/>
              </a:rPr>
              <a:t> </a:t>
            </a:r>
            <a:r>
              <a:rPr lang="fr-FR" sz="2400" u="sng" dirty="0" err="1">
                <a:hlinkClick r:id="rId3"/>
              </a:rPr>
              <a:t>poorest</a:t>
            </a:r>
            <a:r>
              <a:rPr lang="fr-FR" sz="2400" u="sng" dirty="0">
                <a:hlinkClick r:id="rId3"/>
              </a:rPr>
              <a:t> </a:t>
            </a:r>
            <a:r>
              <a:rPr lang="fr-FR" sz="2400" u="sng" dirty="0" err="1">
                <a:hlinkClick r:id="rId3"/>
              </a:rPr>
              <a:t>households</a:t>
            </a:r>
            <a:r>
              <a:rPr lang="fr-FR" sz="2400" u="sng" dirty="0">
                <a:hlinkClick r:id="rId3"/>
              </a:rPr>
              <a:t> </a:t>
            </a:r>
            <a:r>
              <a:rPr lang="fr-FR" sz="2400" u="sng" dirty="0" err="1">
                <a:hlinkClick r:id="rId3"/>
              </a:rPr>
              <a:t>facing</a:t>
            </a:r>
            <a:r>
              <a:rPr lang="fr-FR" sz="2400" u="sng" dirty="0">
                <a:hlinkClick r:id="rId3"/>
              </a:rPr>
              <a:t> </a:t>
            </a:r>
            <a:r>
              <a:rPr lang="fr-FR" sz="2400" u="sng" dirty="0" err="1">
                <a:hlinkClick r:id="rId3"/>
              </a:rPr>
              <a:t>even</a:t>
            </a:r>
            <a:r>
              <a:rPr lang="fr-FR" sz="2400" u="sng" dirty="0">
                <a:hlinkClick r:id="rId3"/>
              </a:rPr>
              <a:t> </a:t>
            </a:r>
            <a:r>
              <a:rPr lang="fr-FR" sz="2400" u="sng" dirty="0" err="1">
                <a:hlinkClick r:id="rId3"/>
              </a:rPr>
              <a:t>higher</a:t>
            </a:r>
            <a:r>
              <a:rPr lang="fr-FR" sz="2400" u="sng" dirty="0">
                <a:hlinkClick r:id="rId3"/>
              </a:rPr>
              <a:t> rates - Institute For Fiscal </a:t>
            </a:r>
            <a:r>
              <a:rPr lang="fr-FR" sz="2400" u="sng" dirty="0" err="1">
                <a:hlinkClick r:id="rId3"/>
              </a:rPr>
              <a:t>Studies</a:t>
            </a:r>
            <a:r>
              <a:rPr lang="fr-FR" sz="2400" u="sng" dirty="0">
                <a:hlinkClick r:id="rId3"/>
              </a:rPr>
              <a:t> – IFS</a:t>
            </a:r>
            <a:endParaRPr lang="fr-FR" sz="2400" u="sng" dirty="0"/>
          </a:p>
          <a:p>
            <a:r>
              <a:rPr lang="fr-FR" sz="2400" u="sng" dirty="0"/>
              <a:t>ECB (2022) </a:t>
            </a:r>
            <a:r>
              <a:rPr lang="fr-FR" sz="2400" u="sng" dirty="0">
                <a:hlinkClick r:id="rId4"/>
              </a:rPr>
              <a:t>The impact of the </a:t>
            </a:r>
            <a:r>
              <a:rPr lang="fr-FR" sz="2400" u="sng" dirty="0" err="1">
                <a:hlinkClick r:id="rId4"/>
              </a:rPr>
              <a:t>recent</a:t>
            </a:r>
            <a:r>
              <a:rPr lang="fr-FR" sz="2400" u="sng" dirty="0">
                <a:hlinkClick r:id="rId4"/>
              </a:rPr>
              <a:t> </a:t>
            </a:r>
            <a:r>
              <a:rPr lang="fr-FR" sz="2400" u="sng" dirty="0" err="1">
                <a:hlinkClick r:id="rId4"/>
              </a:rPr>
              <a:t>rise</a:t>
            </a:r>
            <a:r>
              <a:rPr lang="fr-FR" sz="2400" u="sng" dirty="0">
                <a:hlinkClick r:id="rId4"/>
              </a:rPr>
              <a:t> in inflation on </a:t>
            </a:r>
            <a:r>
              <a:rPr lang="fr-FR" sz="2400" u="sng" dirty="0" err="1">
                <a:hlinkClick r:id="rId4"/>
              </a:rPr>
              <a:t>low-income</a:t>
            </a:r>
            <a:r>
              <a:rPr lang="fr-FR" sz="2400" u="sng" dirty="0">
                <a:hlinkClick r:id="rId4"/>
              </a:rPr>
              <a:t> </a:t>
            </a:r>
            <a:r>
              <a:rPr lang="fr-FR" sz="2400" u="sng" dirty="0" err="1">
                <a:hlinkClick r:id="rId4"/>
              </a:rPr>
              <a:t>households</a:t>
            </a:r>
            <a:r>
              <a:rPr lang="fr-FR" sz="2400" u="sng" dirty="0">
                <a:hlinkClick r:id="rId4"/>
              </a:rPr>
              <a:t> (europa.eu)</a:t>
            </a:r>
            <a:r>
              <a:rPr lang="fr-FR" sz="2400" dirty="0"/>
              <a:t> </a:t>
            </a:r>
          </a:p>
          <a:p>
            <a:r>
              <a:rPr lang="fr-FR" sz="2400" u="sng" dirty="0"/>
              <a:t>ECB (2023) </a:t>
            </a:r>
            <a:r>
              <a:rPr lang="en-US" sz="2400" dirty="0">
                <a:hlinkClick r:id="rId5"/>
              </a:rPr>
              <a:t>The impact of the recent inflation surge across households (europa.eu)</a:t>
            </a:r>
            <a:endParaRPr lang="en-US" sz="2400" dirty="0"/>
          </a:p>
          <a:p>
            <a:r>
              <a:rPr lang="fr-FR" sz="2400" u="sng" dirty="0"/>
              <a:t>IMF (2023) </a:t>
            </a:r>
            <a:r>
              <a:rPr lang="en-US" sz="2400" dirty="0">
                <a:hlinkClick r:id="rId6"/>
              </a:rPr>
              <a:t>Fiscal Policy Can Help Tame Inflation and Protect the Most Vulnerable</a:t>
            </a:r>
            <a:endParaRPr lang="en-US" sz="2400" dirty="0"/>
          </a:p>
          <a:p>
            <a:r>
              <a:rPr lang="fr-FR" sz="2400" u="sng" dirty="0"/>
              <a:t>Bruegel (2022) </a:t>
            </a:r>
            <a:r>
              <a:rPr lang="en-US" sz="2400" dirty="0">
                <a:hlinkClick r:id="rId7"/>
              </a:rPr>
              <a:t>Inflation inequality in the European Union and its drivers (bruegel.org)</a:t>
            </a:r>
            <a:endParaRPr lang="en-US" sz="2400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lvl="1">
              <a:buFontTx/>
              <a:buChar char="-"/>
            </a:pPr>
            <a:endParaRPr lang="fr-FR" sz="2100" b="1" u="sng" dirty="0">
              <a:solidFill>
                <a:schemeClr val="accent6"/>
              </a:solidFill>
            </a:endParaRPr>
          </a:p>
          <a:p>
            <a:pPr marL="342900" lvl="1" indent="0">
              <a:buNone/>
            </a:pPr>
            <a:endParaRPr lang="fr-FR" sz="2100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63295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ACADEMIC </a:t>
            </a:r>
            <a:r>
              <a:rPr lang="fr-FR" dirty="0" err="1"/>
              <a:t>References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Argente</a:t>
            </a:r>
            <a:r>
              <a:rPr lang="en-US" dirty="0"/>
              <a:t>, D., &amp; Lee, M. (2021). Cost of living inequality during the great recession. Journal of the European Economic Association, 19(2), 913-952.</a:t>
            </a:r>
            <a:endParaRPr lang="fr-FR" dirty="0"/>
          </a:p>
          <a:p>
            <a:pPr lvl="0"/>
            <a:r>
              <a:rPr lang="en-US" dirty="0"/>
              <a:t>Cardoso, M., Ferreira, C., </a:t>
            </a:r>
            <a:r>
              <a:rPr lang="en-US" dirty="0" err="1"/>
              <a:t>Leiva</a:t>
            </a:r>
            <a:r>
              <a:rPr lang="en-US" dirty="0"/>
              <a:t>, J. M., </a:t>
            </a:r>
            <a:r>
              <a:rPr lang="en-US" dirty="0" err="1"/>
              <a:t>Nuño</a:t>
            </a:r>
            <a:r>
              <a:rPr lang="en-US" dirty="0"/>
              <a:t>, G., Ortiz, Á., Rodrigo, T., &amp; Vazquez, S. (2022). The heterogeneous impact of inflation on households balance sheets. WP</a:t>
            </a:r>
            <a:endParaRPr lang="fr-FR" dirty="0"/>
          </a:p>
          <a:p>
            <a:r>
              <a:rPr lang="en-US" dirty="0"/>
              <a:t>Gautier </a:t>
            </a:r>
            <a:r>
              <a:rPr lang="en-US" dirty="0" err="1"/>
              <a:t>Montornès</a:t>
            </a:r>
            <a:r>
              <a:rPr lang="en-US" dirty="0"/>
              <a:t> (2024) </a:t>
            </a:r>
            <a:r>
              <a:rPr lang="en-US" dirty="0">
                <a:hlinkClick r:id="rId2"/>
              </a:rPr>
              <a:t>The Heterogeneous Effects of Inflation in France and in the Eurozone | Cairn.info</a:t>
            </a:r>
            <a:endParaRPr lang="fr-FR" dirty="0"/>
          </a:p>
          <a:p>
            <a:pPr lvl="0"/>
            <a:r>
              <a:rPr lang="en-US" dirty="0" err="1"/>
              <a:t>Hobijn</a:t>
            </a:r>
            <a:r>
              <a:rPr lang="en-US" dirty="0"/>
              <a:t> B, </a:t>
            </a:r>
            <a:r>
              <a:rPr lang="en-US" dirty="0" err="1"/>
              <a:t>Lagakos</a:t>
            </a:r>
            <a:r>
              <a:rPr lang="en-US" dirty="0"/>
              <a:t> D. (2005). Inflation inequality in the United States. Rev. Income Wealth 51(4):581–606</a:t>
            </a:r>
          </a:p>
          <a:p>
            <a:pPr lvl="0"/>
            <a:r>
              <a:rPr lang="en-US" dirty="0" err="1"/>
              <a:t>Jaravel</a:t>
            </a:r>
            <a:r>
              <a:rPr lang="en-US" dirty="0"/>
              <a:t>, X. (2021). Inflation inequality: Measurement, causes, and policy implications. Annual Review of Economics, 13, 599-629.</a:t>
            </a:r>
            <a:endParaRPr lang="fr-FR" dirty="0"/>
          </a:p>
          <a:p>
            <a:pPr lvl="0"/>
            <a:r>
              <a:rPr lang="en-US" dirty="0"/>
              <a:t>Kaplan G, </a:t>
            </a:r>
            <a:r>
              <a:rPr lang="en-US" dirty="0" err="1"/>
              <a:t>Schulhofer-Wohl</a:t>
            </a:r>
            <a:r>
              <a:rPr lang="en-US" dirty="0"/>
              <a:t> S. (2017). Inflation at the household level. J. Monet. Econ. 91:19–38</a:t>
            </a:r>
          </a:p>
        </p:txBody>
      </p:sp>
    </p:spTree>
    <p:extLst>
      <p:ext uri="{BB962C8B-B14F-4D97-AF65-F5344CB8AC3E}">
        <p14:creationId xmlns:p14="http://schemas.microsoft.com/office/powerpoint/2010/main" val="255928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26" name="Image 2">
            <a:extLst>
              <a:ext uri="{FF2B5EF4-FFF2-40B4-BE49-F238E27FC236}">
                <a16:creationId xmlns:a16="http://schemas.microsoft.com/office/drawing/2014/main" id="{7944E82C-0A30-F92C-50CD-0E639D48F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039" y="2285847"/>
            <a:ext cx="3992563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88DAEE2-11F2-AA07-EC6A-866A46407479}"/>
              </a:ext>
            </a:extLst>
          </p:cNvPr>
          <p:cNvSpPr txBox="1"/>
          <p:nvPr/>
        </p:nvSpPr>
        <p:spPr>
          <a:xfrm>
            <a:off x="2766039" y="1692699"/>
            <a:ext cx="6366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3"/>
              </a:rPr>
              <a:t>https://www.menti.com/ale1gfpjfcy2</a:t>
            </a:r>
            <a:endParaRPr lang="fr-FR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31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data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68000" y="125902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Our b</a:t>
            </a:r>
            <a:r>
              <a:rPr lang="en-US" sz="2400" b="1" dirty="0"/>
              <a:t>aseline approach can only capture the part of inflation inequality </a:t>
            </a:r>
            <a:r>
              <a:rPr lang="en-US" sz="2400" dirty="0"/>
              <a:t>that arises between broad household categories (e.g., Q1 and Q5)</a:t>
            </a:r>
          </a:p>
          <a:p>
            <a:endParaRPr lang="en-US" sz="2400" dirty="0"/>
          </a:p>
          <a:p>
            <a:pPr algn="just"/>
            <a:r>
              <a:rPr lang="en-US" sz="2400" b="1" dirty="0"/>
              <a:t>New literature on “inflation inequality” is emerging with the availability of scanner data: Nielsen, Kantar </a:t>
            </a:r>
            <a:r>
              <a:rPr lang="en-US" sz="2400" dirty="0"/>
              <a:t>(e.g. </a:t>
            </a:r>
            <a:r>
              <a:rPr lang="de-DE" sz="2400" dirty="0"/>
              <a:t>Kaplan, </a:t>
            </a:r>
            <a:r>
              <a:rPr lang="de-DE" sz="2400" dirty="0" err="1"/>
              <a:t>Schulhofer</a:t>
            </a:r>
            <a:r>
              <a:rPr lang="de-DE" sz="2400" dirty="0"/>
              <a:t>-Wohl, 2017)</a:t>
            </a:r>
          </a:p>
          <a:p>
            <a:endParaRPr lang="en-US" sz="2400" b="1" dirty="0"/>
          </a:p>
          <a:p>
            <a:pPr algn="just"/>
            <a:r>
              <a:rPr lang="en-US" sz="2400" b="1" dirty="0"/>
              <a:t>Aggregation bias is significant, </a:t>
            </a:r>
            <a:r>
              <a:rPr lang="en-US" sz="2400" dirty="0"/>
              <a:t>necessitating micro-level data to properly measure expenditure shares, effective prices, and product variety for various sociodemographic groups. On average in the 2010’s</a:t>
            </a:r>
          </a:p>
          <a:p>
            <a:pPr lvl="1"/>
            <a:r>
              <a:rPr lang="en-US" b="1" dirty="0"/>
              <a:t>US </a:t>
            </a:r>
            <a:r>
              <a:rPr lang="en-US" sz="2200" b="1" dirty="0"/>
              <a:t>Baseline approach (CPI*CEX):</a:t>
            </a:r>
            <a:r>
              <a:rPr lang="en-US" sz="2200" dirty="0"/>
              <a:t> inflation gap = 0.37 pp </a:t>
            </a:r>
          </a:p>
          <a:p>
            <a:pPr lvl="1" algn="just"/>
            <a:r>
              <a:rPr lang="en-US" sz="2200" b="1" dirty="0"/>
              <a:t>New approach (Scanner data):</a:t>
            </a:r>
            <a:r>
              <a:rPr lang="en-US" sz="2200" dirty="0"/>
              <a:t> inflation gap = 0.66 pp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1100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9319" y="-103662"/>
            <a:ext cx="8229600" cy="1143000"/>
          </a:xfrm>
        </p:spPr>
        <p:txBody>
          <a:bodyPr/>
          <a:lstStyle/>
          <a:p>
            <a:r>
              <a:rPr lang="fr-FR" dirty="0"/>
              <a:t>Contribution to inflation </a:t>
            </a:r>
            <a:r>
              <a:rPr lang="fr-FR" dirty="0" err="1"/>
              <a:t>inequality</a:t>
            </a:r>
            <a:r>
              <a:rPr lang="fr-FR" dirty="0"/>
              <a:t> in </a:t>
            </a:r>
            <a:r>
              <a:rPr lang="fr-FR" dirty="0" err="1"/>
              <a:t>FRance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571528" y="6301079"/>
            <a:ext cx="3284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5AA7"/>
                </a:solidFill>
              </a:rPr>
              <a:t>Source: Eurostat, </a:t>
            </a:r>
            <a:r>
              <a:rPr lang="en-US" sz="1200" dirty="0" err="1">
                <a:solidFill>
                  <a:srgbClr val="205AA7"/>
                </a:solidFill>
              </a:rPr>
              <a:t>BdF</a:t>
            </a:r>
            <a:r>
              <a:rPr lang="en-US" sz="1200" dirty="0">
                <a:solidFill>
                  <a:srgbClr val="205AA7"/>
                </a:solidFill>
              </a:rPr>
              <a:t> calculations</a:t>
            </a: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468000" y="742511"/>
            <a:ext cx="8229600" cy="835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cap="all" baseline="0">
                <a:solidFill>
                  <a:srgbClr val="205AA7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800" cap="none" dirty="0"/>
          </a:p>
        </p:txBody>
      </p:sp>
      <p:sp>
        <p:nvSpPr>
          <p:cNvPr id="11" name="Rectangle 10"/>
          <p:cNvSpPr/>
          <p:nvPr/>
        </p:nvSpPr>
        <p:spPr>
          <a:xfrm>
            <a:off x="468000" y="867762"/>
            <a:ext cx="81587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buFontTx/>
              <a:buChar char="-"/>
            </a:pPr>
            <a:r>
              <a:rPr lang="fr-FR" sz="1600" dirty="0" err="1">
                <a:solidFill>
                  <a:srgbClr val="205AA7"/>
                </a:solidFill>
              </a:rPr>
              <a:t>Electricity</a:t>
            </a:r>
            <a:r>
              <a:rPr lang="fr-FR" sz="1600" dirty="0">
                <a:solidFill>
                  <a:srgbClr val="205AA7"/>
                </a:solidFill>
              </a:rPr>
              <a:t>/</a:t>
            </a:r>
            <a:r>
              <a:rPr lang="fr-FR" sz="1600" dirty="0" err="1">
                <a:solidFill>
                  <a:srgbClr val="205AA7"/>
                </a:solidFill>
              </a:rPr>
              <a:t>gas</a:t>
            </a:r>
            <a:r>
              <a:rPr lang="fr-FR" sz="1600" dirty="0">
                <a:solidFill>
                  <a:srgbClr val="205AA7"/>
                </a:solidFill>
              </a:rPr>
              <a:t> bills and transport c</a:t>
            </a:r>
            <a:r>
              <a:rPr lang="en-US" sz="1600" dirty="0" err="1">
                <a:solidFill>
                  <a:srgbClr val="205AA7"/>
                </a:solidFill>
              </a:rPr>
              <a:t>ontribute</a:t>
            </a:r>
            <a:r>
              <a:rPr lang="en-US" sz="1600" dirty="0">
                <a:solidFill>
                  <a:srgbClr val="205AA7"/>
                </a:solidFill>
              </a:rPr>
              <a:t> most to the gap between urban and rural areas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956092" y="1683033"/>
            <a:ext cx="725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5AA7"/>
                </a:solidFill>
              </a:rPr>
              <a:t>Product contributions to </a:t>
            </a:r>
            <a:r>
              <a:rPr lang="en-US" b="1" dirty="0"/>
              <a:t>inflation differential Rural – Urban  </a:t>
            </a:r>
            <a:r>
              <a:rPr lang="en-US" dirty="0">
                <a:solidFill>
                  <a:srgbClr val="205AA7"/>
                </a:solidFill>
              </a:rPr>
              <a:t>(in pp, </a:t>
            </a:r>
            <a:r>
              <a:rPr lang="en-US" dirty="0">
                <a:solidFill>
                  <a:srgbClr val="FF0000"/>
                </a:solidFill>
              </a:rPr>
              <a:t>France</a:t>
            </a:r>
            <a:r>
              <a:rPr lang="en-US" dirty="0">
                <a:solidFill>
                  <a:srgbClr val="205AA7"/>
                </a:solidFill>
              </a:rPr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068536" y="3576935"/>
            <a:ext cx="1463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(Rural-Urban)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92" y="2122954"/>
            <a:ext cx="5745978" cy="41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4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77F675-FC94-C3C9-F03B-C82CE589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dispersion of household-level inflation rates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F31ED7-A469-318C-847A-ECD2F6DB0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5CEFB5-CF1C-4F94-548F-3BB78ABD1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612AF6-3794-417C-8315-010C3BB3AD18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6406D1B-39F4-512B-D684-05EB1F303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175" y="1405714"/>
            <a:ext cx="6805250" cy="4046571"/>
          </a:xfrm>
        </p:spPr>
      </p:pic>
    </p:spTree>
    <p:extLst>
      <p:ext uri="{BB962C8B-B14F-4D97-AF65-F5344CB8AC3E}">
        <p14:creationId xmlns:p14="http://schemas.microsoft.com/office/powerpoint/2010/main" val="2178715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ABARIT-BDF-PPT-1">
  <a:themeElements>
    <a:clrScheme name="Personnalisé 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205AA7"/>
      </a:accent1>
      <a:accent2>
        <a:srgbClr val="005BD3"/>
      </a:accent2>
      <a:accent3>
        <a:srgbClr val="00449E"/>
      </a:accent3>
      <a:accent4>
        <a:srgbClr val="00449E"/>
      </a:accent4>
      <a:accent5>
        <a:srgbClr val="800080"/>
      </a:accent5>
      <a:accent6>
        <a:srgbClr val="D60093"/>
      </a:accent6>
      <a:hlink>
        <a:srgbClr val="A0006E"/>
      </a:hlink>
      <a:folHlink>
        <a:srgbClr val="FE19FF"/>
      </a:folHlink>
    </a:clrScheme>
    <a:fontScheme name="Personnalisé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pi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5a2a3c8-43c5-4b96-acba-b1b76bee3a4d">
      <UserInfo>
        <DisplayName>CHATELAIN Nicole (BESANCON)</DisplayName>
        <AccountId>64</AccountId>
        <AccountType/>
      </UserInfo>
      <UserInfo>
        <DisplayName>DIEV Pavel (DGEI DCPM)</DisplayName>
        <AccountId>11</AccountId>
        <AccountType/>
      </UserInfo>
      <UserInfo>
        <DisplayName>MOGLIANI Matteo (DGEI DCPM)</DisplayName>
        <AccountId>14</AccountId>
        <AccountType/>
      </UserInfo>
      <UserInfo>
        <DisplayName>HAINCOURT Sophie (DGEI DECI)</DisplayName>
        <AccountId>30</AccountId>
        <AccountType/>
      </UserInfo>
      <UserInfo>
        <DisplayName>JARDET Caroline (DGEI DECI)</DisplayName>
        <AccountId>33</AccountId>
        <AccountType/>
      </UserInfo>
      <UserInfo>
        <DisplayName>SCHMIDT Katja (DGEI DCPM)</DisplayName>
        <AccountId>20</AccountId>
        <AccountType/>
      </UserInfo>
      <UserInfo>
        <DisplayName>RIVAUD Sophie (DGEI DPEM)</DisplayName>
        <AccountId>15</AccountId>
        <AccountType/>
      </UserInfo>
      <UserInfo>
        <DisplayName>DE BANDT Olivier (DGEI DECI)</DisplayName>
        <AccountId>31</AccountId>
        <AccountType/>
      </UserInfo>
      <UserInfo>
        <DisplayName>BRICONGNE Jean-Charles (DGEI DECI)</DisplayName>
        <AccountId>17</AccountId>
        <AccountType/>
      </UserInfo>
      <UserInfo>
        <DisplayName>LEVY-RUEFF Guy (DGEI DCPM)</DisplayName>
        <AccountId>37</AccountId>
        <AccountType/>
      </UserInfo>
      <UserInfo>
        <DisplayName>KALANTZIS Yannick (DGEI DCPM)</DisplayName>
        <AccountId>12</AccountId>
        <AccountType/>
      </UserInfo>
      <UserInfo>
        <DisplayName>CETTE Gilbert (DGSEI)</DisplayName>
        <AccountId>19</AccountId>
        <AccountType/>
      </UserInfo>
      <UserInfo>
        <DisplayName>GARNIER Olivier (DGSEI)</DisplayName>
        <AccountId>22</AccountId>
        <AccountType/>
      </UserInfo>
      <UserInfo>
        <DisplayName>MARSILLI Clément (DGEI DPEM)</DisplayName>
        <AccountId>46</AccountId>
        <AccountType/>
      </UserInfo>
      <UserInfo>
        <DisplayName>MACAIRE Camille (DGEI DPEM)</DisplayName>
        <AccountId>56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D30F909FAAAF469481D5366F8820B6" ma:contentTypeVersion="2" ma:contentTypeDescription="Crée un document." ma:contentTypeScope="" ma:versionID="4b61222c27d7fa3c8044b5f5dca6f5bb">
  <xsd:schema xmlns:xsd="http://www.w3.org/2001/XMLSchema" xmlns:xs="http://www.w3.org/2001/XMLSchema" xmlns:p="http://schemas.microsoft.com/office/2006/metadata/properties" xmlns:ns2="65a2a3c8-43c5-4b96-acba-b1b76bee3a4d" targetNamespace="http://schemas.microsoft.com/office/2006/metadata/properties" ma:root="true" ma:fieldsID="fdac83875e388e33a849e0cf60841d67" ns2:_="">
    <xsd:import namespace="65a2a3c8-43c5-4b96-acba-b1b76bee3a4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2a3c8-43c5-4b96-acba-b1b76bee3a4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EAD4F5-C02E-4389-A664-302BF143CA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CF8AEF-0242-45E2-A5C5-9B912D5C073B}">
  <ds:schemaRefs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5a2a3c8-43c5-4b96-acba-b1b76bee3a4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7D81C97-EF36-4AD4-A3C0-9C86DACC05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a2a3c8-43c5-4b96-acba-b1b76bee3a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17104</TotalTime>
  <Words>1902</Words>
  <Application>Microsoft Office PowerPoint</Application>
  <PresentationFormat>Affichage à l'écran (4:3)</PresentationFormat>
  <Paragraphs>269</Paragraphs>
  <Slides>38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Calibri</vt:lpstr>
      <vt:lpstr>Google Sans</vt:lpstr>
      <vt:lpstr>Open Sans</vt:lpstr>
      <vt:lpstr>Wingdings</vt:lpstr>
      <vt:lpstr>GABARIT-BDF-PPT-1</vt:lpstr>
      <vt:lpstr>“Inflation inequalities across the euro area”   IBFI Seminar « Monetary Policy»  J. Montornes (BdF)  26 november 2025    </vt:lpstr>
      <vt:lpstr>introduction</vt:lpstr>
      <vt:lpstr>Distributional Effects of inflation on Households’ wealth</vt:lpstr>
      <vt:lpstr>Distributional Effects of inflation on income</vt:lpstr>
      <vt:lpstr>“inflation inequality” (this presentation)</vt:lpstr>
      <vt:lpstr>Ditsributive effects of inflation</vt:lpstr>
      <vt:lpstr>What will We do in this presentation?</vt:lpstr>
      <vt:lpstr>outline</vt:lpstr>
      <vt:lpstr>Présentation PowerPoint</vt:lpstr>
      <vt:lpstr>HOW TO CalculatE inflation by household categories?</vt:lpstr>
      <vt:lpstr>Formulas</vt:lpstr>
      <vt:lpstr>Replication packages</vt:lpstr>
      <vt:lpstr>Présentation PowerPoint</vt:lpstr>
      <vt:lpstr>FROM RELATIVE PRICE SHOCKs AND CONSUMER BASKET DIFFERENCES TO HETEROGENEOUS INFLATION EFFECTS</vt:lpstr>
      <vt:lpstr>Different consumer baskets for different categories of households (propensity to consume)</vt:lpstr>
      <vt:lpstr>FROM RELATIVE PRICE SHOCK AND CONSUMER BASKET DIFFERENCES TO HETEROGENEOUS INFLATION EFFECTS</vt:lpstr>
      <vt:lpstr>Inflation inequality: cross country heterogeneity</vt:lpstr>
      <vt:lpstr>Inflation inequality: cross country heterogeneity</vt:lpstr>
      <vt:lpstr>Inflation inequality: developments</vt:lpstr>
      <vt:lpstr>Contribution to inflation inequality in SPAIN</vt:lpstr>
      <vt:lpstr>Inflation inequality: developments</vt:lpstr>
      <vt:lpstr>Inflation inequality by age and area of residence is more pronounced</vt:lpstr>
      <vt:lpstr>Long-Run Inflation Inequality by Income quintiles</vt:lpstr>
      <vt:lpstr>Long-Run Inflation Inequality by Income Percentiles in the US </vt:lpstr>
      <vt:lpstr>Présentation PowerPoint</vt:lpstr>
      <vt:lpstr>Low-income households spending proportionally more on essential expeNdiTUres</vt:lpstr>
      <vt:lpstr>The effect of energy price freeze policies on inflation inequality</vt:lpstr>
      <vt:lpstr>Mitigating the Effects of Inflation: monetary policy</vt:lpstr>
      <vt:lpstr>Mitigating the Effects of Inflation</vt:lpstr>
      <vt:lpstr>Conclusions</vt:lpstr>
      <vt:lpstr>main takeaways</vt:lpstr>
      <vt:lpstr>Personal inflation rate</vt:lpstr>
      <vt:lpstr>POLICY References</vt:lpstr>
      <vt:lpstr>ACADEMIC References</vt:lpstr>
      <vt:lpstr>Présentation PowerPoint</vt:lpstr>
      <vt:lpstr>scanner data</vt:lpstr>
      <vt:lpstr>Contribution to inflation inequality in FRance</vt:lpstr>
      <vt:lpstr>The dispersion of household-level inflation rates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CMR Partie Macro</dc:title>
  <dc:creator>RICART Roland (UA 1430)</dc:creator>
  <cp:lastModifiedBy>MONTORNES Jérémi (DGSEI DECAMS)</cp:lastModifiedBy>
  <cp:revision>1195</cp:revision>
  <cp:lastPrinted>2024-09-23T09:42:41Z</cp:lastPrinted>
  <dcterms:created xsi:type="dcterms:W3CDTF">2012-07-30T22:21:58Z</dcterms:created>
  <dcterms:modified xsi:type="dcterms:W3CDTF">2025-11-25T11:22:26Z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0x010100CED30F909FAAAF469481D5366F8820B6</vt:lpwstr>
  </property>
  <property fmtid="{D5CDD505-2E9C-101B-9397-08002B2CF9AE}" pid="3" name="MSIP_Label_70d46544-12d9-4cb7-9e9e-3d63267113e2_Enabled">
    <vt:lpwstr>true</vt:lpwstr>
  </property>
  <property fmtid="{D5CDD505-2E9C-101B-9397-08002B2CF9AE}" pid="4" name="MSIP_Label_70d46544-12d9-4cb7-9e9e-3d63267113e2_SetDate">
    <vt:lpwstr>2025-11-10T09:49:09Z</vt:lpwstr>
  </property>
  <property fmtid="{D5CDD505-2E9C-101B-9397-08002B2CF9AE}" pid="5" name="MSIP_Label_70d46544-12d9-4cb7-9e9e-3d63267113e2_Method">
    <vt:lpwstr>Privileged</vt:lpwstr>
  </property>
  <property fmtid="{D5CDD505-2E9C-101B-9397-08002B2CF9AE}" pid="6" name="MSIP_Label_70d46544-12d9-4cb7-9e9e-3d63267113e2_Name">
    <vt:lpwstr>BDF-Interne</vt:lpwstr>
  </property>
  <property fmtid="{D5CDD505-2E9C-101B-9397-08002B2CF9AE}" pid="7" name="MSIP_Label_70d46544-12d9-4cb7-9e9e-3d63267113e2_SiteId">
    <vt:lpwstr>e6599448-62a0-418e-8930-d00d8d5682c2</vt:lpwstr>
  </property>
  <property fmtid="{D5CDD505-2E9C-101B-9397-08002B2CF9AE}" pid="8" name="MSIP_Label_70d46544-12d9-4cb7-9e9e-3d63267113e2_ActionId">
    <vt:lpwstr>5c257b44-8017-4177-85bb-df292be8db63</vt:lpwstr>
  </property>
  <property fmtid="{D5CDD505-2E9C-101B-9397-08002B2CF9AE}" pid="9" name="MSIP_Label_70d46544-12d9-4cb7-9e9e-3d63267113e2_ContentBits">
    <vt:lpwstr>1</vt:lpwstr>
  </property>
  <property fmtid="{D5CDD505-2E9C-101B-9397-08002B2CF9AE}" pid="10" name="MSIP_Label_70d46544-12d9-4cb7-9e9e-3d63267113e2_Tag">
    <vt:lpwstr>10, 0, 1, 1</vt:lpwstr>
  </property>
  <property fmtid="{D5CDD505-2E9C-101B-9397-08002B2CF9AE}" pid="11" name="ClassificationContentMarkingHeaderLocations">
    <vt:lpwstr>GABARIT-BDF-PPT-1:6</vt:lpwstr>
  </property>
  <property fmtid="{D5CDD505-2E9C-101B-9397-08002B2CF9AE}" pid="12" name="ClassificationContentMarkingHeaderText">
    <vt:lpwstr>BDF-INTERNE</vt:lpwstr>
  </property>
</Properties>
</file>